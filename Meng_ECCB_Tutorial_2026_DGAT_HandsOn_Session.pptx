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339" r:id="rId2"/>
    <p:sldId id="300" r:id="rId3"/>
    <p:sldId id="301" r:id="rId4"/>
    <p:sldId id="303" r:id="rId5"/>
    <p:sldId id="304" r:id="rId6"/>
    <p:sldId id="305" r:id="rId7"/>
    <p:sldId id="308" r:id="rId8"/>
    <p:sldId id="309" r:id="rId9"/>
    <p:sldId id="310" r:id="rId10"/>
    <p:sldId id="312" r:id="rId11"/>
    <p:sldId id="313" r:id="rId12"/>
    <p:sldId id="314" r:id="rId13"/>
    <p:sldId id="315" r:id="rId14"/>
    <p:sldId id="317" r:id="rId15"/>
    <p:sldId id="318" r:id="rId16"/>
    <p:sldId id="319" r:id="rId17"/>
    <p:sldId id="320" r:id="rId18"/>
    <p:sldId id="327" r:id="rId19"/>
    <p:sldId id="328" r:id="rId20"/>
    <p:sldId id="332" r:id="rId21"/>
    <p:sldId id="34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026C079-A8A4-4F74-6B5F-EE847738E2BF}" name="osmanbeyoglulab PITT" initials="oP" userId="3cd93b8c0db2774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750"/>
    <p:restoredTop sz="96213"/>
  </p:normalViewPr>
  <p:slideViewPr>
    <p:cSldViewPr snapToGrid="0">
      <p:cViewPr varScale="1">
        <p:scale>
          <a:sx n="120" d="100"/>
          <a:sy n="120" d="100"/>
        </p:scale>
        <p:origin x="19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A823B-A02C-FD35-0AAD-3CD036950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AC5C2-C059-A720-54F2-E7EEC814C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44002-E351-523B-0471-D22F3071E549}"/>
              </a:ext>
            </a:extLst>
          </p:cNvPr>
          <p:cNvSpPr>
            <a:spLocks noGrp="1"/>
          </p:cNvSpPr>
          <p:nvPr>
            <p:ph type="body" idx="1"/>
          </p:nvPr>
        </p:nvSpPr>
        <p:spPr/>
        <p:txBody>
          <a:bodyPr/>
          <a:lstStyle/>
          <a:p>
            <a:r>
              <a:rPr lang="en-US" dirty="0"/>
              <a:t>Session 0 — Set up the paired and transcript-only datasets Session 1 — Preprocess paired spatial RNA and protein data Session 2 — Understand how DGAT learns RNA-to-protein relationships Session 3 — Infer and interpret protein landscapes in human lymph node</a:t>
            </a:r>
          </a:p>
          <a:p>
            <a:endParaRPr lang="en-US" dirty="0"/>
          </a:p>
          <a:p>
            <a:r>
              <a:rPr dirty="0"/>
              <a:t>Presenter script:</a:t>
            </a:r>
          </a:p>
          <a:p>
            <a:endParaRPr dirty="0"/>
          </a:p>
          <a:p>
            <a:r>
              <a:rPr dirty="0"/>
              <a:t>The fundamental data contract is row identity. Row </a:t>
            </a:r>
            <a:r>
              <a:rPr dirty="0" err="1"/>
              <a:t>i</a:t>
            </a:r>
            <a:r>
              <a:rPr dirty="0"/>
              <a:t> must refer to the same physical tissue spot in the RNA matrix, protein matrix, coordinate table, annotations, and every graph. Quality-control filters therefore have to be propagated to all objects together. RNA and ADT counts have different distributions and should not receive an identical transformation by default. After normalization, the workflow creates one spatial graph and one similarity graph per modality. The same nodes are reused, but their edges answer different biological questions.</a:t>
            </a:r>
          </a:p>
          <a:p>
            <a:endParaRPr dirty="0"/>
          </a:p>
          <a:p>
            <a:r>
              <a:rPr dirty="0"/>
              <a:t>[Sources]</a:t>
            </a:r>
          </a:p>
          <a:p>
            <a:r>
              <a:rPr dirty="0"/>
              <a:t>- hands-</a:t>
            </a:r>
            <a:r>
              <a:rPr dirty="0" err="1"/>
              <a:t>on_tutorial</a:t>
            </a:r>
            <a:r>
              <a:rPr dirty="0"/>
              <a:t>/notebooks/01_data_and_spatial.ipynb</a:t>
            </a:r>
          </a:p>
        </p:txBody>
      </p:sp>
      <p:sp>
        <p:nvSpPr>
          <p:cNvPr id="4" name="Slide Number Placeholder 3">
            <a:extLst>
              <a:ext uri="{FF2B5EF4-FFF2-40B4-BE49-F238E27FC236}">
                <a16:creationId xmlns:a16="http://schemas.microsoft.com/office/drawing/2014/main" id="{91AE55C4-DC28-CBE3-3246-D686FAB89F6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19830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 that RNA, ADT, spatial coordinates, and annotations refer to the same spots in the same order. Apply quality control without disrupting the correspondence across modalities. Normalize RNA and protein measurements using modality-appropriate methods. Construct spatial and molecular graphs to capture complementary neighborhood relationships.</a:t>
            </a:r>
          </a:p>
          <a:p>
            <a:endParaRPr lang="en-US" dirty="0"/>
          </a:p>
          <a:p>
            <a:r>
              <a:rPr dirty="0"/>
              <a:t>Presenter script:</a:t>
            </a:r>
          </a:p>
          <a:p>
            <a:endParaRPr dirty="0"/>
          </a:p>
          <a:p>
            <a:r>
              <a:rPr dirty="0"/>
              <a:t>The fundamental data contract is row identity. Row </a:t>
            </a:r>
            <a:r>
              <a:rPr dirty="0" err="1"/>
              <a:t>i</a:t>
            </a:r>
            <a:r>
              <a:rPr dirty="0"/>
              <a:t> must refer to the same physical tissue spot in the RNA matrix, protein matrix, coordinate table, annotations, and every graph. Quality-control filters therefore have to be propagated to all objects together. RNA and ADT counts have different distributions and should not receive an identical transformation by default. After normalization, the workflow creates one spatial graph and one similarity graph per modality. The same nodes are reused, but their edges answer different biological questions.</a:t>
            </a:r>
          </a:p>
          <a:p>
            <a:endParaRPr dirty="0"/>
          </a:p>
          <a:p>
            <a:r>
              <a:rPr dirty="0"/>
              <a:t>[Sources]</a:t>
            </a:r>
          </a:p>
          <a:p>
            <a:r>
              <a:rPr dirty="0"/>
              <a:t>- hands-</a:t>
            </a:r>
            <a:r>
              <a:rPr dirty="0" err="1"/>
              <a:t>on_tutorial</a:t>
            </a:r>
            <a:r>
              <a:rPr dirty="0"/>
              <a:t>/notebooks/01_data_and_spatial.ipynb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Detected genes:</a:t>
            </a:r>
            <a:r>
              <a:rPr dirty="0"/>
              <a:t> Retain spots with at least 700 genes with nonzero counts. Spots with very few detected genes generally contain limited biological information. </a:t>
            </a:r>
            <a:r>
              <a:rPr b="1" dirty="0"/>
              <a:t>Mitochondrial fraction:</a:t>
            </a:r>
            <a:r>
              <a:rPr dirty="0"/>
              <a:t> Remove spots with an excessive proportion of RNA counts from mitochondrial genes, which can indicate damaged or low-quality tissue. RNA molecules are counted using unique molecular identifiers (UMIs), which reduce amplification-related duplication. </a:t>
            </a:r>
            <a:r>
              <a:rPr b="1" dirty="0"/>
              <a:t>Gene prevalence:</a:t>
            </a:r>
            <a:r>
              <a:rPr dirty="0"/>
              <a:t> Retain genes detected in at least 2.5% of spots while preserving genes corresponding to the protein panel. This reduces extremely sparse features. </a:t>
            </a:r>
            <a:r>
              <a:rPr b="1" dirty="0"/>
              <a:t>Isotype controls:</a:t>
            </a:r>
            <a:r>
              <a:rPr dirty="0"/>
              <a:t> Remove the four antibody controls used to assess nonspecific binding because they are not biological protein targets.</a:t>
            </a:r>
          </a:p>
          <a:p>
            <a:endParaRPr sz="1200" dirty="0">
              <a:solidFill>
                <a:schemeClr val="tx1"/>
              </a:solidFill>
              <a:latin typeface="+mn-lt"/>
              <a:ea typeface="+mn-lt"/>
              <a:cs typeface="+mn-lt"/>
            </a:endParaRPr>
          </a:p>
          <a:p>
            <a:endParaRPr sz="1200" dirty="0">
              <a:solidFill>
                <a:schemeClr val="tx1"/>
              </a:solidFill>
              <a:latin typeface="+mn-lt"/>
              <a:ea typeface="+mn-lt"/>
              <a:cs typeface="+mn-lt"/>
            </a:endParaRPr>
          </a:p>
          <a:p>
            <a:r>
              <a:rPr sz="1200" dirty="0">
                <a:solidFill>
                  <a:schemeClr val="tx1"/>
                </a:solidFill>
                <a:latin typeface="+mn-lt"/>
                <a:ea typeface="+mn-lt"/>
                <a:cs typeface="+mn-lt"/>
              </a:rPr>
              <a:t>[Sources]</a:t>
            </a:r>
          </a:p>
          <a:p>
            <a:r>
              <a:rPr dirty="0"/>
              <a:t>- Local tutorial output: /Users/</a:t>
            </a:r>
            <a:r>
              <a:rPr dirty="0" err="1"/>
              <a:t>zmengaf</a:t>
            </a:r>
            <a:r>
              <a:rPr dirty="0"/>
              <a:t>/Documents/ECCB </a:t>
            </a:r>
            <a:r>
              <a:rPr dirty="0" err="1"/>
              <a:t>tuto</a:t>
            </a:r>
            <a:r>
              <a:rPr dirty="0"/>
              <a:t>/hands-</a:t>
            </a:r>
            <a:r>
              <a:rPr dirty="0" err="1"/>
              <a:t>on_tutorial</a:t>
            </a:r>
            <a:r>
              <a:rPr dirty="0"/>
              <a:t>/results/figures/session01_qc_rna_and_protein.png</a:t>
            </a:r>
          </a:p>
          <a:p>
            <a:r>
              <a:rPr dirty="0"/>
              <a:t>- Local tutorial output: /Users/</a:t>
            </a:r>
            <a:r>
              <a:rPr dirty="0" err="1"/>
              <a:t>zmengaf</a:t>
            </a:r>
            <a:r>
              <a:rPr dirty="0"/>
              <a:t>/Documents/ECCB </a:t>
            </a:r>
            <a:r>
              <a:rPr dirty="0" err="1"/>
              <a:t>tuto</a:t>
            </a:r>
            <a:r>
              <a:rPr dirty="0"/>
              <a:t>/hands-</a:t>
            </a:r>
            <a:r>
              <a:rPr dirty="0" err="1"/>
              <a:t>on_tutorial</a:t>
            </a:r>
            <a:r>
              <a:rPr dirty="0"/>
              <a:t>/results/figures/session01_rna_raw_vs_normalized.png</a:t>
            </a:r>
          </a:p>
          <a:p>
            <a:r>
              <a:rPr dirty="0"/>
              <a:t>[/Sources]</a:t>
            </a:r>
          </a:p>
          <a:p>
            <a:r>
              <a:rPr dirty="0"/>
              <a:t>
[Sources]
- https://</a:t>
            </a:r>
            <a:r>
              <a:rPr dirty="0" err="1"/>
              <a:t>github.com</a:t>
            </a:r>
            <a:r>
              <a:rPr dirty="0"/>
              <a:t>/</a:t>
            </a:r>
            <a:r>
              <a:rPr dirty="0" err="1"/>
              <a:t>osmanbeyoglulab</a:t>
            </a:r>
            <a:r>
              <a:rPr dirty="0"/>
              <a:t>/ECCB-2026-Tutorial/tree/main/hands-</a:t>
            </a:r>
            <a:r>
              <a:rPr dirty="0" err="1"/>
              <a:t>on_tutorial</a:t>
            </a:r>
            <a:r>
              <a:rPr dirty="0"/>
              <a:t>
[/Sources]</a:t>
            </a:r>
          </a:p>
          <a:p>
            <a:r>
              <a:rPr dirty="0"/>
              <a:t>
[Sources]
- https://</a:t>
            </a:r>
            <a:r>
              <a:rPr dirty="0" err="1"/>
              <a:t>github.com</a:t>
            </a:r>
            <a:r>
              <a:rPr dirty="0"/>
              <a:t>/</a:t>
            </a:r>
            <a:r>
              <a:rPr dirty="0" err="1"/>
              <a:t>osmanbeyoglulab</a:t>
            </a:r>
            <a:r>
              <a:rPr dirty="0"/>
              <a:t>/ECCB-2026-Tutorial/tree/main/hands-</a:t>
            </a:r>
            <a:r>
              <a:rPr dirty="0" err="1"/>
              <a:t>on_tutorial</a:t>
            </a:r>
            <a:r>
              <a:rPr dirty="0"/>
              <a:t>
[/Sources]</a:t>
            </a:r>
          </a:p>
          <a:p>
            <a:r>
              <a:rPr dirty="0"/>
              <a:t>
[Sources]
- hands-</a:t>
            </a:r>
            <a:r>
              <a:rPr dirty="0" err="1"/>
              <a:t>on_tutorial</a:t>
            </a:r>
            <a:r>
              <a:rPr dirty="0"/>
              <a:t>/notebooks/01_data_and_spatial.ipynb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Presenter script:</a:t>
            </a:r>
          </a:p>
          <a:p>
            <a:endParaRPr sz="1200">
              <a:solidFill>
                <a:schemeClr val="tx1"/>
              </a:solidFill>
              <a:latin typeface="+mn-lt"/>
              <a:ea typeface="+mn-lt"/>
              <a:cs typeface="+mn-lt"/>
            </a:endParaRPr>
          </a:p>
          <a:p>
            <a:r>
              <a:t>Centered log-ratio transformation treats a p-protein profile as compositional. For spot i, calculate the geometric mean across proteins after adding a small pseudocount c to avoid log zero. Each protein is then expressed as a log ratio to that geometric mean. Positive and negative values mean above or below the within-spot reference, not presence and absence. CLR improves comparability and compresses skew, but it does not recover absolute protein molecules. Interpretation always depends on which proteins were included in the panel.</a:t>
            </a:r>
            <a:endParaRPr sz="1200">
              <a:solidFill>
                <a:schemeClr val="tx1"/>
              </a:solidFill>
              <a:latin typeface="+mn-lt"/>
              <a:ea typeface="+mn-lt"/>
              <a:cs typeface="+mn-lt"/>
            </a:endParaRPr>
          </a:p>
          <a:p>
            <a:endParaRPr sz="1200">
              <a:solidFill>
                <a:schemeClr val="tx1"/>
              </a:solidFill>
              <a:latin typeface="+mn-lt"/>
              <a:ea typeface="+mn-lt"/>
              <a:cs typeface="+mn-lt"/>
            </a:endParaRPr>
          </a:p>
          <a:p>
            <a:r>
              <a:t>[Sources]</a:t>
            </a:r>
          </a:p>
          <a:p>
            <a:r>
              <a:t>- Aitchison J. 1982. The statistical analysis of compositional data. Journal of the Royal Statistical Society B 44:139–177.</a:t>
            </a:r>
          </a:p>
          <a:p>
            <a:r>
              <a:t>
[Sources]
- hands-on_tutorial/src/dgat_tutorial/processing.py; muon.prot.pp.clr axis=0 implementation
</a:t>
            </a:r>
          </a:p>
          <a:p>
            <a:r>
              <a:t>
[Sources]
- hands-on_tutorial/notebooks/01_data_and_spatial.ipynb
- hands-on_tutorial/src/dgat_tutorial/processing.py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Presenter script:</a:t>
            </a:r>
          </a:p>
          <a:p>
            <a:endParaRPr sz="1200">
              <a:solidFill>
                <a:schemeClr val="tx1"/>
              </a:solidFill>
              <a:latin typeface="+mn-lt"/>
              <a:ea typeface="+mn-lt"/>
              <a:cs typeface="+mn-lt"/>
            </a:endParaRPr>
          </a:p>
          <a:p>
            <a:r>
              <a:t>Centered log-ratio transformation treats a p-protein profile as compositional. For spot i, calculate the geometric mean across proteins after adding a small pseudocount c to avoid log zero. Each protein is then expressed as a log ratio to that geometric mean. Positive and negative values mean above or below the within-spot reference, not presence and absence. CLR improves comparability and compresses skew, but it does not recover absolute protein molecules. Interpretation always depends on which proteins were included in the panel.</a:t>
            </a:r>
            <a:endParaRPr sz="1200">
              <a:solidFill>
                <a:schemeClr val="tx1"/>
              </a:solidFill>
              <a:latin typeface="+mn-lt"/>
              <a:ea typeface="+mn-lt"/>
              <a:cs typeface="+mn-lt"/>
            </a:endParaRPr>
          </a:p>
          <a:p>
            <a:endParaRPr sz="1200">
              <a:solidFill>
                <a:schemeClr val="tx1"/>
              </a:solidFill>
              <a:latin typeface="+mn-lt"/>
              <a:ea typeface="+mn-lt"/>
              <a:cs typeface="+mn-lt"/>
            </a:endParaRPr>
          </a:p>
          <a:p>
            <a:r>
              <a:t>[Sources]</a:t>
            </a:r>
          </a:p>
          <a:p>
            <a:r>
              <a:t>- Aitchison J. 1982. The statistical analysis of compositional data. Journal of the Royal Statistical Society B 44:139–177.</a:t>
            </a:r>
          </a:p>
          <a:p>
            <a:r>
              <a:t>
[Sources]
- hands-on_tutorial/src/dgat_tutorial/processing.py; muon.prot.pp.clr axis=0 implementation
</a:t>
            </a:r>
          </a:p>
          <a:p>
            <a:r>
              <a:t>
[Sources]
- hands-on_tutorial/notebooks/01_data_and_spatial.ipynb
- hands-on_tutorial/src/dgat_tutorial/processing.py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solidFill>
                  <a:schemeClr val="tx1"/>
                </a:solidFill>
                <a:latin typeface="+mn-lt"/>
                <a:ea typeface="+mn-lt"/>
                <a:cs typeface="+mn-lt"/>
              </a:rPr>
              <a:t>RNA and protein embeddings should reveal related but non-identical structure; the spatial 6-NN graph should follow tissue geometry and local adjacency.</a:t>
            </a:r>
          </a:p>
          <a:p>
            <a:endParaRPr sz="1200">
              <a:solidFill>
                <a:schemeClr val="tx1"/>
              </a:solidFill>
              <a:latin typeface="+mn-lt"/>
              <a:ea typeface="+mn-lt"/>
              <a:cs typeface="+mn-lt"/>
            </a:endParaRPr>
          </a:p>
          <a:p>
            <a:r>
              <a:rPr sz="1200">
                <a:solidFill>
                  <a:schemeClr val="tx1"/>
                </a:solidFill>
                <a:latin typeface="+mn-lt"/>
                <a:ea typeface="+mn-lt"/>
                <a:cs typeface="+mn-lt"/>
              </a:rPr>
              <a:t>[Sources]</a:t>
            </a:r>
          </a:p>
          <a:p>
            <a:r>
              <a:t>- Local tutorial output: /Users/zmengaf/Documents/ECCB tuto/hands-on_tutorial/results/figures/session01_modality_pca_and_spatial_clusters.png</a:t>
            </a:r>
          </a:p>
          <a:p>
            <a:r>
              <a:t>- Local tutorial output: /Users/zmengaf/Documents/ECCB tuto/hands-on_tutorial/results/figures/session01_spatial_knn_graph.png</a:t>
            </a:r>
          </a:p>
          <a:p>
            <a:r>
              <a:t>[/Sources]</a:t>
            </a:r>
          </a:p>
          <a:p>
            <a:r>
              <a:t>
[Sources]
- https://github.com/osmanbeyoglulab/ECCB-2026-Tutorial/tree/main/hands-on_tutorial
[/Sources]</a:t>
            </a:r>
          </a:p>
          <a:p>
            <a:r>
              <a:t>
[Sources]
- https://github.com/osmanbeyoglulab/ECCB-2026-Tutorial/tree/main/hands-on_tutorial
[/Sources]</a:t>
            </a:r>
          </a:p>
          <a:p>
            <a:r>
              <a:t>
[Sources]
- hands-on_tutorial/notebooks/01_data_and_spatial.ipynb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The model section moves from components to data flow, latent representation, loss functions, and gradient updates. During paired training, RNA and measured protein graphs pass through separate graph-attention encoders. Their representations are decoded both within modality and across modality. The training objective balances reconstruction, alignment, and translation. At deployment, measured protein is unavailable, so the retained pathway is RNA graph to RNA encoder to protein decoder.</a:t>
            </a:r>
          </a:p>
          <a:p>
            <a:endParaRPr/>
          </a:p>
          <a:p>
            <a:r>
              <a:t>[Sources]</a:t>
            </a:r>
          </a:p>
          <a:p>
            <a:r>
              <a:t>- hands-on_tutorial/external/DGAT/Model/Train_and_Predict.py</a:t>
            </a:r>
          </a:p>
          <a:p>
            <a:r>
              <a:t>- hands-on_tutorial/external/DGAT/utils/Preprocessing.py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u="none">
                <a:solidFill>
                  <a:schemeClr val="tx1"/>
                </a:solidFill>
                <a:latin typeface="+mn-lt"/>
                <a:ea typeface="+mn-lt"/>
                <a:cs typeface="+mn-lt"/>
              </a:rPr>
              <a:t>Presenter script:</a:t>
            </a:r>
          </a:p>
          <a:p>
            <a:endParaRPr sz="1200" b="0" i="0" u="none" kern="1200">
              <a:solidFill>
                <a:schemeClr val="tx1"/>
              </a:solidFill>
              <a:latin typeface="+mn-lt"/>
              <a:ea typeface="+mn-lt"/>
              <a:cs typeface="+mn-lt"/>
            </a:endParaRPr>
          </a:p>
          <a:p>
            <a:r>
              <a:rPr sz="1200" b="0" i="0" u="none">
                <a:solidFill>
                  <a:schemeClr val="tx1"/>
                </a:solidFill>
                <a:latin typeface="+mn-lt"/>
                <a:ea typeface="+mn-lt"/>
                <a:cs typeface="+mn-lt"/>
              </a:rPr>
              <a:t>Read the diagram from left to right. During training, one graph represents gene expression and another represents protein measurements for the same spatial spots. Separate graph-attention encoders turn each view into a 1,024-dimensional latent vector per spot, written z superscript R and z superscript P. Think of the encoders as two specialists writing compact summaries of the same tissue location. Each summary can be sent to either decoder. A same-modality path reconstructs its own input; a crossed path translates one modality into the other. Because deployment starts with RNA only, the RNA-to-protein crossed path is the one DGAT ultimately needs to make useful.</a:t>
            </a:r>
          </a:p>
          <a:p>
            <a:endParaRPr sz="1200" b="0" i="0" u="none">
              <a:solidFill>
                <a:schemeClr val="tx1"/>
              </a:solidFill>
              <a:latin typeface="+mn-lt"/>
              <a:ea typeface="+mn-lt"/>
              <a:cs typeface="+mn-lt"/>
            </a:endParaRPr>
          </a:p>
          <a:p>
            <a:r>
              <a:t>[Sources]</a:t>
            </a:r>
            <a:endParaRPr sz="1200" b="0" i="0" u="none" kern="1200">
              <a:solidFill>
                <a:schemeClr val="tx1"/>
              </a:solidFill>
              <a:latin typeface="+mn-lt"/>
              <a:ea typeface="+mn-lt"/>
              <a:cs typeface="+mn-lt"/>
            </a:endParaRPr>
          </a:p>
          <a:p>
            <a:r>
              <a:rPr sz="1200" b="0" i="0" u="none">
                <a:solidFill>
                  <a:schemeClr val="tx1"/>
                </a:solidFill>
                <a:latin typeface="+mn-lt"/>
                <a:ea typeface="+mn-lt"/>
                <a:cs typeface="+mn-lt"/>
              </a:rPr>
              <a:t>- hands-on_tutorial/src/dgat_tutorial/teaching.py</a:t>
            </a:r>
          </a:p>
          <a:p>
            <a:r>
              <a:t>- hands-on_tutorial/external/DGAT/Model/Train_and_Predict.py</a:t>
            </a:r>
            <a:endParaRPr sz="1200" b="0" i="0" u="none" kern="1200">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Here is the architecture in symbols. X is the feature matrix, A is the spatial graph, E is an encoder, D is a decoder, R denotes RNA, and P denotes protein. Encoding produces one latent matrix per modality. Decoding the RNA latent with the RNA decoder and the protein latent with the protein decoder produces two reconstructions. Swapping which latent enters each decoder produces two cross-modal predictions. These four outputs give four error terms. Comparing the two latent matrices gives the fifth. Reusing the same decoder matters: it requires a latent code from the other modality to be meaningful in the coordinate system that decoder has learned.</a:t>
            </a:r>
          </a:p>
          <a:p>
            <a:endParaRPr/>
          </a:p>
          <a:p>
            <a:r>
              <a:t>[Sources]</a:t>
            </a:r>
          </a:p>
          <a:p>
            <a:r>
              <a:t>- hands-on_tutorial/src/dgat_tutorial/teaching.py</a:t>
            </a:r>
          </a:p>
          <a:p>
            <a:r>
              <a:t>- hands-on_tutorial/external/DGAT/Model/Train_and_Predict.py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DGAT minimizes a weighted sum of five losses. The first two ask each autoencoder to remember its own modality. The middle term asks paired RNA and protein representations for the same spot to occupy nearby positions in latent space. The final two ask the model to translate across modalities. The coefficients are not probabilities; they rescale how strongly each error contributes to the gradient. RNA reconstruction is multiplied by five, and RNA-to-protein prediction by three. The latter emphasizes the exact path used during deployment. A lower total is better, but the total must be interpreted together with all five components because a heavily weighted term can hide a stalled smaller one.</a:t>
            </a:r>
          </a:p>
          <a:p>
            <a:endParaRPr/>
          </a:p>
          <a:p>
            <a:r>
              <a:t>[Sources]</a:t>
            </a:r>
          </a:p>
          <a:p>
            <a:r>
              <a:t>- hands-on_tutorial/src/dgat_tutorial/teaching.py</a:t>
            </a:r>
          </a:p>
          <a:p>
            <a:r>
              <a:t>- hands-on_tutorial/external/DGAT/Model/Train_and_Predict.py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RMSE is the square root of the average squared difference between a prediction and its target over m entries. Squaring prevents positive and negative errors from cancelling and emphasizes larger misses; the square root returns the result to the target's original scale. RNA reconstruction first encodes the RNA graph and then asks the RNA decoder to reproduce the original RNA features. Protein reconstruction does the analogous round trip. These terms prevent the latent spaces from collapsing into representations that are aligned but no longer informative. In the full objective, RNA reconstruction receives weight five and protein reconstruction receives weight one.</a:t>
            </a:r>
          </a:p>
          <a:p>
            <a:endParaRPr/>
          </a:p>
          <a:p>
            <a:r>
              <a:t>[Sources]</a:t>
            </a:r>
          </a:p>
          <a:p>
            <a:r>
              <a:t>- hands-on_tutorial/src/dgat_tutorial/teaching.py</a:t>
            </a:r>
          </a:p>
          <a:p>
            <a:r>
              <a:t>- hands-on_tutorial/external/DGAT/Model/Train_and_Predict.py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The alignment loss is a mean squared distance across N paired spots and d latent coordinates. It compares z superscript R and z superscript P row by row, so spot order must match between modalities. Minimizing it pulls paired summaries together. Alignment alone is not enough: all points could collapse to the same vector. The reconstruction and cross-prediction terms prevent that. RNA-to-protein prediction sends the RNA latent through the protein decoder and compares the result with measured proteins; this is the deployed pathway and receives weight three. Protein-to-RNA prediction supplies the reverse constraint, making the shared coordinate system useful in both directions.</a:t>
            </a:r>
          </a:p>
          <a:p>
            <a:endParaRPr/>
          </a:p>
          <a:p>
            <a:r>
              <a:t>[Sources]</a:t>
            </a:r>
          </a:p>
          <a:p>
            <a:r>
              <a:t>- hands-on_tutorial/src/dgat_tutorial/teaching.py</a:t>
            </a:r>
          </a:p>
          <a:p>
            <a:r>
              <a:t>- hands-on_tutorial/external/DGAT/Model/Train_and_Predict.py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u="none">
                <a:solidFill>
                  <a:schemeClr val="tx1"/>
                </a:solidFill>
                <a:latin typeface="+mn-lt"/>
                <a:ea typeface="+mn-lt"/>
                <a:cs typeface="+mn-lt"/>
              </a:rPr>
              <a:t>Presenter script:</a:t>
            </a:r>
          </a:p>
          <a:p>
            <a:endParaRPr sz="1200" b="0" i="0" u="none" kern="1200">
              <a:solidFill>
                <a:schemeClr val="tx1"/>
              </a:solidFill>
              <a:latin typeface="+mn-lt"/>
              <a:ea typeface="+mn-lt"/>
              <a:cs typeface="+mn-lt"/>
            </a:endParaRPr>
          </a:p>
          <a:p>
            <a:r>
              <a:rPr sz="1200" b="0" i="0" u="none">
                <a:solidFill>
                  <a:schemeClr val="tx1"/>
                </a:solidFill>
                <a:latin typeface="+mn-lt"/>
                <a:ea typeface="+mn-lt"/>
                <a:cs typeface="+mn-lt"/>
              </a:rPr>
              <a:t>At inference, only the path that begins with RNA is available. The RNA encoder combines each spot's expression profile with its spatial neighbors and produces z superscript R. The protein decoder then converts that latent vector into 31 protein predictions. The protein encoder cannot be used because no measured protein graph exists at prediction time, and the RNA decoder is unnecessary because the goal is not to reconstruct RNA. This is why the RNA-to-protein loss receives extra weight during training. The exact input gene vocabulary is a Session 3 preprocessing contract and is introduced there, immediately before pretrained inference.</a:t>
            </a:r>
          </a:p>
          <a:p>
            <a:endParaRPr sz="1200" b="0" i="0" u="none">
              <a:solidFill>
                <a:schemeClr val="tx1"/>
              </a:solidFill>
              <a:latin typeface="+mn-lt"/>
              <a:ea typeface="+mn-lt"/>
              <a:cs typeface="+mn-lt"/>
            </a:endParaRPr>
          </a:p>
          <a:p>
            <a:r>
              <a:t>[Sources]</a:t>
            </a:r>
            <a:endParaRPr sz="1200" b="0" i="0" u="none" kern="1200">
              <a:solidFill>
                <a:schemeClr val="tx1"/>
              </a:solidFill>
              <a:latin typeface="+mn-lt"/>
              <a:ea typeface="+mn-lt"/>
              <a:cs typeface="+mn-lt"/>
            </a:endParaRPr>
          </a:p>
          <a:p>
            <a:r>
              <a:rPr sz="1200" b="0" i="0" u="none">
                <a:solidFill>
                  <a:schemeClr val="tx1"/>
                </a:solidFill>
                <a:latin typeface="+mn-lt"/>
                <a:ea typeface="+mn-lt"/>
                <a:cs typeface="+mn-lt"/>
              </a:rPr>
              <a:t>- hands-on_tutorial/src/dgat_tutorial/teaching.py</a:t>
            </a:r>
          </a:p>
          <a:p>
            <a:r>
              <a:t>- hands-on_tutorial/external/DGAT/Model/Train_and_Predict.py</a:t>
            </a:r>
            <a:endParaRPr sz="1200" b="0" i="0" u="none" kern="1200">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A single training step runs all paths forward, combines the five losses, and calls backward once. The chain rule sends gradients only through modules that influenced an active differentiable term. RNA reconstruction updates the RNA encoder and RNA decoder. Protein reconstruction updates the protein encoder and protein decoder. RNA-to-protein prediction updates the RNA encoder and protein decoder. In the current two-device implementation, the transferred protein latent is created inside torch.no_grad, so it is a detached target: alignment updates the RNA encoder but does not send gradient into the protein encoder through that branch, and protein-to-RNA prediction updates the RNA decoder but not the protein encoder through that branch. The code clips each module's gradient norm at one before stepping four Adam optimizers. Monitor each loss separately because a falling total can hide a stalled deployment-critical RNA-to-protein term.</a:t>
            </a:r>
          </a:p>
          <a:p>
            <a:endParaRPr/>
          </a:p>
          <a:p>
            <a:r>
              <a:t>[Sources]</a:t>
            </a:r>
          </a:p>
          <a:p>
            <a:r>
              <a:t>- hands-on_tutorial/src/dgat_tutorial/teaching.py</a:t>
            </a:r>
          </a:p>
          <a:p>
            <a:r>
              <a:t>- hands-on_tutorial/external/DGAT/Model/Train_and_Predict.py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Evaluation begins before calculating a metric: the input matrix and output labels must match the checkpoint contract. Numerical agreement, spatial organization, anatomical concordance, and independent measurements answer different questions. Moran statistics quantify spatial pattern but do not establish predictive accuracy. Cluster overlap describes anatomical concordance but can be optimistic when regions are selected and scored on the same tissue. Pairwise spatial associations are best used to prioritize experiments rather than claim mechanism.</a:t>
            </a:r>
          </a:p>
          <a:p>
            <a:endParaRPr/>
          </a:p>
          <a:p>
            <a:r>
              <a:t>[Sources]</a:t>
            </a:r>
          </a:p>
          <a:p>
            <a:r>
              <a:t>- hands-on_tutorial/notebooks/03_evaluation_and_interpretation.ipynb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Correlation and error are complementary. Pearson correlation detects linear co-variation and is sensitive to extreme values. Spearman correlation first converts values to ranks, so it asks whether the ordering of spots is preserved even when the relationship is nonlinear. RMSE retains the prediction scale and penalizes large errors more strongly because errors are squared. A prediction can reproduce the spatial pattern and therefore have high correlation while systematically overestimating abundance and therefore have poor RMSE. Protein-wise evaluation asks which targets are predictable across tissue; spot-wise evaluation asks which tissue locations are reconstructed well across the panel.</a:t>
            </a:r>
          </a:p>
          <a:p>
            <a:endParaRPr/>
          </a:p>
          <a:p>
            <a:r>
              <a:t>[Sources]</a:t>
            </a:r>
          </a:p>
          <a:p>
            <a:r>
              <a:t>- Pearson K. 1895. Proceedings of the Royal Society of London 58:240–242.</a:t>
            </a:r>
          </a:p>
          <a:p>
            <a:r>
              <a:t>- Spearman C. 1904. American Journal of Psychology 15:72–101.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Precision and recall depend on which region is treated as positive. Precision penalizes contamination outside the annotated structure; recall penalizes missed spots inside it. F1 is their harmonic mean, so it becomes low when either component is low. The adjusted Rand index evaluates whole partitions rather than one selected region and corrects for matches expected by chance. None of these proves protein abundance is numerically accurate. Histology provides anatomical context, while independently measured protein staining provides a stronger orthogonal check of the predicted protein pattern.</a:t>
            </a:r>
          </a:p>
          <a:p>
            <a:endParaRPr/>
          </a:p>
          <a:p>
            <a:r>
              <a:t>[Sources]</a:t>
            </a:r>
          </a:p>
          <a:p>
            <a:r>
              <a:t>- Hubert L, Arabie P. 1985. Comparing partitions. Journal of Classification 2:193–218.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Moran's I compares a value at each spot with values at its graph-defined neighbors. The centered value z is positive above the tissue mean and negative below it. The numerator becomes positive when neighboring deviations share a sign. S zero is the sum of all spatial weights and normalizes the graph. Under randomization the expectation is minus one over N minus one, which is close to zero for a large tissue. Positive autocorrelation indicates clustering; negative autocorrelation indicates neighboring contrasts. The magnitude depends on the weight matrix, so comparisons require the same graph definition. Statistical significance is commonly assessed by permutation.</a:t>
            </a:r>
          </a:p>
          <a:p>
            <a:endParaRPr/>
          </a:p>
          <a:p>
            <a:r>
              <a:t>[Sources]</a:t>
            </a:r>
          </a:p>
          <a:p>
            <a:r>
              <a:t>- Moran PAP. 1950. Notes on continuous stochastic phenomena. Biometrika 37:17–23.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Presenter script:</a:t>
            </a:r>
          </a:p>
          <a:p>
            <a:endParaRPr dirty="0"/>
          </a:p>
          <a:p>
            <a:r>
              <a:rPr dirty="0"/>
              <a:t>Bivariate Moran's I replaces one side of the univariate cross-product with a different feature. It asks whether x at focal spot </a:t>
            </a:r>
            <a:r>
              <a:rPr dirty="0" err="1"/>
              <a:t>i</a:t>
            </a:r>
            <a:r>
              <a:rPr dirty="0"/>
              <a:t> is associated with y in neighboring spot j. Standardization makes the two feature scales comparable. The statistic can be directional because the focal and lagged variables have different roles, especially with asymmetric weights. A permutation test evaluates whether the observed association is stronger than expected after breaking the spatial correspondence. Even a strong value is an ecological co-location pattern and cannot establish direct molecular interaction.</a:t>
            </a:r>
          </a:p>
          <a:p>
            <a:endParaRPr dirty="0"/>
          </a:p>
          <a:p>
            <a:r>
              <a:rPr dirty="0"/>
              <a:t>[Sources]</a:t>
            </a:r>
          </a:p>
          <a:p>
            <a:r>
              <a:rPr dirty="0"/>
              <a:t>- Wartenberg D. 1985. Multivariate spatial correlation: a method for exploratory geographical analysis. Geographical Analysis 17:263–283.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script:</a:t>
            </a:r>
          </a:p>
          <a:p>
            <a:endParaRPr/>
          </a:p>
          <a:p>
            <a:r>
              <a:t>Reproducibility depends on more than the model weights. AnnData rows must follow barcode order, and spatial coordinates must refer to those same rows. The recorded pipeline first fills and reorders the model gene vocabulary, then applies the checkpoint-compatible preprocessing, then predicts proteins. The model should be placed in evaluation mode and run without gradient tracking. Reindexing the result by explicit labels prevents a plausible-looking but mislabeled comparison. Environment versions, checkpoint identity, device, and preprocessing settings belong in the provenance record.</a:t>
            </a:r>
          </a:p>
          <a:p>
            <a:endParaRPr/>
          </a:p>
          <a:p>
            <a:r>
              <a:t>[Sources]</a:t>
            </a:r>
          </a:p>
          <a:p>
            <a:r>
              <a:t>- hands-on_tutorial/external/DGAT/Model/Train_and_Predict.py</a:t>
            </a:r>
          </a:p>
          <a:p>
            <a:r>
              <a:t>- hands-on_tutorial/external/DGAT/utils/Preprocessing.py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2.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hit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E92AEF9-615A-69FA-B153-FE7135B98005}"/>
              </a:ext>
            </a:extLst>
          </p:cNvPr>
          <p:cNvSpPr>
            <a:spLocks noGrp="1"/>
          </p:cNvSpPr>
          <p:nvPr/>
        </p:nvSpPr>
        <p:spPr>
          <a:xfrm>
            <a:off x="0" y="276932"/>
            <a:ext cx="277792" cy="630241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5957103" y="900897"/>
            <a:ext cx="277792" cy="1163641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77D05A95-7371-9BEF-7844-FD763B53400E}"/>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07B08A63-5C28-2736-64DB-BF56E813DDAC}"/>
              </a:ext>
            </a:extLst>
          </p:cNvPr>
          <p:cNvSpPr>
            <a:spLocks noGrp="1"/>
          </p:cNvSpPr>
          <p:nvPr/>
        </p:nvSpPr>
        <p:spPr>
          <a:xfrm>
            <a:off x="11914206" y="6580206"/>
            <a:ext cx="277794" cy="2777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0" name="Picture 14"/>
          <p:cNvPicPr>
            <a:picLocks noChangeAspect="1"/>
          </p:cNvPicPr>
          <p:nvPr/>
        </p:nvPicPr>
        <p:blipFill>
          <a:blip r:embed="rId2"/>
          <a:srcRect/>
          <a:stretch/>
        </p:blipFill>
        <p:spPr>
          <a:xfrm>
            <a:off x="9342689" y="362275"/>
            <a:ext cx="2407715" cy="748649"/>
          </a:xfrm>
          <a:prstGeom prst="rect">
            <a:avLst/>
          </a:prstGeom>
        </p:spPr>
      </p:pic>
      <p:pic>
        <p:nvPicPr>
          <p:cNvPr id="31" name="Picture 2"/>
          <p:cNvPicPr>
            <a:picLocks noChangeAspect="1"/>
          </p:cNvPicPr>
          <p:nvPr/>
        </p:nvPicPr>
        <p:blipFill>
          <a:blip r:embed="rId3"/>
          <a:stretch>
            <a:fillRect/>
          </a:stretch>
        </p:blipFill>
        <p:spPr>
          <a:xfrm>
            <a:off x="277792" y="0"/>
            <a:ext cx="277793" cy="277793"/>
          </a:xfrm>
          <a:prstGeom prst="rect">
            <a:avLst/>
          </a:prstGeom>
        </p:spPr>
      </p:pic>
      <p:pic>
        <p:nvPicPr>
          <p:cNvPr id="32" name="Picture 3"/>
          <p:cNvPicPr>
            <a:picLocks noChangeAspect="1"/>
          </p:cNvPicPr>
          <p:nvPr/>
        </p:nvPicPr>
        <p:blipFill>
          <a:blip r:embed="rId4"/>
          <a:stretch>
            <a:fillRect/>
          </a:stretch>
        </p:blipFill>
        <p:spPr>
          <a:xfrm>
            <a:off x="11795313" y="6183518"/>
            <a:ext cx="396687" cy="396687"/>
          </a:xfrm>
          <a:prstGeom prst="rect">
            <a:avLst/>
          </a:prstGeom>
        </p:spPr>
      </p:pic>
      <p:sp>
        <p:nvSpPr>
          <p:cNvPr id="6" name="Text Placeholder 4">
            <a:extLst>
              <a:ext uri="{FF2B5EF4-FFF2-40B4-BE49-F238E27FC236}">
                <a16:creationId xmlns:a16="http://schemas.microsoft.com/office/drawing/2014/main" id="{7AF0B458-5ED3-871C-B39B-E0753E1A1CBE}"/>
              </a:ext>
            </a:extLst>
          </p:cNvPr>
          <p:cNvSpPr>
            <a:spLocks noGrp="1"/>
          </p:cNvSpPr>
          <p:nvPr>
            <p:ph type="body" idx="13" hasCustomPrompt="1"/>
          </p:nvPr>
        </p:nvSpPr>
        <p:spPr>
          <a:xfrm>
            <a:off x="992026" y="5624358"/>
            <a:ext cx="10758377" cy="332399"/>
          </a:xfrm>
        </p:spPr>
        <p:txBody>
          <a:bodyPr wrap="square" lIns="0" tIns="0" rIns="0" bIns="0">
            <a:normAutofit/>
          </a:bodyPr>
          <a:lstStyle>
            <a:lvl1pPr marL="0" indent="0" algn="l">
              <a:buFontTx/>
              <a:buNone/>
              <a:defRPr sz="2000" b="0">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Month XX, Year</a:t>
            </a:r>
          </a:p>
        </p:txBody>
      </p:sp>
      <p:sp>
        <p:nvSpPr>
          <p:cNvPr id="14" name="Text Placeholder 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6" y="5115072"/>
            <a:ext cx="10758377" cy="332399"/>
          </a:xfrm>
        </p:spPr>
        <p:txBody>
          <a:bodyPr wrap="square" lIns="0" tIns="0" rIns="0" bIns="0">
            <a:normAutofit/>
          </a:bodyPr>
          <a:lstStyle>
            <a:lvl1pPr marL="0" indent="0" algn="l">
              <a:buFontTx/>
              <a:buNone/>
              <a:defRPr sz="2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Presentation Subtitle or Presenter Name</a:t>
            </a:r>
          </a:p>
        </p:txBody>
      </p:sp>
      <p:sp>
        <p:nvSpPr>
          <p:cNvPr id="22" name="Text Placeholder 2">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2485674"/>
            <a:ext cx="10757719" cy="1666936"/>
          </a:xfrm>
        </p:spPr>
        <p:txBody>
          <a:bodyPr lIns="0" rIns="0">
            <a:normAutofit/>
          </a:bodyPr>
          <a:lstStyle>
            <a:lvl1pPr marL="0" indent="0" algn="l">
              <a:lnSpc>
                <a:spcPts val="5600"/>
              </a:lnSpc>
              <a:buFontTx/>
              <a:buNone/>
              <a:defRPr sz="6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White Title Slide </a:t>
            </a:r>
            <a:br/>
            <a:r>
              <a:t>Without Photo</a:t>
            </a:r>
          </a:p>
        </p:txBody>
      </p:sp>
      <p:sp>
        <p:nvSpPr>
          <p:cNvPr id="16" name="Text Placeholder 1">
            <a:extLst>
              <a:ext uri="{FF2B5EF4-FFF2-40B4-BE49-F238E27FC236}">
                <a16:creationId xmlns:a16="http://schemas.microsoft.com/office/drawing/2014/main" id="{36F762C7-71A0-C668-493A-6DB2F9A3BA03}"/>
              </a:ext>
            </a:extLst>
          </p:cNvPr>
          <p:cNvSpPr>
            <a:spLocks noGrp="1"/>
          </p:cNvSpPr>
          <p:nvPr>
            <p:ph type="body" idx="14" hasCustomPrompt="1"/>
          </p:nvPr>
        </p:nvSpPr>
        <p:spPr>
          <a:xfrm>
            <a:off x="992026" y="1953809"/>
            <a:ext cx="10757719" cy="249299"/>
          </a:xfrm>
        </p:spPr>
        <p:txBody>
          <a:bodyPr wrap="square" lIns="0" tIns="0" rIns="0" bIns="0">
            <a:noAutofit/>
          </a:bodyPr>
          <a:lstStyle>
            <a:lvl1pPr marL="0" indent="0" algn="l">
              <a:buFontTx/>
              <a:buNone/>
              <a:defRPr sz="1600" b="0">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Blue">
    <p:bg>
      <p:bgPr>
        <a:solidFill>
          <a:srgbClr val="003594"/>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C5BACCB-11A0-E67D-A5BE-F5FD36B3E10C}"/>
              </a:ext>
            </a:extLst>
          </p:cNvPr>
          <p:cNvSpPr>
            <a:spLocks noGrp="1"/>
          </p:cNvSpPr>
          <p:nvPr>
            <p:ph type="body" idx="10" hasCustomPrompt="1"/>
          </p:nvPr>
        </p:nvSpPr>
        <p:spPr>
          <a:xfrm>
            <a:off x="992355" y="2480848"/>
            <a:ext cx="10757719" cy="1666936"/>
          </a:xfrm>
        </p:spPr>
        <p:txBody>
          <a:bodyPr lIns="0" rIns="0">
            <a:normAutofit/>
          </a:bodyPr>
          <a:lstStyle>
            <a:lvl1pPr marL="0" indent="0" algn="l">
              <a:lnSpc>
                <a:spcPts val="5600"/>
              </a:lnSpc>
              <a:buFontTx/>
              <a:buNone/>
              <a:defRPr sz="60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Blue Title Slide </a:t>
            </a:r>
            <a:br/>
            <a:r>
              <a:t>Without Photo</a:t>
            </a:r>
          </a:p>
        </p:txBody>
      </p:sp>
      <p:sp>
        <p:nvSpPr>
          <p:cNvPr id="14" name="Text Placeholder 1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7" y="5115072"/>
            <a:ext cx="10757718" cy="332399"/>
          </a:xfrm>
        </p:spPr>
        <p:txBody>
          <a:bodyPr wrap="square" lIns="0" tIns="0" rIns="0" bIns="0">
            <a:normAutofit/>
          </a:bodyPr>
          <a:lstStyle>
            <a:lvl1pPr marL="0" indent="0" algn="l">
              <a:buFontTx/>
              <a:buNone/>
              <a:defRPr sz="2000" b="1">
                <a:solidFill>
                  <a:srgbClr val="FFC00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Presentation Subtitle or Presenter Name</a:t>
            </a:r>
          </a:p>
        </p:txBody>
      </p:sp>
      <p:sp>
        <p:nvSpPr>
          <p:cNvPr id="6" name="Text Placeholder 13">
            <a:extLst>
              <a:ext uri="{FF2B5EF4-FFF2-40B4-BE49-F238E27FC236}">
                <a16:creationId xmlns:a16="http://schemas.microsoft.com/office/drawing/2014/main" id="{7AF0B458-5ED3-871C-B39B-E0753E1A1CBE}"/>
              </a:ext>
            </a:extLst>
          </p:cNvPr>
          <p:cNvSpPr>
            <a:spLocks noGrp="1"/>
          </p:cNvSpPr>
          <p:nvPr>
            <p:ph type="body" idx="13" hasCustomPrompt="1"/>
          </p:nvPr>
        </p:nvSpPr>
        <p:spPr>
          <a:xfrm>
            <a:off x="992027" y="5624358"/>
            <a:ext cx="10757718" cy="332399"/>
          </a:xfrm>
        </p:spPr>
        <p:txBody>
          <a:bodyPr wrap="square" lIns="0" tIns="0" rIns="0" bIns="0">
            <a:normAutofit/>
          </a:bodyPr>
          <a:lstStyle>
            <a:lvl1pPr marL="0" indent="0" algn="l">
              <a:buFontTx/>
              <a:buNone/>
              <a:defRPr sz="20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Month XX, Year</a:t>
            </a:r>
          </a:p>
        </p:txBody>
      </p:sp>
      <p:sp>
        <p:nvSpPr>
          <p:cNvPr id="7" name="Rectangle 6">
            <a:extLst>
              <a:ext uri="{FF2B5EF4-FFF2-40B4-BE49-F238E27FC236}">
                <a16:creationId xmlns:a16="http://schemas.microsoft.com/office/drawing/2014/main" id="{FE92AEF9-615A-69FA-B153-FE7135B98005}"/>
              </a:ext>
            </a:extLst>
          </p:cNvPr>
          <p:cNvSpPr>
            <a:spLocks noGrp="1"/>
          </p:cNvSpPr>
          <p:nvPr/>
        </p:nvSpPr>
        <p:spPr>
          <a:xfrm>
            <a:off x="0" y="192328"/>
            <a:ext cx="277792" cy="63878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6096000" y="762000"/>
            <a:ext cx="277792" cy="119142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77D05A95-7371-9BEF-7844-FD763B53400E}"/>
              </a:ext>
            </a:extLst>
          </p:cNvPr>
          <p:cNvSpPr>
            <a:spLocks noGrp="1"/>
          </p:cNvSpPr>
          <p:nvPr/>
        </p:nvSpPr>
        <p:spPr>
          <a:xfrm>
            <a:off x="0" y="0"/>
            <a:ext cx="277794" cy="2777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07B08A63-5C28-2736-64DB-BF56E813DDAC}"/>
              </a:ext>
            </a:extLst>
          </p:cNvPr>
          <p:cNvSpPr>
            <a:spLocks noGrp="1"/>
          </p:cNvSpPr>
          <p:nvPr/>
        </p:nvSpPr>
        <p:spPr>
          <a:xfrm>
            <a:off x="11912600" y="6580206"/>
            <a:ext cx="277794" cy="277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Text Placeholder 13">
            <a:extLst>
              <a:ext uri="{FF2B5EF4-FFF2-40B4-BE49-F238E27FC236}">
                <a16:creationId xmlns:a16="http://schemas.microsoft.com/office/drawing/2014/main" id="{36F762C7-71A0-C668-493A-6DB2F9A3BA03}"/>
              </a:ext>
            </a:extLst>
          </p:cNvPr>
          <p:cNvSpPr>
            <a:spLocks noGrp="1"/>
          </p:cNvSpPr>
          <p:nvPr>
            <p:ph type="body" idx="14" hasCustomPrompt="1"/>
          </p:nvPr>
        </p:nvSpPr>
        <p:spPr>
          <a:xfrm>
            <a:off x="992027" y="1965617"/>
            <a:ext cx="10757718" cy="249299"/>
          </a:xfrm>
        </p:spPr>
        <p:txBody>
          <a:bodyPr wrap="square" lIns="0" tIns="0" rIns="0" bIns="0">
            <a:noAutofit/>
          </a:bodyPr>
          <a:lstStyle>
            <a:lvl1pPr marL="0" indent="0" algn="l">
              <a:buFontTx/>
              <a:buNone/>
              <a:defRPr sz="1600" b="0">
                <a:solidFill>
                  <a:srgbClr val="FFC00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a:p>
            <a:pPr lvl="0">
              <a:buNone/>
            </a:pPr>
            <a:endParaRPr/>
          </a:p>
        </p:txBody>
      </p:sp>
      <p:pic>
        <p:nvPicPr>
          <p:cNvPr id="28" name="Picture 23"/>
          <p:cNvPicPr>
            <a:picLocks noChangeAspect="1"/>
          </p:cNvPicPr>
          <p:nvPr/>
        </p:nvPicPr>
        <p:blipFill>
          <a:blip r:embed="rId2"/>
          <a:srcRect/>
          <a:stretch/>
        </p:blipFill>
        <p:spPr>
          <a:xfrm>
            <a:off x="9342689" y="362275"/>
            <a:ext cx="2407715" cy="748648"/>
          </a:xfrm>
          <a:prstGeom prst="rect">
            <a:avLst/>
          </a:prstGeom>
        </p:spPr>
      </p:pic>
      <p:pic>
        <p:nvPicPr>
          <p:cNvPr id="29" name="Picture 1"/>
          <p:cNvPicPr>
            <a:picLocks noChangeAspect="1"/>
          </p:cNvPicPr>
          <p:nvPr/>
        </p:nvPicPr>
        <p:blipFill>
          <a:blip r:embed="rId3"/>
          <a:srcRect/>
          <a:stretch/>
        </p:blipFill>
        <p:spPr>
          <a:xfrm>
            <a:off x="277792" y="1607"/>
            <a:ext cx="277793" cy="277793"/>
          </a:xfrm>
          <a:prstGeom prst="rect">
            <a:avLst/>
          </a:prstGeom>
        </p:spPr>
      </p:pic>
      <p:pic>
        <p:nvPicPr>
          <p:cNvPr id="30" name="Picture 2"/>
          <p:cNvPicPr>
            <a:picLocks noChangeAspect="1"/>
          </p:cNvPicPr>
          <p:nvPr/>
        </p:nvPicPr>
        <p:blipFill>
          <a:blip r:embed="rId3"/>
          <a:srcRect/>
          <a:stretch/>
        </p:blipFill>
        <p:spPr>
          <a:xfrm>
            <a:off x="11795313" y="6183518"/>
            <a:ext cx="396687" cy="39668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Blue and Gold">
    <p:bg>
      <p:bgPr>
        <a:solidFill>
          <a:schemeClr val="accent1"/>
        </a:solidFill>
        <a:effectLst/>
      </p:bgPr>
    </p:bg>
    <p:spTree>
      <p:nvGrpSpPr>
        <p:cNvPr id="1" name=""/>
        <p:cNvGrpSpPr/>
        <p:nvPr/>
      </p:nvGrpSpPr>
      <p:grpSpPr>
        <a:xfrm>
          <a:off x="0" y="0"/>
          <a:ext cx="0" cy="0"/>
          <a:chOff x="0" y="0"/>
          <a:chExt cx="0" cy="0"/>
        </a:xfrm>
      </p:grpSpPr>
      <p:pic>
        <p:nvPicPr>
          <p:cNvPr id="27" name="Picture 23"/>
          <p:cNvPicPr>
            <a:picLocks noChangeAspect="1"/>
          </p:cNvPicPr>
          <p:nvPr/>
        </p:nvPicPr>
        <p:blipFill rotWithShape="1">
          <a:blip r:embed="rId2"/>
          <a:srcRect t="45522" b="4187"/>
          <a:stretch/>
        </p:blipFill>
        <p:spPr>
          <a:xfrm>
            <a:off x="138896" y="4630707"/>
            <a:ext cx="12053104" cy="1947894"/>
          </a:xfrm>
          <a:prstGeom prst="rect">
            <a:avLst/>
          </a:prstGeom>
        </p:spPr>
      </p:pic>
      <p:sp>
        <p:nvSpPr>
          <p:cNvPr id="14" name="Text Placeholder 1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6" y="5115072"/>
            <a:ext cx="10758377" cy="332399"/>
          </a:xfrm>
        </p:spPr>
        <p:txBody>
          <a:bodyPr wrap="square" lIns="0" tIns="0" rIns="0" bIns="0">
            <a:normAutofit/>
          </a:bodyPr>
          <a:lstStyle>
            <a:lvl1pPr marL="0" indent="0" algn="l">
              <a:buFontTx/>
              <a:buNone/>
              <a:defRPr sz="2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Presentation Subtitle or Presenter Name</a:t>
            </a:r>
          </a:p>
        </p:txBody>
      </p:sp>
      <p:sp>
        <p:nvSpPr>
          <p:cNvPr id="6" name="Text Placeholder 13">
            <a:extLst>
              <a:ext uri="{FF2B5EF4-FFF2-40B4-BE49-F238E27FC236}">
                <a16:creationId xmlns:a16="http://schemas.microsoft.com/office/drawing/2014/main" id="{7AF0B458-5ED3-871C-B39B-E0753E1A1CBE}"/>
              </a:ext>
            </a:extLst>
          </p:cNvPr>
          <p:cNvSpPr>
            <a:spLocks noGrp="1"/>
          </p:cNvSpPr>
          <p:nvPr>
            <p:ph type="body" idx="13" hasCustomPrompt="1"/>
          </p:nvPr>
        </p:nvSpPr>
        <p:spPr>
          <a:xfrm>
            <a:off x="992026" y="5624358"/>
            <a:ext cx="10758377" cy="332399"/>
          </a:xfrm>
        </p:spPr>
        <p:txBody>
          <a:bodyPr wrap="square" lIns="0" tIns="0" rIns="0" bIns="0">
            <a:normAutofit/>
          </a:bodyPr>
          <a:lstStyle>
            <a:lvl1pPr marL="0" indent="0" algn="l">
              <a:buFontTx/>
              <a:buNone/>
              <a:defRPr sz="2000" b="0">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Month XX, Year</a:t>
            </a:r>
          </a:p>
        </p:txBody>
      </p:sp>
      <p:sp>
        <p:nvSpPr>
          <p:cNvPr id="7" name="Rectangle 6">
            <a:extLst>
              <a:ext uri="{FF2B5EF4-FFF2-40B4-BE49-F238E27FC236}">
                <a16:creationId xmlns:a16="http://schemas.microsoft.com/office/drawing/2014/main" id="{FE92AEF9-615A-69FA-B153-FE7135B98005}"/>
              </a:ext>
            </a:extLst>
          </p:cNvPr>
          <p:cNvSpPr>
            <a:spLocks noGrp="1"/>
          </p:cNvSpPr>
          <p:nvPr/>
        </p:nvSpPr>
        <p:spPr>
          <a:xfrm>
            <a:off x="0" y="188954"/>
            <a:ext cx="277792" cy="639125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6096000" y="762000"/>
            <a:ext cx="277792" cy="119142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77D05A95-7371-9BEF-7844-FD763B53400E}"/>
              </a:ext>
            </a:extLst>
          </p:cNvPr>
          <p:cNvSpPr>
            <a:spLocks noGrp="1"/>
          </p:cNvSpPr>
          <p:nvPr/>
        </p:nvSpPr>
        <p:spPr>
          <a:xfrm>
            <a:off x="0" y="0"/>
            <a:ext cx="277794" cy="2777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07B08A63-5C28-2736-64DB-BF56E813DDAC}"/>
              </a:ext>
            </a:extLst>
          </p:cNvPr>
          <p:cNvSpPr>
            <a:spLocks noGrp="1"/>
          </p:cNvSpPr>
          <p:nvPr/>
        </p:nvSpPr>
        <p:spPr>
          <a:xfrm>
            <a:off x="11912600" y="6580206"/>
            <a:ext cx="277794" cy="277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2485674"/>
            <a:ext cx="10757719" cy="1666936"/>
          </a:xfrm>
        </p:spPr>
        <p:txBody>
          <a:bodyPr lIns="0" rIns="0">
            <a:normAutofit/>
          </a:bodyPr>
          <a:lstStyle>
            <a:lvl1pPr marL="0" indent="0" algn="l">
              <a:lnSpc>
                <a:spcPts val="5600"/>
              </a:lnSpc>
              <a:buFontTx/>
              <a:buNone/>
              <a:defRPr sz="60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Blue and Gold Title Slide </a:t>
            </a:r>
            <a:br/>
            <a:r>
              <a:t>Without Photo</a:t>
            </a:r>
          </a:p>
        </p:txBody>
      </p:sp>
      <p:pic>
        <p:nvPicPr>
          <p:cNvPr id="35" name="Picture 30"/>
          <p:cNvPicPr>
            <a:picLocks noChangeAspect="1"/>
          </p:cNvPicPr>
          <p:nvPr/>
        </p:nvPicPr>
        <p:blipFill>
          <a:blip r:embed="rId3"/>
          <a:srcRect/>
          <a:stretch/>
        </p:blipFill>
        <p:spPr>
          <a:xfrm>
            <a:off x="9342689" y="362275"/>
            <a:ext cx="2407715" cy="748648"/>
          </a:xfrm>
          <a:prstGeom prst="rect">
            <a:avLst/>
          </a:prstGeom>
        </p:spPr>
      </p:pic>
      <p:pic>
        <p:nvPicPr>
          <p:cNvPr id="36" name="Picture 3"/>
          <p:cNvPicPr>
            <a:picLocks noChangeAspect="1"/>
          </p:cNvPicPr>
          <p:nvPr/>
        </p:nvPicPr>
        <p:blipFill>
          <a:blip r:embed="rId4"/>
          <a:srcRect/>
          <a:stretch/>
        </p:blipFill>
        <p:spPr>
          <a:xfrm>
            <a:off x="277792" y="1607"/>
            <a:ext cx="277793" cy="277793"/>
          </a:xfrm>
          <a:prstGeom prst="rect">
            <a:avLst/>
          </a:prstGeom>
        </p:spPr>
      </p:pic>
      <p:pic>
        <p:nvPicPr>
          <p:cNvPr id="37" name="Picture 4"/>
          <p:cNvPicPr>
            <a:picLocks noChangeAspect="1"/>
          </p:cNvPicPr>
          <p:nvPr/>
        </p:nvPicPr>
        <p:blipFill>
          <a:blip r:embed="rId4"/>
          <a:srcRect/>
          <a:stretch/>
        </p:blipFill>
        <p:spPr>
          <a:xfrm>
            <a:off x="11795313" y="6183519"/>
            <a:ext cx="396687" cy="396687"/>
          </a:xfrm>
          <a:prstGeom prst="rect">
            <a:avLst/>
          </a:prstGeom>
        </p:spPr>
      </p:pic>
      <p:sp>
        <p:nvSpPr>
          <p:cNvPr id="2" name="Text Placeholder 13">
            <a:extLst>
              <a:ext uri="{FF2B5EF4-FFF2-40B4-BE49-F238E27FC236}">
                <a16:creationId xmlns:a16="http://schemas.microsoft.com/office/drawing/2014/main" id="{C8B43FE5-DF06-EE45-EB33-BE5270026915}"/>
              </a:ext>
            </a:extLst>
          </p:cNvPr>
          <p:cNvSpPr>
            <a:spLocks noGrp="1"/>
          </p:cNvSpPr>
          <p:nvPr>
            <p:ph type="body" idx="14" hasCustomPrompt="1"/>
          </p:nvPr>
        </p:nvSpPr>
        <p:spPr>
          <a:xfrm>
            <a:off x="992027" y="1965617"/>
            <a:ext cx="10757718" cy="249299"/>
          </a:xfrm>
        </p:spPr>
        <p:txBody>
          <a:bodyPr wrap="square" lIns="0" tIns="0" rIns="0" bIns="0">
            <a:noAutofit/>
          </a:bodyPr>
          <a:lstStyle>
            <a:lvl1pPr marL="0" indent="0" algn="l">
              <a:buFontTx/>
              <a:buNone/>
              <a:defRPr sz="1600" b="0">
                <a:solidFill>
                  <a:srgbClr val="FFC00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a:p>
            <a:pPr lvl="0">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hite With Photo">
    <p:bg>
      <p:bgPr>
        <a:solidFill>
          <a:schemeClr val="bg1"/>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C5BACCB-11A0-E67D-A5BE-F5FD36B3E10C}"/>
              </a:ext>
            </a:extLst>
          </p:cNvPr>
          <p:cNvSpPr>
            <a:spLocks noGrp="1"/>
          </p:cNvSpPr>
          <p:nvPr>
            <p:ph type="body" idx="10" hasCustomPrompt="1"/>
          </p:nvPr>
        </p:nvSpPr>
        <p:spPr>
          <a:xfrm>
            <a:off x="992355" y="2493055"/>
            <a:ext cx="6335545" cy="1666936"/>
          </a:xfrm>
        </p:spPr>
        <p:txBody>
          <a:bodyPr lIns="0" rIns="0">
            <a:normAutofit/>
          </a:bodyPr>
          <a:lstStyle>
            <a:lvl1pPr marL="0" indent="0" algn="l">
              <a:lnSpc>
                <a:spcPts val="5100"/>
              </a:lnSpc>
              <a:buFontTx/>
              <a:buNone/>
              <a:defRPr sz="55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White Title Slide </a:t>
            </a:r>
            <a:br/>
            <a:r>
              <a:t>With Photo</a:t>
            </a:r>
          </a:p>
        </p:txBody>
      </p:sp>
      <p:sp>
        <p:nvSpPr>
          <p:cNvPr id="14" name="Text Placeholder 1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7" y="5175403"/>
            <a:ext cx="6335845" cy="332399"/>
          </a:xfrm>
        </p:spPr>
        <p:txBody>
          <a:bodyPr wrap="square" lIns="0" tIns="0" rIns="0" bIns="0">
            <a:normAutofit/>
          </a:bodyPr>
          <a:lstStyle>
            <a:lvl1pPr marL="0" indent="0" algn="l">
              <a:buFontTx/>
              <a:buNone/>
              <a:defRPr sz="2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Presentation Subtitle or Presenter Name</a:t>
            </a:r>
          </a:p>
        </p:txBody>
      </p:sp>
      <p:sp>
        <p:nvSpPr>
          <p:cNvPr id="6" name="Text Placeholder 13">
            <a:extLst>
              <a:ext uri="{FF2B5EF4-FFF2-40B4-BE49-F238E27FC236}">
                <a16:creationId xmlns:a16="http://schemas.microsoft.com/office/drawing/2014/main" id="{7AF0B458-5ED3-871C-B39B-E0753E1A1CBE}"/>
              </a:ext>
            </a:extLst>
          </p:cNvPr>
          <p:cNvSpPr>
            <a:spLocks noGrp="1"/>
          </p:cNvSpPr>
          <p:nvPr>
            <p:ph type="body" idx="13" hasCustomPrompt="1"/>
          </p:nvPr>
        </p:nvSpPr>
        <p:spPr>
          <a:xfrm>
            <a:off x="992027" y="5684689"/>
            <a:ext cx="6335845" cy="332399"/>
          </a:xfrm>
        </p:spPr>
        <p:txBody>
          <a:bodyPr wrap="square" lIns="0" tIns="0" rIns="0" bIns="0">
            <a:normAutofit/>
          </a:bodyPr>
          <a:lstStyle>
            <a:lvl1pPr marL="0" indent="0" algn="l">
              <a:buFontTx/>
              <a:buNone/>
              <a:defRPr sz="2000" b="0">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Month XX, Year</a:t>
            </a:r>
          </a:p>
        </p:txBody>
      </p:sp>
      <p:sp>
        <p:nvSpPr>
          <p:cNvPr id="7" name="Rectangle 6">
            <a:extLst>
              <a:ext uri="{FF2B5EF4-FFF2-40B4-BE49-F238E27FC236}">
                <a16:creationId xmlns:a16="http://schemas.microsoft.com/office/drawing/2014/main" id="{FE92AEF9-615A-69FA-B153-FE7135B98005}"/>
              </a:ext>
            </a:extLst>
          </p:cNvPr>
          <p:cNvSpPr>
            <a:spLocks noGrp="1"/>
          </p:cNvSpPr>
          <p:nvPr/>
        </p:nvSpPr>
        <p:spPr>
          <a:xfrm>
            <a:off x="0" y="277793"/>
            <a:ext cx="277792" cy="630241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3799936" y="3058064"/>
            <a:ext cx="277792" cy="73220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77D05A95-7371-9BEF-7844-FD763B53400E}"/>
              </a:ext>
            </a:extLst>
          </p:cNvPr>
          <p:cNvSpPr>
            <a:spLocks noGrp="1"/>
          </p:cNvSpPr>
          <p:nvPr/>
        </p:nvSpPr>
        <p:spPr>
          <a:xfrm>
            <a:off x="0" y="0"/>
            <a:ext cx="277794" cy="27779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Text Placeholder 13">
            <a:extLst>
              <a:ext uri="{FF2B5EF4-FFF2-40B4-BE49-F238E27FC236}">
                <a16:creationId xmlns:a16="http://schemas.microsoft.com/office/drawing/2014/main" id="{36F762C7-71A0-C668-493A-6DB2F9A3BA03}"/>
              </a:ext>
            </a:extLst>
          </p:cNvPr>
          <p:cNvSpPr>
            <a:spLocks noGrp="1"/>
          </p:cNvSpPr>
          <p:nvPr>
            <p:ph type="body" idx="14" hasCustomPrompt="1"/>
          </p:nvPr>
        </p:nvSpPr>
        <p:spPr>
          <a:xfrm>
            <a:off x="992027" y="1961190"/>
            <a:ext cx="6335545" cy="249299"/>
          </a:xfrm>
        </p:spPr>
        <p:txBody>
          <a:bodyPr wrap="square" lIns="0" tIns="0" rIns="0" bIns="0">
            <a:noAutofit/>
          </a:bodyPr>
          <a:lstStyle>
            <a:lvl1pPr marL="0" indent="0" algn="l">
              <a:buFontTx/>
              <a:buNone/>
              <a:defRPr sz="1600" b="0">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6" name="Picture 1"/>
          <p:cNvPicPr>
            <a:picLocks noChangeAspect="1"/>
          </p:cNvPicPr>
          <p:nvPr/>
        </p:nvPicPr>
        <p:blipFill>
          <a:blip r:embed="rId2"/>
          <a:srcRect/>
          <a:stretch/>
        </p:blipFill>
        <p:spPr>
          <a:xfrm>
            <a:off x="942777" y="499410"/>
            <a:ext cx="2407712" cy="748648"/>
          </a:xfrm>
          <a:prstGeom prst="rect">
            <a:avLst/>
          </a:prstGeom>
        </p:spPr>
      </p:pic>
      <p:sp>
        <p:nvSpPr>
          <p:cNvPr id="26" name="Picture Placeholder 25">
            <a:extLst>
              <a:ext uri="{FF2B5EF4-FFF2-40B4-BE49-F238E27FC236}">
                <a16:creationId xmlns:a16="http://schemas.microsoft.com/office/drawing/2014/main" id="{F0410E6F-D471-B671-6E0C-74DBDEB712B7}"/>
              </a:ext>
            </a:extLst>
          </p:cNvPr>
          <p:cNvSpPr>
            <a:spLocks noGrp="1"/>
          </p:cNvSpPr>
          <p:nvPr>
            <p:ph type="pic" idx="15" hasCustomPrompt="1"/>
          </p:nvPr>
        </p:nvSpPr>
        <p:spPr>
          <a:xfrm>
            <a:off x="7599871" y="0"/>
            <a:ext cx="4588917" cy="6858000"/>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pic>
        <p:nvPicPr>
          <p:cNvPr id="38" name="Picture 2"/>
          <p:cNvPicPr>
            <a:picLocks noChangeAspect="1"/>
          </p:cNvPicPr>
          <p:nvPr/>
        </p:nvPicPr>
        <p:blipFill>
          <a:blip r:embed="rId3"/>
          <a:stretch>
            <a:fillRect/>
          </a:stretch>
        </p:blipFill>
        <p:spPr>
          <a:xfrm>
            <a:off x="277792" y="0"/>
            <a:ext cx="277793" cy="277793"/>
          </a:xfrm>
          <a:prstGeom prst="rect">
            <a:avLst/>
          </a:prstGeom>
        </p:spPr>
      </p:pic>
      <p:sp>
        <p:nvSpPr>
          <p:cNvPr id="4" name="Straight Connector 3">
            <a:extLst>
              <a:ext uri="{FF2B5EF4-FFF2-40B4-BE49-F238E27FC236}">
                <a16:creationId xmlns:a16="http://schemas.microsoft.com/office/drawing/2014/main" id="{9E1DDC2C-34B4-49B9-B296-BC1BB26DA065}"/>
              </a:ext>
            </a:extLst>
          </p:cNvPr>
          <p:cNvSpPr>
            <a:spLocks noGrp="1"/>
          </p:cNvSpPr>
          <p:nvPr/>
        </p:nvSpPr>
        <p:spPr>
          <a:xfrm>
            <a:off x="980876" y="4381940"/>
            <a:ext cx="2546095"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Blue With Photo">
    <p:bg>
      <p:bgPr>
        <a:solidFill>
          <a:srgbClr val="003594"/>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C5BACCB-11A0-E67D-A5BE-F5FD36B3E10C}"/>
              </a:ext>
            </a:extLst>
          </p:cNvPr>
          <p:cNvSpPr>
            <a:spLocks noGrp="1"/>
          </p:cNvSpPr>
          <p:nvPr>
            <p:ph type="body" idx="10" hasCustomPrompt="1"/>
          </p:nvPr>
        </p:nvSpPr>
        <p:spPr>
          <a:xfrm>
            <a:off x="992355" y="2480849"/>
            <a:ext cx="6335545" cy="1666936"/>
          </a:xfrm>
        </p:spPr>
        <p:txBody>
          <a:bodyPr lIns="0" rIns="0">
            <a:normAutofit/>
          </a:bodyPr>
          <a:lstStyle>
            <a:lvl1pPr marL="0" indent="0" algn="l">
              <a:lnSpc>
                <a:spcPts val="5100"/>
              </a:lnSpc>
              <a:buFontTx/>
              <a:buNone/>
              <a:defRPr sz="55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Blue Title Slide </a:t>
            </a:r>
            <a:br/>
            <a:r>
              <a:t>With Photo</a:t>
            </a:r>
          </a:p>
        </p:txBody>
      </p:sp>
      <p:sp>
        <p:nvSpPr>
          <p:cNvPr id="14" name="Text Placeholder 1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7" y="5167650"/>
            <a:ext cx="6335845" cy="332399"/>
          </a:xfrm>
        </p:spPr>
        <p:txBody>
          <a:bodyPr wrap="square" lIns="0" tIns="0" rIns="0" bIns="0">
            <a:normAutofit/>
          </a:bodyPr>
          <a:lstStyle>
            <a:lvl1pPr marL="0" indent="0" algn="l">
              <a:buFontTx/>
              <a:buNone/>
              <a:defRPr sz="2000" b="1">
                <a:solidFill>
                  <a:srgbClr val="FFC00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Presentation Subtitle or Presenter Name</a:t>
            </a:r>
          </a:p>
        </p:txBody>
      </p:sp>
      <p:sp>
        <p:nvSpPr>
          <p:cNvPr id="6" name="Text Placeholder 13">
            <a:extLst>
              <a:ext uri="{FF2B5EF4-FFF2-40B4-BE49-F238E27FC236}">
                <a16:creationId xmlns:a16="http://schemas.microsoft.com/office/drawing/2014/main" id="{7AF0B458-5ED3-871C-B39B-E0753E1A1CBE}"/>
              </a:ext>
            </a:extLst>
          </p:cNvPr>
          <p:cNvSpPr>
            <a:spLocks noGrp="1"/>
          </p:cNvSpPr>
          <p:nvPr>
            <p:ph type="body" idx="13" hasCustomPrompt="1"/>
          </p:nvPr>
        </p:nvSpPr>
        <p:spPr>
          <a:xfrm>
            <a:off x="992027" y="5676936"/>
            <a:ext cx="6335845" cy="332399"/>
          </a:xfrm>
        </p:spPr>
        <p:txBody>
          <a:bodyPr wrap="square" lIns="0" tIns="0" rIns="0" bIns="0">
            <a:normAutofit/>
          </a:bodyPr>
          <a:lstStyle>
            <a:lvl1pPr marL="0" indent="0" algn="l">
              <a:buFontTx/>
              <a:buNone/>
              <a:defRPr sz="20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Month XX, Year</a:t>
            </a:r>
          </a:p>
        </p:txBody>
      </p:sp>
      <p:sp>
        <p:nvSpPr>
          <p:cNvPr id="7" name="Rectangle 6">
            <a:extLst>
              <a:ext uri="{FF2B5EF4-FFF2-40B4-BE49-F238E27FC236}">
                <a16:creationId xmlns:a16="http://schemas.microsoft.com/office/drawing/2014/main" id="{FE92AEF9-615A-69FA-B153-FE7135B98005}"/>
              </a:ext>
            </a:extLst>
          </p:cNvPr>
          <p:cNvSpPr>
            <a:spLocks noGrp="1"/>
          </p:cNvSpPr>
          <p:nvPr/>
        </p:nvSpPr>
        <p:spPr>
          <a:xfrm>
            <a:off x="0" y="279400"/>
            <a:ext cx="277792" cy="63008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3800739" y="3057261"/>
            <a:ext cx="277792" cy="73236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77D05A95-7371-9BEF-7844-FD763B53400E}"/>
              </a:ext>
            </a:extLst>
          </p:cNvPr>
          <p:cNvSpPr>
            <a:spLocks noGrp="1"/>
          </p:cNvSpPr>
          <p:nvPr/>
        </p:nvSpPr>
        <p:spPr>
          <a:xfrm>
            <a:off x="0" y="1"/>
            <a:ext cx="277794" cy="2793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Text Placeholder 13">
            <a:extLst>
              <a:ext uri="{FF2B5EF4-FFF2-40B4-BE49-F238E27FC236}">
                <a16:creationId xmlns:a16="http://schemas.microsoft.com/office/drawing/2014/main" id="{36F762C7-71A0-C668-493A-6DB2F9A3BA03}"/>
              </a:ext>
            </a:extLst>
          </p:cNvPr>
          <p:cNvSpPr>
            <a:spLocks noGrp="1"/>
          </p:cNvSpPr>
          <p:nvPr>
            <p:ph type="body" idx="14" hasCustomPrompt="1"/>
          </p:nvPr>
        </p:nvSpPr>
        <p:spPr>
          <a:xfrm>
            <a:off x="992027" y="1950669"/>
            <a:ext cx="6335545" cy="249299"/>
          </a:xfrm>
        </p:spPr>
        <p:txBody>
          <a:bodyPr wrap="square" lIns="0" tIns="0" rIns="0" bIns="0">
            <a:noAutofit/>
          </a:bodyPr>
          <a:lstStyle>
            <a:lvl1pPr marL="0" indent="0" algn="l">
              <a:buFontTx/>
              <a:buNone/>
              <a:defRPr sz="1600" b="0">
                <a:solidFill>
                  <a:srgbClr val="FFC00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6" name="Picture 1"/>
          <p:cNvPicPr>
            <a:picLocks noChangeAspect="1"/>
          </p:cNvPicPr>
          <p:nvPr/>
        </p:nvPicPr>
        <p:blipFill>
          <a:blip r:embed="rId2"/>
          <a:srcRect/>
          <a:stretch/>
        </p:blipFill>
        <p:spPr>
          <a:xfrm>
            <a:off x="942776" y="499410"/>
            <a:ext cx="2407715" cy="748648"/>
          </a:xfrm>
          <a:prstGeom prst="rect">
            <a:avLst/>
          </a:prstGeom>
        </p:spPr>
      </p:pic>
      <p:sp>
        <p:nvSpPr>
          <p:cNvPr id="26" name="Picture Placeholder 25">
            <a:extLst>
              <a:ext uri="{FF2B5EF4-FFF2-40B4-BE49-F238E27FC236}">
                <a16:creationId xmlns:a16="http://schemas.microsoft.com/office/drawing/2014/main" id="{F0410E6F-D471-B671-6E0C-74DBDEB712B7}"/>
              </a:ext>
            </a:extLst>
          </p:cNvPr>
          <p:cNvSpPr>
            <a:spLocks noGrp="1"/>
          </p:cNvSpPr>
          <p:nvPr>
            <p:ph type="pic" idx="15" hasCustomPrompt="1"/>
          </p:nvPr>
        </p:nvSpPr>
        <p:spPr>
          <a:xfrm>
            <a:off x="7601478" y="-1"/>
            <a:ext cx="4588917" cy="6857989"/>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pic>
        <p:nvPicPr>
          <p:cNvPr id="38" name="Picture 2"/>
          <p:cNvPicPr>
            <a:picLocks noChangeAspect="1"/>
          </p:cNvPicPr>
          <p:nvPr/>
        </p:nvPicPr>
        <p:blipFill>
          <a:blip r:embed="rId3"/>
          <a:srcRect/>
          <a:stretch/>
        </p:blipFill>
        <p:spPr>
          <a:xfrm>
            <a:off x="277792" y="1607"/>
            <a:ext cx="277793" cy="277793"/>
          </a:xfrm>
          <a:prstGeom prst="rect">
            <a:avLst/>
          </a:prstGeom>
        </p:spPr>
      </p:pic>
      <p:sp>
        <p:nvSpPr>
          <p:cNvPr id="4" name="Straight Connector 3">
            <a:extLst>
              <a:ext uri="{FF2B5EF4-FFF2-40B4-BE49-F238E27FC236}">
                <a16:creationId xmlns:a16="http://schemas.microsoft.com/office/drawing/2014/main" id="{7FC9F1B9-2090-4EC1-88D2-08CA2381320F}"/>
              </a:ext>
            </a:extLst>
          </p:cNvPr>
          <p:cNvSpPr>
            <a:spLocks noGrp="1"/>
          </p:cNvSpPr>
          <p:nvPr/>
        </p:nvSpPr>
        <p:spPr>
          <a:xfrm>
            <a:off x="980876" y="4381940"/>
            <a:ext cx="2546095"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Gold With Photo">
    <p:bg>
      <p:bgPr>
        <a:solidFill>
          <a:schemeClr val="accent2"/>
        </a:solidFill>
        <a:effectLst/>
      </p:bgPr>
    </p:bg>
    <p:spTree>
      <p:nvGrpSpPr>
        <p:cNvPr id="1" name=""/>
        <p:cNvGrpSpPr/>
        <p:nvPr/>
      </p:nvGrpSpPr>
      <p:grpSpPr>
        <a:xfrm>
          <a:off x="0" y="0"/>
          <a:ext cx="0" cy="0"/>
          <a:chOff x="0" y="0"/>
          <a:chExt cx="0" cy="0"/>
        </a:xfrm>
      </p:grpSpPr>
      <p:pic>
        <p:nvPicPr>
          <p:cNvPr id="30" name="Picture 2"/>
          <p:cNvPicPr>
            <a:picLocks noChangeAspect="1"/>
          </p:cNvPicPr>
          <p:nvPr/>
        </p:nvPicPr>
        <p:blipFill rotWithShape="1">
          <a:blip r:embed="rId2"/>
          <a:srcRect t="45522" r="38099" b="4187"/>
          <a:stretch/>
        </p:blipFill>
        <p:spPr>
          <a:xfrm>
            <a:off x="138896" y="4630707"/>
            <a:ext cx="7460975" cy="1947894"/>
          </a:xfrm>
          <a:prstGeom prst="rect">
            <a:avLst/>
          </a:prstGeom>
        </p:spPr>
      </p:pic>
      <p:sp>
        <p:nvSpPr>
          <p:cNvPr id="9" name="Text Placeholder 8">
            <a:extLst>
              <a:ext uri="{FF2B5EF4-FFF2-40B4-BE49-F238E27FC236}">
                <a16:creationId xmlns:a16="http://schemas.microsoft.com/office/drawing/2014/main" id="{FC5BACCB-11A0-E67D-A5BE-F5FD36B3E10C}"/>
              </a:ext>
            </a:extLst>
          </p:cNvPr>
          <p:cNvSpPr>
            <a:spLocks noGrp="1"/>
          </p:cNvSpPr>
          <p:nvPr>
            <p:ph type="body" idx="10" hasCustomPrompt="1"/>
          </p:nvPr>
        </p:nvSpPr>
        <p:spPr>
          <a:xfrm>
            <a:off x="992355" y="2493055"/>
            <a:ext cx="6335545" cy="1666936"/>
          </a:xfrm>
        </p:spPr>
        <p:txBody>
          <a:bodyPr lIns="0" rIns="0">
            <a:normAutofit/>
          </a:bodyPr>
          <a:lstStyle>
            <a:lvl1pPr marL="0" indent="0" algn="l">
              <a:lnSpc>
                <a:spcPts val="5100"/>
              </a:lnSpc>
              <a:buFontTx/>
              <a:buNone/>
              <a:defRPr sz="5500" b="1">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Gold Title Slide </a:t>
            </a:r>
            <a:br/>
            <a:r>
              <a:t>With Photo</a:t>
            </a:r>
          </a:p>
        </p:txBody>
      </p:sp>
      <p:sp>
        <p:nvSpPr>
          <p:cNvPr id="14" name="Text Placeholder 1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7" y="5175403"/>
            <a:ext cx="6335845" cy="332399"/>
          </a:xfrm>
        </p:spPr>
        <p:txBody>
          <a:bodyPr wrap="square" lIns="0" tIns="0" rIns="0" bIns="0">
            <a:normAutofit/>
          </a:bodyPr>
          <a:lstStyle>
            <a:lvl1pPr marL="0" indent="0" algn="l">
              <a:buFontTx/>
              <a:buNone/>
              <a:defRPr sz="2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Presentation Subtitle or Presenter Name</a:t>
            </a:r>
          </a:p>
        </p:txBody>
      </p:sp>
      <p:sp>
        <p:nvSpPr>
          <p:cNvPr id="6" name="Text Placeholder 13">
            <a:extLst>
              <a:ext uri="{FF2B5EF4-FFF2-40B4-BE49-F238E27FC236}">
                <a16:creationId xmlns:a16="http://schemas.microsoft.com/office/drawing/2014/main" id="{7AF0B458-5ED3-871C-B39B-E0753E1A1CBE}"/>
              </a:ext>
            </a:extLst>
          </p:cNvPr>
          <p:cNvSpPr>
            <a:spLocks noGrp="1"/>
          </p:cNvSpPr>
          <p:nvPr>
            <p:ph type="body" idx="13" hasCustomPrompt="1"/>
          </p:nvPr>
        </p:nvSpPr>
        <p:spPr>
          <a:xfrm>
            <a:off x="992027" y="5684689"/>
            <a:ext cx="6335845" cy="332399"/>
          </a:xfrm>
        </p:spPr>
        <p:txBody>
          <a:bodyPr wrap="square" lIns="0" tIns="0" rIns="0" bIns="0">
            <a:normAutofit/>
          </a:bodyPr>
          <a:lstStyle>
            <a:lvl1pPr marL="0" indent="0" algn="l">
              <a:buFontTx/>
              <a:buNone/>
              <a:defRPr sz="2000" b="0">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Month XX, Year</a:t>
            </a:r>
          </a:p>
        </p:txBody>
      </p:sp>
      <p:sp>
        <p:nvSpPr>
          <p:cNvPr id="7" name="Rectangle 6">
            <a:extLst>
              <a:ext uri="{FF2B5EF4-FFF2-40B4-BE49-F238E27FC236}">
                <a16:creationId xmlns:a16="http://schemas.microsoft.com/office/drawing/2014/main" id="{FE92AEF9-615A-69FA-B153-FE7135B98005}"/>
              </a:ext>
            </a:extLst>
          </p:cNvPr>
          <p:cNvSpPr>
            <a:spLocks noGrp="1"/>
          </p:cNvSpPr>
          <p:nvPr/>
        </p:nvSpPr>
        <p:spPr>
          <a:xfrm>
            <a:off x="0" y="188954"/>
            <a:ext cx="277792" cy="63912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3799936" y="3058064"/>
            <a:ext cx="277792" cy="73220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77D05A95-7371-9BEF-7844-FD763B53400E}"/>
              </a:ext>
            </a:extLst>
          </p:cNvPr>
          <p:cNvSpPr>
            <a:spLocks noGrp="1"/>
          </p:cNvSpPr>
          <p:nvPr/>
        </p:nvSpPr>
        <p:spPr>
          <a:xfrm>
            <a:off x="0" y="0"/>
            <a:ext cx="277794" cy="2777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Text Placeholder 13">
            <a:extLst>
              <a:ext uri="{FF2B5EF4-FFF2-40B4-BE49-F238E27FC236}">
                <a16:creationId xmlns:a16="http://schemas.microsoft.com/office/drawing/2014/main" id="{36F762C7-71A0-C668-493A-6DB2F9A3BA03}"/>
              </a:ext>
            </a:extLst>
          </p:cNvPr>
          <p:cNvSpPr>
            <a:spLocks noGrp="1"/>
          </p:cNvSpPr>
          <p:nvPr>
            <p:ph type="body" idx="14" hasCustomPrompt="1"/>
          </p:nvPr>
        </p:nvSpPr>
        <p:spPr>
          <a:xfrm>
            <a:off x="992027" y="1961190"/>
            <a:ext cx="6335545" cy="249299"/>
          </a:xfrm>
        </p:spPr>
        <p:txBody>
          <a:bodyPr wrap="square" lIns="0" tIns="0" rIns="0" bIns="0">
            <a:noAutofit/>
          </a:bodyPr>
          <a:lstStyle>
            <a:lvl1pPr marL="0" indent="0" algn="l">
              <a:buFontTx/>
              <a:buNone/>
              <a:defRPr sz="1600" b="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8" name="Picture 1"/>
          <p:cNvPicPr>
            <a:picLocks noChangeAspect="1"/>
          </p:cNvPicPr>
          <p:nvPr/>
        </p:nvPicPr>
        <p:blipFill>
          <a:blip r:embed="rId3"/>
          <a:srcRect/>
          <a:stretch/>
        </p:blipFill>
        <p:spPr>
          <a:xfrm>
            <a:off x="942777" y="499410"/>
            <a:ext cx="2407712" cy="748648"/>
          </a:xfrm>
          <a:prstGeom prst="rect">
            <a:avLst/>
          </a:prstGeom>
        </p:spPr>
      </p:pic>
      <p:sp>
        <p:nvSpPr>
          <p:cNvPr id="26" name="Picture Placeholder 25">
            <a:extLst>
              <a:ext uri="{FF2B5EF4-FFF2-40B4-BE49-F238E27FC236}">
                <a16:creationId xmlns:a16="http://schemas.microsoft.com/office/drawing/2014/main" id="{F0410E6F-D471-B671-6E0C-74DBDEB712B7}"/>
              </a:ext>
            </a:extLst>
          </p:cNvPr>
          <p:cNvSpPr>
            <a:spLocks noGrp="1"/>
          </p:cNvSpPr>
          <p:nvPr>
            <p:ph type="pic" idx="15" hasCustomPrompt="1"/>
          </p:nvPr>
        </p:nvSpPr>
        <p:spPr>
          <a:xfrm>
            <a:off x="7599871" y="0"/>
            <a:ext cx="4588917" cy="6858000"/>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pic>
        <p:nvPicPr>
          <p:cNvPr id="40" name="Picture 3"/>
          <p:cNvPicPr>
            <a:picLocks noChangeAspect="1"/>
          </p:cNvPicPr>
          <p:nvPr/>
        </p:nvPicPr>
        <p:blipFill>
          <a:blip r:embed="rId4"/>
          <a:srcRect/>
          <a:stretch/>
        </p:blipFill>
        <p:spPr>
          <a:xfrm>
            <a:off x="277792" y="1607"/>
            <a:ext cx="277793" cy="27779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Blu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E92AEF9-615A-69FA-B153-FE7135B98005}"/>
              </a:ext>
            </a:extLst>
          </p:cNvPr>
          <p:cNvSpPr>
            <a:spLocks noGrp="1"/>
          </p:cNvSpPr>
          <p:nvPr/>
        </p:nvSpPr>
        <p:spPr>
          <a:xfrm>
            <a:off x="0" y="279400"/>
            <a:ext cx="277792" cy="63007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6095197" y="762803"/>
            <a:ext cx="277792" cy="119126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77D05A95-7371-9BEF-7844-FD763B53400E}"/>
              </a:ext>
            </a:extLst>
          </p:cNvPr>
          <p:cNvSpPr>
            <a:spLocks noGrp="1"/>
          </p:cNvSpPr>
          <p:nvPr/>
        </p:nvSpPr>
        <p:spPr>
          <a:xfrm>
            <a:off x="0" y="0"/>
            <a:ext cx="277794" cy="2793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07B08A63-5C28-2736-64DB-BF56E813DDAC}"/>
              </a:ext>
            </a:extLst>
          </p:cNvPr>
          <p:cNvSpPr>
            <a:spLocks noGrp="1"/>
          </p:cNvSpPr>
          <p:nvPr/>
        </p:nvSpPr>
        <p:spPr>
          <a:xfrm>
            <a:off x="11912600" y="6580206"/>
            <a:ext cx="277794" cy="277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ext Placeholder 8">
            <a:extLst>
              <a:ext uri="{FF2B5EF4-FFF2-40B4-BE49-F238E27FC236}">
                <a16:creationId xmlns:a16="http://schemas.microsoft.com/office/drawing/2014/main" id="{7A3104D1-E46B-870F-7B19-860853CFA53B}"/>
              </a:ext>
            </a:extLst>
          </p:cNvPr>
          <p:cNvSpPr>
            <a:spLocks noGrp="1"/>
          </p:cNvSpPr>
          <p:nvPr>
            <p:ph type="body" idx="10" hasCustomPrompt="1"/>
          </p:nvPr>
        </p:nvSpPr>
        <p:spPr>
          <a:xfrm>
            <a:off x="855740" y="1309853"/>
            <a:ext cx="10060615" cy="1306365"/>
          </a:xfrm>
          <a:prstGeom prst="rect">
            <a:avLst/>
          </a:prstGeom>
          <a:noFill/>
        </p:spPr>
        <p:txBody>
          <a:bodyPr lIns="0" tIns="0" rIns="0" bIns="0" anchor="b">
            <a:normAutofit/>
          </a:bodyPr>
          <a:lstStyle>
            <a:lvl1pPr marL="0" indent="0" algn="l">
              <a:lnSpc>
                <a:spcPts val="5600"/>
              </a:lnSpc>
              <a:buFontTx/>
              <a:buNone/>
              <a:defRPr sz="6600" b="1">
                <a:solidFill>
                  <a:schemeClr val="accent2"/>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Section Header</a:t>
            </a:r>
          </a:p>
        </p:txBody>
      </p:sp>
      <p:sp>
        <p:nvSpPr>
          <p:cNvPr id="3" name="Text Placeholder 3">
            <a:extLst>
              <a:ext uri="{FF2B5EF4-FFF2-40B4-BE49-F238E27FC236}">
                <a16:creationId xmlns:a16="http://schemas.microsoft.com/office/drawing/2014/main" id="{39A7D4DA-3313-441C-DF5B-10DFEE6D3A2F}"/>
              </a:ext>
            </a:extLst>
          </p:cNvPr>
          <p:cNvSpPr>
            <a:spLocks noGrp="1"/>
          </p:cNvSpPr>
          <p:nvPr>
            <p:ph type="body" idx="11" hasCustomPrompt="1"/>
          </p:nvPr>
        </p:nvSpPr>
        <p:spPr>
          <a:xfrm>
            <a:off x="855739" y="3125026"/>
            <a:ext cx="6786839" cy="2982264"/>
          </a:xfrm>
        </p:spPr>
        <p:txBody>
          <a:bodyPr lIns="0" rIns="0">
            <a:normAutofit/>
          </a:bodyPr>
          <a:lstStyle>
            <a:lvl1pPr marL="0" indent="0">
              <a:buNone/>
              <a:defRPr sz="2400">
                <a:solidFill>
                  <a:schemeClr val="bg1"/>
                </a:solidFill>
              </a:defRPr>
            </a:lvl1pPr>
            <a:lvl2pPr marL="457200" indent="0">
              <a:buNone/>
              <a:defRPr>
                <a:solidFill>
                  <a:schemeClr val="bg1"/>
                </a:solidFill>
              </a:defRPr>
            </a:lvl2pPr>
            <a:lvl3pPr marL="914400" indent="0">
              <a:buNone/>
              <a:defRPr>
                <a:solidFill>
                  <a:schemeClr val="bg1"/>
                </a:solidFill>
              </a:defRPr>
            </a:lvl3pPr>
          </a:lstStyle>
          <a:p>
            <a:pPr lvl="0">
              <a:buNone/>
            </a:pPr>
            <a:r>
              <a:t>Text goes here …</a:t>
            </a:r>
          </a:p>
        </p:txBody>
      </p:sp>
      <p:pic>
        <p:nvPicPr>
          <p:cNvPr id="22" name="Picture 5"/>
          <p:cNvPicPr>
            <a:picLocks noChangeAspect="1"/>
          </p:cNvPicPr>
          <p:nvPr/>
        </p:nvPicPr>
        <p:blipFill>
          <a:blip r:embed="rId3"/>
          <a:srcRect/>
          <a:stretch/>
        </p:blipFill>
        <p:spPr>
          <a:xfrm>
            <a:off x="277792" y="1607"/>
            <a:ext cx="277793" cy="277793"/>
          </a:xfrm>
          <a:prstGeom prst="rect">
            <a:avLst/>
          </a:prstGeom>
        </p:spPr>
      </p:pic>
      <p:pic>
        <p:nvPicPr>
          <p:cNvPr id="23" name="Picture 8"/>
          <p:cNvPicPr>
            <a:picLocks noChangeAspect="1"/>
          </p:cNvPicPr>
          <p:nvPr/>
        </p:nvPicPr>
        <p:blipFill>
          <a:blip r:embed="rId4"/>
          <a:srcRect/>
          <a:stretch/>
        </p:blipFill>
        <p:spPr>
          <a:xfrm>
            <a:off x="9312421" y="5595101"/>
            <a:ext cx="2407715" cy="748648"/>
          </a:xfrm>
          <a:prstGeom prst="rect">
            <a:avLst/>
          </a:prstGeom>
        </p:spPr>
      </p:pic>
      <p:pic>
        <p:nvPicPr>
          <p:cNvPr id="24" name="Picture 12"/>
          <p:cNvPicPr>
            <a:picLocks noChangeAspect="1"/>
          </p:cNvPicPr>
          <p:nvPr/>
        </p:nvPicPr>
        <p:blipFill>
          <a:blip r:embed="rId5"/>
          <a:srcRect/>
          <a:stretch/>
        </p:blipFill>
        <p:spPr>
          <a:xfrm>
            <a:off x="11795313" y="6183519"/>
            <a:ext cx="396687" cy="396687"/>
          </a:xfrm>
          <a:prstGeom prst="rect">
            <a:avLst/>
          </a:prstGeom>
        </p:spPr>
      </p:pic>
      <p:sp>
        <p:nvSpPr>
          <p:cNvPr id="4" name="Straight Connector 3">
            <a:extLst>
              <a:ext uri="{FF2B5EF4-FFF2-40B4-BE49-F238E27FC236}">
                <a16:creationId xmlns:a16="http://schemas.microsoft.com/office/drawing/2014/main" id="{9A911967-1D56-475C-95F0-583EC8946D80}"/>
              </a:ext>
            </a:extLst>
          </p:cNvPr>
          <p:cNvSpPr>
            <a:spLocks noGrp="1"/>
          </p:cNvSpPr>
          <p:nvPr/>
        </p:nvSpPr>
        <p:spPr>
          <a:xfrm>
            <a:off x="855741" y="2870621"/>
            <a:ext cx="2546095"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Slide Gold With Photo">
    <p:bg>
      <p:bgPr>
        <a:solidFill>
          <a:schemeClr val="bg1"/>
        </a:solid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0410E6F-D471-B671-6E0C-74DBDEB712B7}"/>
              </a:ext>
            </a:extLst>
          </p:cNvPr>
          <p:cNvSpPr>
            <a:spLocks noGrp="1"/>
          </p:cNvSpPr>
          <p:nvPr>
            <p:ph type="pic" idx="15" hasCustomPrompt="1"/>
          </p:nvPr>
        </p:nvSpPr>
        <p:spPr>
          <a:xfrm>
            <a:off x="0" y="0"/>
            <a:ext cx="12191999" cy="6858000"/>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4" name="Slide Number Placeholder 4">
            <a:extLst>
              <a:ext uri="{FF2B5EF4-FFF2-40B4-BE49-F238E27FC236}">
                <a16:creationId xmlns:a16="http://schemas.microsoft.com/office/drawing/2014/main" id="{2E3A784E-6A31-CB09-800E-D3D8675BCAB6}"/>
              </a:ext>
            </a:extLst>
          </p:cNvPr>
          <p:cNvSpPr>
            <a:spLocks noGrp="1"/>
          </p:cNvSpPr>
          <p:nvPr>
            <p:ph type="sldNum" idx="4"/>
          </p:nvPr>
        </p:nvSpPr>
        <p:spPr>
          <a:xfrm>
            <a:off x="10999197" y="6492875"/>
            <a:ext cx="1192803" cy="365125"/>
          </a:xfrm>
          <a:prstGeom prst="rect">
            <a:avLst/>
          </a:prstGeom>
          <a:solidFill>
            <a:schemeClr val="accent1"/>
          </a:solidFill>
        </p:spPr>
        <p:txBody>
          <a:bodyPr lIns="182880"/>
          <a:lstStyle>
            <a:lvl1pPr algn="l">
              <a:buNone/>
              <a:defRPr/>
            </a:lvl1p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sp>
        <p:nvSpPr>
          <p:cNvPr id="3" name="Text Placeholder 2">
            <a:extLst>
              <a:ext uri="{FF2B5EF4-FFF2-40B4-BE49-F238E27FC236}">
                <a16:creationId xmlns:a16="http://schemas.microsoft.com/office/drawing/2014/main" id="{18970903-AA63-73B1-F1D3-87FACFE64CAD}"/>
              </a:ext>
            </a:extLst>
          </p:cNvPr>
          <p:cNvSpPr>
            <a:spLocks noGrp="1"/>
          </p:cNvSpPr>
          <p:nvPr>
            <p:ph type="body" idx="16" hasCustomPrompt="1"/>
          </p:nvPr>
        </p:nvSpPr>
        <p:spPr>
          <a:xfrm>
            <a:off x="717550" y="1795463"/>
            <a:ext cx="3921125" cy="798512"/>
          </a:xfrm>
          <a:prstGeom prst="rect">
            <a:avLst/>
          </a:prstGeom>
          <a:solidFill>
            <a:schemeClr val="accent2"/>
          </a:solidFill>
        </p:spPr>
        <p:txBody>
          <a:bodyPr lIns="274320" anchor="ctr">
            <a:normAutofit/>
          </a:bodyPr>
          <a:lstStyle>
            <a:lvl1pPr marL="0" indent="0">
              <a:buNone/>
              <a:defRPr sz="3600" b="1">
                <a:solidFill>
                  <a:srgbClr val="003594"/>
                </a:solidFill>
              </a:defRPr>
            </a:lvl1pPr>
          </a:lstStyle>
          <a:p>
            <a:pPr lvl="0">
              <a:buNone/>
            </a:pPr>
            <a:r>
              <a:t>Slide Header</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ullet Single Column">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476789"/>
            <a:ext cx="10757719" cy="71472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Title and Bullet Single Column</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1" name="Picture 20"/>
          <p:cNvPicPr>
            <a:picLocks noChangeAspect="1"/>
          </p:cNvPicPr>
          <p:nvPr/>
        </p:nvPicPr>
        <p:blipFill>
          <a:blip r:embed="rId2"/>
          <a:srcRect/>
          <a:stretch/>
        </p:blipFill>
        <p:spPr>
          <a:xfrm>
            <a:off x="8937523" y="6461313"/>
            <a:ext cx="396687" cy="396687"/>
          </a:xfrm>
          <a:prstGeom prst="rect">
            <a:avLst/>
          </a:prstGeom>
        </p:spPr>
      </p:pic>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3" name="Picture 23"/>
          <p:cNvPicPr>
            <a:picLocks noChangeAspect="1"/>
          </p:cNvPicPr>
          <p:nvPr/>
        </p:nvPicPr>
        <p:blipFill>
          <a:blip r:embed="rId3"/>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8" y="1668250"/>
            <a:ext cx="10758375"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4" name="Slide Number Placeholder 4">
            <a:extLst>
              <a:ext uri="{FF2B5EF4-FFF2-40B4-BE49-F238E27FC236}">
                <a16:creationId xmlns:a16="http://schemas.microsoft.com/office/drawing/2014/main" id="{7BF476AF-4398-4052-63A0-1B31558434F5}"/>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36" name="Picture 1"/>
          <p:cNvPicPr>
            <a:picLocks noChangeAspect="1"/>
          </p:cNvPicPr>
          <p:nvPr/>
        </p:nvPicPr>
        <p:blipFill>
          <a:blip r:embed="rId4"/>
          <a:stretch>
            <a:fillRect/>
          </a:stretch>
        </p:blipFill>
        <p:spPr>
          <a:xfrm>
            <a:off x="277792" y="0"/>
            <a:ext cx="277793" cy="277793"/>
          </a:xfrm>
          <a:prstGeom prst="rect">
            <a:avLst/>
          </a:prstGeom>
        </p:spPr>
      </p:pic>
      <p:sp>
        <p:nvSpPr>
          <p:cNvPr id="3" name="Rectangle 2">
            <a:extLst>
              <a:ext uri="{FF2B5EF4-FFF2-40B4-BE49-F238E27FC236}">
                <a16:creationId xmlns:a16="http://schemas.microsoft.com/office/drawing/2014/main" id="{D8F8999F-FC95-EF35-5D2F-AD1F29B319D7}"/>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5" name="Rectangle 4">
            <a:extLst>
              <a:ext uri="{FF2B5EF4-FFF2-40B4-BE49-F238E27FC236}">
                <a16:creationId xmlns:a16="http://schemas.microsoft.com/office/drawing/2014/main" id="{A4347CFB-3AF5-71EE-EA0E-FDB3F158A00F}"/>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Straight Connector 5">
            <a:extLst>
              <a:ext uri="{FF2B5EF4-FFF2-40B4-BE49-F238E27FC236}">
                <a16:creationId xmlns:a16="http://schemas.microsoft.com/office/drawing/2014/main" id="{8873CF31-E57E-4130-8537-4D07093A0C23}"/>
              </a:ext>
            </a:extLst>
          </p:cNvPr>
          <p:cNvSpPr>
            <a:spLocks noGrp="1"/>
          </p:cNvSpPr>
          <p:nvPr/>
        </p:nvSpPr>
        <p:spPr>
          <a:xfrm>
            <a:off x="980876" y="1198726"/>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ong Title and Bullet Single Column">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1"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8" y="2064779"/>
            <a:ext cx="10758375" cy="3823690"/>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2" name="Text Placeholder 8">
            <a:extLst>
              <a:ext uri="{FF2B5EF4-FFF2-40B4-BE49-F238E27FC236}">
                <a16:creationId xmlns:a16="http://schemas.microsoft.com/office/drawing/2014/main" id="{83383223-7F09-6DDE-2C8B-58D6AB182643}"/>
              </a:ext>
            </a:extLst>
          </p:cNvPr>
          <p:cNvSpPr>
            <a:spLocks noGrp="1"/>
          </p:cNvSpPr>
          <p:nvPr>
            <p:ph type="body" idx="16" hasCustomPrompt="1"/>
          </p:nvPr>
        </p:nvSpPr>
        <p:spPr>
          <a:xfrm>
            <a:off x="992355" y="476789"/>
            <a:ext cx="10757717" cy="126270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Long Title on Two Lines and </a:t>
            </a:r>
            <a:br/>
            <a:r>
              <a:t>Bullet Single Column</a:t>
            </a:r>
          </a:p>
        </p:txBody>
      </p:sp>
      <p:pic>
        <p:nvPicPr>
          <p:cNvPr id="34" name="Picture 3"/>
          <p:cNvPicPr>
            <a:picLocks noChangeAspect="1"/>
          </p:cNvPicPr>
          <p:nvPr/>
        </p:nvPicPr>
        <p:blipFill>
          <a:blip r:embed="rId3"/>
          <a:stretch>
            <a:fillRect/>
          </a:stretch>
        </p:blipFill>
        <p:spPr>
          <a:xfrm>
            <a:off x="277792" y="0"/>
            <a:ext cx="277793" cy="277793"/>
          </a:xfrm>
          <a:prstGeom prst="rect">
            <a:avLst/>
          </a:prstGeom>
        </p:spPr>
      </p:pic>
      <p:pic>
        <p:nvPicPr>
          <p:cNvPr id="35" name="Picture 5"/>
          <p:cNvPicPr>
            <a:picLocks noChangeAspect="1"/>
          </p:cNvPicPr>
          <p:nvPr/>
        </p:nvPicPr>
        <p:blipFill>
          <a:blip r:embed="rId4"/>
          <a:srcRect/>
          <a:stretch/>
        </p:blipFill>
        <p:spPr>
          <a:xfrm>
            <a:off x="8937523" y="6461313"/>
            <a:ext cx="396687" cy="396687"/>
          </a:xfrm>
          <a:prstGeom prst="rect">
            <a:avLst/>
          </a:prstGeom>
        </p:spPr>
      </p:pic>
      <p:sp>
        <p:nvSpPr>
          <p:cNvPr id="13" name="Rectangle 12">
            <a:extLst>
              <a:ext uri="{FF2B5EF4-FFF2-40B4-BE49-F238E27FC236}">
                <a16:creationId xmlns:a16="http://schemas.microsoft.com/office/drawing/2014/main" id="{5F07E24A-4E49-5599-84DB-30C2A8933834}"/>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4" name="Rectangle 13">
            <a:extLst>
              <a:ext uri="{FF2B5EF4-FFF2-40B4-BE49-F238E27FC236}">
                <a16:creationId xmlns:a16="http://schemas.microsoft.com/office/drawing/2014/main" id="{B1BF1D60-2D80-FEA5-0FE3-35D6EDB5B15A}"/>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Slide Number Placeholder 4">
            <a:extLst>
              <a:ext uri="{FF2B5EF4-FFF2-40B4-BE49-F238E27FC236}">
                <a16:creationId xmlns:a16="http://schemas.microsoft.com/office/drawing/2014/main" id="{B0279DBE-F32D-C2F8-3A85-1C103D259CB0}"/>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sp>
        <p:nvSpPr>
          <p:cNvPr id="3" name="Straight Connector 2">
            <a:extLst>
              <a:ext uri="{FF2B5EF4-FFF2-40B4-BE49-F238E27FC236}">
                <a16:creationId xmlns:a16="http://schemas.microsoft.com/office/drawing/2014/main" id="{0F8CA0CB-0029-479A-8D0F-67D763B1DD4D}"/>
              </a:ext>
            </a:extLst>
          </p:cNvPr>
          <p:cNvSpPr>
            <a:spLocks noGrp="1"/>
          </p:cNvSpPr>
          <p:nvPr/>
        </p:nvSpPr>
        <p:spPr>
          <a:xfrm>
            <a:off x="980876" y="1739495"/>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Bullet Double Column">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476789"/>
            <a:ext cx="10757719" cy="71472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Title and Bullet Double Column</a:t>
            </a:r>
          </a:p>
        </p:txBody>
      </p:sp>
      <p:pic>
        <p:nvPicPr>
          <p:cNvPr id="27" name="Picture 14"/>
          <p:cNvPicPr>
            <a:picLocks noChangeAspect="1"/>
          </p:cNvPicPr>
          <p:nvPr/>
        </p:nvPicPr>
        <p:blipFill>
          <a:blip r:embed="rId2"/>
          <a:srcRect/>
          <a:stretch/>
        </p:blipFill>
        <p:spPr>
          <a:xfrm>
            <a:off x="9615592" y="6042015"/>
            <a:ext cx="2298616" cy="714726"/>
          </a:xfrm>
          <a:prstGeom prst="rect">
            <a:avLst/>
          </a:prstGeom>
        </p:spPr>
      </p:pic>
      <p:sp>
        <p:nvSpPr>
          <p:cNvPr id="9" name="Straight Connector 8">
            <a:extLst>
              <a:ext uri="{FF2B5EF4-FFF2-40B4-BE49-F238E27FC236}">
                <a16:creationId xmlns:a16="http://schemas.microsoft.com/office/drawing/2014/main" id="{AAD8A5A9-289F-4423-AB66-E503AC3EAC6D}"/>
              </a:ext>
            </a:extLst>
          </p:cNvPr>
          <p:cNvSpPr>
            <a:spLocks noGrp="1"/>
          </p:cNvSpPr>
          <p:nvPr/>
        </p:nvSpPr>
        <p:spPr>
          <a:xfrm flipV="1">
            <a:off x="6380190" y="1684512"/>
            <a:ext cx="0" cy="37910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2" name="Rectangle 1">
            <a:extLst>
              <a:ext uri="{FF2B5EF4-FFF2-40B4-BE49-F238E27FC236}">
                <a16:creationId xmlns:a16="http://schemas.microsoft.com/office/drawing/2014/main" id="{66439A8D-FB4A-4E5C-E063-CB604402D698}"/>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Text Placeholder 13">
            <a:extLst>
              <a:ext uri="{FF2B5EF4-FFF2-40B4-BE49-F238E27FC236}">
                <a16:creationId xmlns:a16="http://schemas.microsoft.com/office/drawing/2014/main" id="{6B90C570-9A5A-BB37-3FAC-29DEB411CC5A}"/>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sp>
        <p:nvSpPr>
          <p:cNvPr id="13" name="Text Placeholder 3">
            <a:extLst>
              <a:ext uri="{FF2B5EF4-FFF2-40B4-BE49-F238E27FC236}">
                <a16:creationId xmlns:a16="http://schemas.microsoft.com/office/drawing/2014/main" id="{42C21A3F-5401-B65E-26AA-ED64C5DDF2C3}"/>
              </a:ext>
            </a:extLst>
          </p:cNvPr>
          <p:cNvSpPr>
            <a:spLocks noGrp="1"/>
          </p:cNvSpPr>
          <p:nvPr>
            <p:ph type="body" idx="10" hasCustomPrompt="1"/>
          </p:nvPr>
        </p:nvSpPr>
        <p:spPr>
          <a:xfrm>
            <a:off x="991699" y="1668249"/>
            <a:ext cx="4929802"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14" name="Text Placeholder 3">
            <a:extLst>
              <a:ext uri="{FF2B5EF4-FFF2-40B4-BE49-F238E27FC236}">
                <a16:creationId xmlns:a16="http://schemas.microsoft.com/office/drawing/2014/main" id="{41D655C7-8571-AFB6-199A-D1CB208DDA97}"/>
              </a:ext>
            </a:extLst>
          </p:cNvPr>
          <p:cNvSpPr>
            <a:spLocks noGrp="1"/>
          </p:cNvSpPr>
          <p:nvPr>
            <p:ph type="body" idx="17" hasCustomPrompt="1"/>
          </p:nvPr>
        </p:nvSpPr>
        <p:spPr>
          <a:xfrm>
            <a:off x="6816780" y="1668249"/>
            <a:ext cx="4929802"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4" name="Slide Number Placeholder 4">
            <a:extLst>
              <a:ext uri="{FF2B5EF4-FFF2-40B4-BE49-F238E27FC236}">
                <a16:creationId xmlns:a16="http://schemas.microsoft.com/office/drawing/2014/main" id="{DAB78245-F602-B59D-9347-42493BDA687B}"/>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34" name="Picture 4"/>
          <p:cNvPicPr>
            <a:picLocks noChangeAspect="1"/>
          </p:cNvPicPr>
          <p:nvPr/>
        </p:nvPicPr>
        <p:blipFill>
          <a:blip r:embed="rId3"/>
          <a:stretch>
            <a:fillRect/>
          </a:stretch>
        </p:blipFill>
        <p:spPr>
          <a:xfrm>
            <a:off x="277792" y="0"/>
            <a:ext cx="277793" cy="277793"/>
          </a:xfrm>
          <a:prstGeom prst="rect">
            <a:avLst/>
          </a:prstGeom>
        </p:spPr>
      </p:pic>
      <p:pic>
        <p:nvPicPr>
          <p:cNvPr id="35" name="Picture 5"/>
          <p:cNvPicPr>
            <a:picLocks noChangeAspect="1"/>
          </p:cNvPicPr>
          <p:nvPr/>
        </p:nvPicPr>
        <p:blipFill>
          <a:blip r:embed="rId4"/>
          <a:srcRect/>
          <a:stretch/>
        </p:blipFill>
        <p:spPr>
          <a:xfrm>
            <a:off x="8937523" y="6461313"/>
            <a:ext cx="396687" cy="396687"/>
          </a:xfrm>
          <a:prstGeom prst="rect">
            <a:avLst/>
          </a:prstGeom>
        </p:spPr>
      </p:pic>
      <p:sp>
        <p:nvSpPr>
          <p:cNvPr id="17" name="Rectangle 16">
            <a:extLst>
              <a:ext uri="{FF2B5EF4-FFF2-40B4-BE49-F238E27FC236}">
                <a16:creationId xmlns:a16="http://schemas.microsoft.com/office/drawing/2014/main" id="{15D30BAD-B66E-14B9-51E9-3F07B1A224E0}"/>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8" name="Rectangle 17">
            <a:extLst>
              <a:ext uri="{FF2B5EF4-FFF2-40B4-BE49-F238E27FC236}">
                <a16:creationId xmlns:a16="http://schemas.microsoft.com/office/drawing/2014/main" id="{1CC1D99E-6DDC-46D6-51A7-59C0B288E11E}"/>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Straight Connector 2">
            <a:extLst>
              <a:ext uri="{FF2B5EF4-FFF2-40B4-BE49-F238E27FC236}">
                <a16:creationId xmlns:a16="http://schemas.microsoft.com/office/drawing/2014/main" id="{338A3A8C-3528-4F15-BBC1-7230E4EB776D}"/>
              </a:ext>
            </a:extLst>
          </p:cNvPr>
          <p:cNvSpPr>
            <a:spLocks noGrp="1"/>
          </p:cNvSpPr>
          <p:nvPr/>
        </p:nvSpPr>
        <p:spPr>
          <a:xfrm>
            <a:off x="980876" y="1198726"/>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 Three Columns">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476789"/>
            <a:ext cx="10757719" cy="71472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Title and Bullet Three Columns</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2"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8" y="1864890"/>
            <a:ext cx="3314831"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3" name="Text Placeholder 3">
            <a:extLst>
              <a:ext uri="{FF2B5EF4-FFF2-40B4-BE49-F238E27FC236}">
                <a16:creationId xmlns:a16="http://schemas.microsoft.com/office/drawing/2014/main" id="{F22FD0CD-FD04-8634-D7B8-F280B324DE97}"/>
              </a:ext>
            </a:extLst>
          </p:cNvPr>
          <p:cNvSpPr>
            <a:spLocks noGrp="1"/>
          </p:cNvSpPr>
          <p:nvPr>
            <p:ph type="body" idx="17" hasCustomPrompt="1"/>
          </p:nvPr>
        </p:nvSpPr>
        <p:spPr>
          <a:xfrm>
            <a:off x="8434717" y="1864890"/>
            <a:ext cx="3314831"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4" name="Text Placeholder 3">
            <a:extLst>
              <a:ext uri="{FF2B5EF4-FFF2-40B4-BE49-F238E27FC236}">
                <a16:creationId xmlns:a16="http://schemas.microsoft.com/office/drawing/2014/main" id="{1057C0FE-2BC5-D429-70D8-1C8427B99C5F}"/>
              </a:ext>
            </a:extLst>
          </p:cNvPr>
          <p:cNvSpPr>
            <a:spLocks noGrp="1"/>
          </p:cNvSpPr>
          <p:nvPr>
            <p:ph type="body" idx="18" hasCustomPrompt="1"/>
          </p:nvPr>
        </p:nvSpPr>
        <p:spPr>
          <a:xfrm>
            <a:off x="4698459" y="1864890"/>
            <a:ext cx="3314831"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5" name="Straight Connector 4">
            <a:extLst>
              <a:ext uri="{FF2B5EF4-FFF2-40B4-BE49-F238E27FC236}">
                <a16:creationId xmlns:a16="http://schemas.microsoft.com/office/drawing/2014/main" id="{F4989ABA-4654-48C8-ABE6-6E1344CBA88D}"/>
              </a:ext>
            </a:extLst>
          </p:cNvPr>
          <p:cNvSpPr>
            <a:spLocks noGrp="1"/>
          </p:cNvSpPr>
          <p:nvPr/>
        </p:nvSpPr>
        <p:spPr>
          <a:xfrm flipV="1">
            <a:off x="4502228" y="1881152"/>
            <a:ext cx="0" cy="37910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6" name="Straight Connector 5">
            <a:extLst>
              <a:ext uri="{FF2B5EF4-FFF2-40B4-BE49-F238E27FC236}">
                <a16:creationId xmlns:a16="http://schemas.microsoft.com/office/drawing/2014/main" id="{E484F1C4-C2AF-403C-8076-68E7EF6807B6}"/>
              </a:ext>
            </a:extLst>
          </p:cNvPr>
          <p:cNvSpPr>
            <a:spLocks noGrp="1"/>
          </p:cNvSpPr>
          <p:nvPr/>
        </p:nvSpPr>
        <p:spPr>
          <a:xfrm flipV="1">
            <a:off x="8218822" y="1881152"/>
            <a:ext cx="0" cy="37910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8" name="Text Placeholder 3">
            <a:extLst>
              <a:ext uri="{FF2B5EF4-FFF2-40B4-BE49-F238E27FC236}">
                <a16:creationId xmlns:a16="http://schemas.microsoft.com/office/drawing/2014/main" id="{F529CBE9-E801-6775-C916-FBB425AF86E4}"/>
              </a:ext>
            </a:extLst>
          </p:cNvPr>
          <p:cNvSpPr>
            <a:spLocks noGrp="1"/>
          </p:cNvSpPr>
          <p:nvPr>
            <p:ph type="body" idx="22" hasCustomPrompt="1"/>
          </p:nvPr>
        </p:nvSpPr>
        <p:spPr>
          <a:xfrm>
            <a:off x="8434717" y="1510929"/>
            <a:ext cx="3314831"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9" name="Text Placeholder 3">
            <a:extLst>
              <a:ext uri="{FF2B5EF4-FFF2-40B4-BE49-F238E27FC236}">
                <a16:creationId xmlns:a16="http://schemas.microsoft.com/office/drawing/2014/main" id="{FAEC8527-411E-5E2C-A2A5-FE0BFC4B0913}"/>
              </a:ext>
            </a:extLst>
          </p:cNvPr>
          <p:cNvSpPr>
            <a:spLocks noGrp="1"/>
          </p:cNvSpPr>
          <p:nvPr>
            <p:ph type="body" idx="24" hasCustomPrompt="1"/>
          </p:nvPr>
        </p:nvSpPr>
        <p:spPr>
          <a:xfrm>
            <a:off x="991699" y="1510929"/>
            <a:ext cx="3314830"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10" name="Text Placeholder 3">
            <a:extLst>
              <a:ext uri="{FF2B5EF4-FFF2-40B4-BE49-F238E27FC236}">
                <a16:creationId xmlns:a16="http://schemas.microsoft.com/office/drawing/2014/main" id="{FD510753-FC6C-D6C7-BD56-236A18A158EF}"/>
              </a:ext>
            </a:extLst>
          </p:cNvPr>
          <p:cNvSpPr>
            <a:spLocks noGrp="1"/>
          </p:cNvSpPr>
          <p:nvPr>
            <p:ph type="body" idx="25" hasCustomPrompt="1"/>
          </p:nvPr>
        </p:nvSpPr>
        <p:spPr>
          <a:xfrm>
            <a:off x="4698459" y="1510929"/>
            <a:ext cx="3314831"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2" name="Slide Number Placeholder 4">
            <a:extLst>
              <a:ext uri="{FF2B5EF4-FFF2-40B4-BE49-F238E27FC236}">
                <a16:creationId xmlns:a16="http://schemas.microsoft.com/office/drawing/2014/main" id="{32F433CF-6D20-93B3-2EED-7B484C355CA8}"/>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42" name="Picture 11"/>
          <p:cNvPicPr>
            <a:picLocks noChangeAspect="1"/>
          </p:cNvPicPr>
          <p:nvPr/>
        </p:nvPicPr>
        <p:blipFill>
          <a:blip r:embed="rId3"/>
          <a:stretch>
            <a:fillRect/>
          </a:stretch>
        </p:blipFill>
        <p:spPr>
          <a:xfrm>
            <a:off x="277792" y="0"/>
            <a:ext cx="277793" cy="277793"/>
          </a:xfrm>
          <a:prstGeom prst="rect">
            <a:avLst/>
          </a:prstGeom>
        </p:spPr>
      </p:pic>
      <p:pic>
        <p:nvPicPr>
          <p:cNvPr id="43" name="Picture 12"/>
          <p:cNvPicPr>
            <a:picLocks noChangeAspect="1"/>
          </p:cNvPicPr>
          <p:nvPr/>
        </p:nvPicPr>
        <p:blipFill>
          <a:blip r:embed="rId4"/>
          <a:srcRect/>
          <a:stretch/>
        </p:blipFill>
        <p:spPr>
          <a:xfrm>
            <a:off x="8937523" y="6461313"/>
            <a:ext cx="396687" cy="396687"/>
          </a:xfrm>
          <a:prstGeom prst="rect">
            <a:avLst/>
          </a:prstGeom>
        </p:spPr>
      </p:pic>
      <p:sp>
        <p:nvSpPr>
          <p:cNvPr id="16" name="Rectangle 15">
            <a:extLst>
              <a:ext uri="{FF2B5EF4-FFF2-40B4-BE49-F238E27FC236}">
                <a16:creationId xmlns:a16="http://schemas.microsoft.com/office/drawing/2014/main" id="{555B13DC-1F34-EF46-314D-954819FE9735}"/>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7" name="Rectangle 16">
            <a:extLst>
              <a:ext uri="{FF2B5EF4-FFF2-40B4-BE49-F238E27FC236}">
                <a16:creationId xmlns:a16="http://schemas.microsoft.com/office/drawing/2014/main" id="{D471BE1D-9104-31BF-8433-E258C94C444D}"/>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Straight Connector 6">
            <a:extLst>
              <a:ext uri="{FF2B5EF4-FFF2-40B4-BE49-F238E27FC236}">
                <a16:creationId xmlns:a16="http://schemas.microsoft.com/office/drawing/2014/main" id="{4FC07E1B-BBB3-4B93-B91C-B85A07D1ABE7}"/>
              </a:ext>
            </a:extLst>
          </p:cNvPr>
          <p:cNvSpPr>
            <a:spLocks noGrp="1"/>
          </p:cNvSpPr>
          <p:nvPr/>
        </p:nvSpPr>
        <p:spPr>
          <a:xfrm>
            <a:off x="980876" y="1198726"/>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 Four Columns">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476789"/>
            <a:ext cx="10757719" cy="71472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Title and Bullet Four Columns</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4"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9" y="1864890"/>
            <a:ext cx="2528249"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5" name="Straight Connector 4">
            <a:extLst>
              <a:ext uri="{FF2B5EF4-FFF2-40B4-BE49-F238E27FC236}">
                <a16:creationId xmlns:a16="http://schemas.microsoft.com/office/drawing/2014/main" id="{4F1E00B4-2A19-4FAD-B18F-EFBD057F3EA3}"/>
              </a:ext>
            </a:extLst>
          </p:cNvPr>
          <p:cNvSpPr>
            <a:spLocks noGrp="1"/>
          </p:cNvSpPr>
          <p:nvPr/>
        </p:nvSpPr>
        <p:spPr>
          <a:xfrm flipV="1">
            <a:off x="3627157" y="1881152"/>
            <a:ext cx="0" cy="37910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6" name="Straight Connector 5">
            <a:extLst>
              <a:ext uri="{FF2B5EF4-FFF2-40B4-BE49-F238E27FC236}">
                <a16:creationId xmlns:a16="http://schemas.microsoft.com/office/drawing/2014/main" id="{D7BA083E-2B4F-46D5-8303-380EAB0B2FC8}"/>
              </a:ext>
            </a:extLst>
          </p:cNvPr>
          <p:cNvSpPr>
            <a:spLocks noGrp="1"/>
          </p:cNvSpPr>
          <p:nvPr/>
        </p:nvSpPr>
        <p:spPr>
          <a:xfrm flipV="1">
            <a:off x="9115256" y="1881152"/>
            <a:ext cx="0" cy="37910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9" name="Text Placeholder 3">
            <a:extLst>
              <a:ext uri="{FF2B5EF4-FFF2-40B4-BE49-F238E27FC236}">
                <a16:creationId xmlns:a16="http://schemas.microsoft.com/office/drawing/2014/main" id="{2C05D48C-4AA9-32C3-E59C-78282BD05461}"/>
              </a:ext>
            </a:extLst>
          </p:cNvPr>
          <p:cNvSpPr>
            <a:spLocks noGrp="1"/>
          </p:cNvSpPr>
          <p:nvPr>
            <p:ph type="body" idx="19" hasCustomPrompt="1"/>
          </p:nvPr>
        </p:nvSpPr>
        <p:spPr>
          <a:xfrm>
            <a:off x="3734899" y="1864890"/>
            <a:ext cx="2528249"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10" name="Text Placeholder 3">
            <a:extLst>
              <a:ext uri="{FF2B5EF4-FFF2-40B4-BE49-F238E27FC236}">
                <a16:creationId xmlns:a16="http://schemas.microsoft.com/office/drawing/2014/main" id="{9DA69184-351A-0F32-D962-F3CA1B334608}"/>
              </a:ext>
            </a:extLst>
          </p:cNvPr>
          <p:cNvSpPr>
            <a:spLocks noGrp="1"/>
          </p:cNvSpPr>
          <p:nvPr>
            <p:ph type="body" idx="20" hasCustomPrompt="1"/>
          </p:nvPr>
        </p:nvSpPr>
        <p:spPr>
          <a:xfrm>
            <a:off x="6478099" y="1864890"/>
            <a:ext cx="2528249"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12" name="Text Placeholder 3">
            <a:extLst>
              <a:ext uri="{FF2B5EF4-FFF2-40B4-BE49-F238E27FC236}">
                <a16:creationId xmlns:a16="http://schemas.microsoft.com/office/drawing/2014/main" id="{C87F8D9E-0BB7-F906-7378-3D6CF1D72D37}"/>
              </a:ext>
            </a:extLst>
          </p:cNvPr>
          <p:cNvSpPr>
            <a:spLocks noGrp="1"/>
          </p:cNvSpPr>
          <p:nvPr>
            <p:ph type="body" idx="21" hasCustomPrompt="1"/>
          </p:nvPr>
        </p:nvSpPr>
        <p:spPr>
          <a:xfrm>
            <a:off x="9221300" y="1864890"/>
            <a:ext cx="2528249" cy="3807265"/>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14" name="Straight Connector 13">
            <a:extLst>
              <a:ext uri="{FF2B5EF4-FFF2-40B4-BE49-F238E27FC236}">
                <a16:creationId xmlns:a16="http://schemas.microsoft.com/office/drawing/2014/main" id="{43B2702A-182B-4B24-BCAE-2371C1B32CC3}"/>
              </a:ext>
            </a:extLst>
          </p:cNvPr>
          <p:cNvSpPr>
            <a:spLocks noGrp="1"/>
          </p:cNvSpPr>
          <p:nvPr/>
        </p:nvSpPr>
        <p:spPr>
          <a:xfrm flipV="1">
            <a:off x="6372056" y="1881152"/>
            <a:ext cx="0" cy="37910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15" name="Text Placeholder 3">
            <a:extLst>
              <a:ext uri="{FF2B5EF4-FFF2-40B4-BE49-F238E27FC236}">
                <a16:creationId xmlns:a16="http://schemas.microsoft.com/office/drawing/2014/main" id="{7753F216-AF7E-6457-D2FB-51903EBD938F}"/>
              </a:ext>
            </a:extLst>
          </p:cNvPr>
          <p:cNvSpPr>
            <a:spLocks noGrp="1"/>
          </p:cNvSpPr>
          <p:nvPr>
            <p:ph type="body" idx="22" hasCustomPrompt="1"/>
          </p:nvPr>
        </p:nvSpPr>
        <p:spPr>
          <a:xfrm>
            <a:off x="6478099" y="1510929"/>
            <a:ext cx="2528249"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16" name="Text Placeholder 3">
            <a:extLst>
              <a:ext uri="{FF2B5EF4-FFF2-40B4-BE49-F238E27FC236}">
                <a16:creationId xmlns:a16="http://schemas.microsoft.com/office/drawing/2014/main" id="{F665EE6F-364C-2188-06AD-856CA22E7ECC}"/>
              </a:ext>
            </a:extLst>
          </p:cNvPr>
          <p:cNvSpPr>
            <a:spLocks noGrp="1"/>
          </p:cNvSpPr>
          <p:nvPr>
            <p:ph type="body" idx="23" hasCustomPrompt="1"/>
          </p:nvPr>
        </p:nvSpPr>
        <p:spPr>
          <a:xfrm>
            <a:off x="9221299" y="1510929"/>
            <a:ext cx="2528249"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17" name="Text Placeholder 3">
            <a:extLst>
              <a:ext uri="{FF2B5EF4-FFF2-40B4-BE49-F238E27FC236}">
                <a16:creationId xmlns:a16="http://schemas.microsoft.com/office/drawing/2014/main" id="{1B9560F0-A4F7-998E-3EE4-F272C0107166}"/>
              </a:ext>
            </a:extLst>
          </p:cNvPr>
          <p:cNvSpPr>
            <a:spLocks noGrp="1"/>
          </p:cNvSpPr>
          <p:nvPr>
            <p:ph type="body" idx="24" hasCustomPrompt="1"/>
          </p:nvPr>
        </p:nvSpPr>
        <p:spPr>
          <a:xfrm>
            <a:off x="991699" y="1510929"/>
            <a:ext cx="2528249"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18" name="Text Placeholder 3">
            <a:extLst>
              <a:ext uri="{FF2B5EF4-FFF2-40B4-BE49-F238E27FC236}">
                <a16:creationId xmlns:a16="http://schemas.microsoft.com/office/drawing/2014/main" id="{B0019F25-3E8B-6B27-5884-FC5F1FA3A64F}"/>
              </a:ext>
            </a:extLst>
          </p:cNvPr>
          <p:cNvSpPr>
            <a:spLocks noGrp="1"/>
          </p:cNvSpPr>
          <p:nvPr>
            <p:ph type="body" idx="25" hasCustomPrompt="1"/>
          </p:nvPr>
        </p:nvSpPr>
        <p:spPr>
          <a:xfrm>
            <a:off x="3734899" y="1510929"/>
            <a:ext cx="2528249"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2" name="Slide Number Placeholder 4">
            <a:extLst>
              <a:ext uri="{FF2B5EF4-FFF2-40B4-BE49-F238E27FC236}">
                <a16:creationId xmlns:a16="http://schemas.microsoft.com/office/drawing/2014/main" id="{0EF860DD-ED13-CD0A-ECF9-9E4118B3E4C6}"/>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47" name="Picture 2"/>
          <p:cNvPicPr>
            <a:picLocks noChangeAspect="1"/>
          </p:cNvPicPr>
          <p:nvPr/>
        </p:nvPicPr>
        <p:blipFill>
          <a:blip r:embed="rId3"/>
          <a:stretch>
            <a:fillRect/>
          </a:stretch>
        </p:blipFill>
        <p:spPr>
          <a:xfrm>
            <a:off x="277792" y="0"/>
            <a:ext cx="277793" cy="277793"/>
          </a:xfrm>
          <a:prstGeom prst="rect">
            <a:avLst/>
          </a:prstGeom>
        </p:spPr>
      </p:pic>
      <p:pic>
        <p:nvPicPr>
          <p:cNvPr id="48" name="Picture 3"/>
          <p:cNvPicPr>
            <a:picLocks noChangeAspect="1"/>
          </p:cNvPicPr>
          <p:nvPr/>
        </p:nvPicPr>
        <p:blipFill>
          <a:blip r:embed="rId4"/>
          <a:srcRect/>
          <a:stretch/>
        </p:blipFill>
        <p:spPr>
          <a:xfrm>
            <a:off x="8937523" y="6461313"/>
            <a:ext cx="396687" cy="396687"/>
          </a:xfrm>
          <a:prstGeom prst="rect">
            <a:avLst/>
          </a:prstGeom>
        </p:spPr>
      </p:pic>
      <p:sp>
        <p:nvSpPr>
          <p:cNvPr id="26" name="Rectangle 25">
            <a:extLst>
              <a:ext uri="{FF2B5EF4-FFF2-40B4-BE49-F238E27FC236}">
                <a16:creationId xmlns:a16="http://schemas.microsoft.com/office/drawing/2014/main" id="{A8D290B1-093A-50FF-2B97-B10D49C4639E}"/>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27" name="Rectangle 26">
            <a:extLst>
              <a:ext uri="{FF2B5EF4-FFF2-40B4-BE49-F238E27FC236}">
                <a16:creationId xmlns:a16="http://schemas.microsoft.com/office/drawing/2014/main" id="{56DE2519-9A40-BE1F-019D-1EC1D2273B29}"/>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Straight Connector 6">
            <a:extLst>
              <a:ext uri="{FF2B5EF4-FFF2-40B4-BE49-F238E27FC236}">
                <a16:creationId xmlns:a16="http://schemas.microsoft.com/office/drawing/2014/main" id="{953E5BAF-FE2C-4C34-A820-FCA11A2650D1}"/>
              </a:ext>
            </a:extLst>
          </p:cNvPr>
          <p:cNvSpPr>
            <a:spLocks noGrp="1"/>
          </p:cNvSpPr>
          <p:nvPr/>
        </p:nvSpPr>
        <p:spPr>
          <a:xfrm>
            <a:off x="980876" y="1198726"/>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Bullet Single Column With Photo">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6" y="476789"/>
            <a:ext cx="6204858" cy="126270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Title and Bullet Single Column With Photo</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2"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8" y="2182119"/>
            <a:ext cx="6204859" cy="3293396"/>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2" name="Picture Placeholder 25">
            <a:extLst>
              <a:ext uri="{FF2B5EF4-FFF2-40B4-BE49-F238E27FC236}">
                <a16:creationId xmlns:a16="http://schemas.microsoft.com/office/drawing/2014/main" id="{BF42B0EF-8909-7468-F082-C9F1E8101C12}"/>
              </a:ext>
            </a:extLst>
          </p:cNvPr>
          <p:cNvSpPr>
            <a:spLocks noGrp="1"/>
          </p:cNvSpPr>
          <p:nvPr>
            <p:ph type="pic" idx="16" hasCustomPrompt="1"/>
          </p:nvPr>
        </p:nvSpPr>
        <p:spPr>
          <a:xfrm>
            <a:off x="7601478" y="0"/>
            <a:ext cx="4588917" cy="5475510"/>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3" name="Slide Number Placeholder 4">
            <a:extLst>
              <a:ext uri="{FF2B5EF4-FFF2-40B4-BE49-F238E27FC236}">
                <a16:creationId xmlns:a16="http://schemas.microsoft.com/office/drawing/2014/main" id="{444FD647-5EFF-6074-722B-992407D56F73}"/>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36" name="Picture 3"/>
          <p:cNvPicPr>
            <a:picLocks noChangeAspect="1"/>
          </p:cNvPicPr>
          <p:nvPr/>
        </p:nvPicPr>
        <p:blipFill>
          <a:blip r:embed="rId3"/>
          <a:stretch>
            <a:fillRect/>
          </a:stretch>
        </p:blipFill>
        <p:spPr>
          <a:xfrm>
            <a:off x="277792" y="0"/>
            <a:ext cx="277793" cy="277793"/>
          </a:xfrm>
          <a:prstGeom prst="rect">
            <a:avLst/>
          </a:prstGeom>
        </p:spPr>
      </p:pic>
      <p:pic>
        <p:nvPicPr>
          <p:cNvPr id="37" name="Picture 4"/>
          <p:cNvPicPr>
            <a:picLocks noChangeAspect="1"/>
          </p:cNvPicPr>
          <p:nvPr/>
        </p:nvPicPr>
        <p:blipFill>
          <a:blip r:embed="rId4"/>
          <a:srcRect/>
          <a:stretch/>
        </p:blipFill>
        <p:spPr>
          <a:xfrm>
            <a:off x="8937523" y="6461313"/>
            <a:ext cx="396687" cy="396687"/>
          </a:xfrm>
          <a:prstGeom prst="rect">
            <a:avLst/>
          </a:prstGeom>
        </p:spPr>
      </p:pic>
      <p:sp>
        <p:nvSpPr>
          <p:cNvPr id="9" name="Rectangle 8">
            <a:extLst>
              <a:ext uri="{FF2B5EF4-FFF2-40B4-BE49-F238E27FC236}">
                <a16:creationId xmlns:a16="http://schemas.microsoft.com/office/drawing/2014/main" id="{9564D912-22A0-4427-9D4C-0D75645A9082}"/>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0" name="Rectangle 9">
            <a:extLst>
              <a:ext uri="{FF2B5EF4-FFF2-40B4-BE49-F238E27FC236}">
                <a16:creationId xmlns:a16="http://schemas.microsoft.com/office/drawing/2014/main" id="{35CDCF51-DA31-4F55-134F-3DE1A518E5DD}"/>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Straight Connector 5">
            <a:extLst>
              <a:ext uri="{FF2B5EF4-FFF2-40B4-BE49-F238E27FC236}">
                <a16:creationId xmlns:a16="http://schemas.microsoft.com/office/drawing/2014/main" id="{A20F6A54-ED0C-421D-8C9D-8241E8D5437A}"/>
              </a:ext>
            </a:extLst>
          </p:cNvPr>
          <p:cNvSpPr>
            <a:spLocks noGrp="1"/>
          </p:cNvSpPr>
          <p:nvPr/>
        </p:nvSpPr>
        <p:spPr>
          <a:xfrm>
            <a:off x="980876" y="1739495"/>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 Single Column With Photos">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6" y="476789"/>
            <a:ext cx="6204858" cy="126270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Title and Bullet Single Column With Photos</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2"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8" y="2182119"/>
            <a:ext cx="6204859" cy="3293396"/>
          </a:xfrm>
        </p:spPr>
        <p:txBody>
          <a:bodyPr lIns="0" rIns="0">
            <a:normAutofit/>
          </a:bodyPr>
          <a:lstStyle>
            <a:lvl1pPr>
              <a:buNone/>
              <a:defRPr sz="2400"/>
            </a:lvl1pPr>
            <a:lvl2pPr>
              <a:buNone/>
              <a:defRPr/>
            </a:lvl2pPr>
            <a:lvl3pPr>
              <a:buNone/>
              <a:defRPr/>
            </a:lvl3pPr>
          </a:lstStyle>
          <a:p>
            <a:pPr lvl="0">
              <a:buNone/>
            </a:pPr>
            <a:r>
              <a:t>Item One</a:t>
            </a:r>
          </a:p>
          <a:p>
            <a:pPr lvl="0">
              <a:buNone/>
            </a:pPr>
            <a:r>
              <a:t>Item Two</a:t>
            </a:r>
          </a:p>
          <a:p>
            <a:pPr lvl="0">
              <a:buNone/>
            </a:pPr>
            <a:r>
              <a:t>Item Three</a:t>
            </a:r>
          </a:p>
          <a:p>
            <a:pPr lvl="1">
              <a:buNone/>
            </a:pPr>
            <a:r>
              <a:t>Sub Bullet One</a:t>
            </a:r>
          </a:p>
          <a:p>
            <a:pPr lvl="2">
              <a:buNone/>
            </a:pPr>
            <a:r>
              <a:t>Sub Bullet Two</a:t>
            </a:r>
          </a:p>
        </p:txBody>
      </p:sp>
      <p:sp>
        <p:nvSpPr>
          <p:cNvPr id="2" name="Picture Placeholder 25">
            <a:extLst>
              <a:ext uri="{FF2B5EF4-FFF2-40B4-BE49-F238E27FC236}">
                <a16:creationId xmlns:a16="http://schemas.microsoft.com/office/drawing/2014/main" id="{BF42B0EF-8909-7468-F082-C9F1E8101C12}"/>
              </a:ext>
            </a:extLst>
          </p:cNvPr>
          <p:cNvSpPr>
            <a:spLocks noGrp="1"/>
          </p:cNvSpPr>
          <p:nvPr>
            <p:ph type="pic" idx="16" hasCustomPrompt="1"/>
          </p:nvPr>
        </p:nvSpPr>
        <p:spPr>
          <a:xfrm>
            <a:off x="7601478" y="2182112"/>
            <a:ext cx="4588917" cy="3293397"/>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3" name="Picture Placeholder 25">
            <a:extLst>
              <a:ext uri="{FF2B5EF4-FFF2-40B4-BE49-F238E27FC236}">
                <a16:creationId xmlns:a16="http://schemas.microsoft.com/office/drawing/2014/main" id="{97C2FF5E-9BA9-91BD-249D-600919BDE590}"/>
              </a:ext>
            </a:extLst>
          </p:cNvPr>
          <p:cNvSpPr>
            <a:spLocks noGrp="1"/>
          </p:cNvSpPr>
          <p:nvPr>
            <p:ph type="pic" idx="17" hasCustomPrompt="1"/>
          </p:nvPr>
        </p:nvSpPr>
        <p:spPr>
          <a:xfrm>
            <a:off x="7601479" y="-1"/>
            <a:ext cx="2299606" cy="2084437"/>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4" name="Picture Placeholder 25">
            <a:extLst>
              <a:ext uri="{FF2B5EF4-FFF2-40B4-BE49-F238E27FC236}">
                <a16:creationId xmlns:a16="http://schemas.microsoft.com/office/drawing/2014/main" id="{2AEAC185-E13A-A5FD-4782-25E848DA50A7}"/>
              </a:ext>
            </a:extLst>
          </p:cNvPr>
          <p:cNvSpPr>
            <a:spLocks noGrp="1"/>
          </p:cNvSpPr>
          <p:nvPr>
            <p:ph type="pic" idx="18" hasCustomPrompt="1"/>
          </p:nvPr>
        </p:nvSpPr>
        <p:spPr>
          <a:xfrm>
            <a:off x="10007632" y="-1"/>
            <a:ext cx="2182763" cy="2084437"/>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5" name="Slide Number Placeholder 4">
            <a:extLst>
              <a:ext uri="{FF2B5EF4-FFF2-40B4-BE49-F238E27FC236}">
                <a16:creationId xmlns:a16="http://schemas.microsoft.com/office/drawing/2014/main" id="{41097042-D80D-9A21-0DDA-A84F6E204F1E}"/>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38" name="Picture 5"/>
          <p:cNvPicPr>
            <a:picLocks noChangeAspect="1"/>
          </p:cNvPicPr>
          <p:nvPr/>
        </p:nvPicPr>
        <p:blipFill>
          <a:blip r:embed="rId3"/>
          <a:stretch>
            <a:fillRect/>
          </a:stretch>
        </p:blipFill>
        <p:spPr>
          <a:xfrm>
            <a:off x="277792" y="0"/>
            <a:ext cx="277793" cy="277793"/>
          </a:xfrm>
          <a:prstGeom prst="rect">
            <a:avLst/>
          </a:prstGeom>
        </p:spPr>
      </p:pic>
      <p:pic>
        <p:nvPicPr>
          <p:cNvPr id="39" name="Picture 7"/>
          <p:cNvPicPr>
            <a:picLocks noChangeAspect="1"/>
          </p:cNvPicPr>
          <p:nvPr/>
        </p:nvPicPr>
        <p:blipFill>
          <a:blip r:embed="rId4"/>
          <a:srcRect/>
          <a:stretch/>
        </p:blipFill>
        <p:spPr>
          <a:xfrm>
            <a:off x="8937523" y="6461313"/>
            <a:ext cx="396687" cy="396687"/>
          </a:xfrm>
          <a:prstGeom prst="rect">
            <a:avLst/>
          </a:prstGeom>
        </p:spPr>
      </p:pic>
      <p:sp>
        <p:nvSpPr>
          <p:cNvPr id="12" name="Rectangle 11">
            <a:extLst>
              <a:ext uri="{FF2B5EF4-FFF2-40B4-BE49-F238E27FC236}">
                <a16:creationId xmlns:a16="http://schemas.microsoft.com/office/drawing/2014/main" id="{D3FC94D0-D2D8-E866-84BD-34C4A1FE1E6E}"/>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3" name="Rectangle 12">
            <a:extLst>
              <a:ext uri="{FF2B5EF4-FFF2-40B4-BE49-F238E27FC236}">
                <a16:creationId xmlns:a16="http://schemas.microsoft.com/office/drawing/2014/main" id="{7532FFB3-0B30-5D83-0D16-9E74FF94D4BD}"/>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Straight Connector 6">
            <a:extLst>
              <a:ext uri="{FF2B5EF4-FFF2-40B4-BE49-F238E27FC236}">
                <a16:creationId xmlns:a16="http://schemas.microsoft.com/office/drawing/2014/main" id="{605CACBE-77A0-4766-9860-5E6A309CC44F}"/>
              </a:ext>
            </a:extLst>
          </p:cNvPr>
          <p:cNvSpPr>
            <a:spLocks noGrp="1"/>
          </p:cNvSpPr>
          <p:nvPr/>
        </p:nvSpPr>
        <p:spPr>
          <a:xfrm>
            <a:off x="980876" y="1739495"/>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s With Photos">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476789"/>
            <a:ext cx="10757719" cy="71472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Three Columns With Photos</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9"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8" y="4072419"/>
            <a:ext cx="3314831" cy="1824983"/>
          </a:xfrm>
        </p:spPr>
        <p:txBody>
          <a:bodyPr lIns="0" rIns="0">
            <a:normAutofit/>
          </a:bodyPr>
          <a:lstStyle>
            <a:lvl1pPr marL="0" indent="0">
              <a:buNone/>
              <a:defRPr sz="1800"/>
            </a:lvl1pPr>
            <a:lvl2pPr marL="457200" indent="0">
              <a:buNone/>
              <a:defRPr/>
            </a:lvl2pPr>
            <a:lvl3pPr marL="914400" indent="0">
              <a:buNone/>
              <a:defRPr/>
            </a:lvl3pPr>
          </a:lstStyle>
          <a:p>
            <a:pPr lvl="0">
              <a:buNone/>
            </a:pPr>
            <a:r>
              <a:t>Text goes here …</a:t>
            </a:r>
          </a:p>
        </p:txBody>
      </p:sp>
      <p:sp>
        <p:nvSpPr>
          <p:cNvPr id="3" name="Text Placeholder 3">
            <a:extLst>
              <a:ext uri="{FF2B5EF4-FFF2-40B4-BE49-F238E27FC236}">
                <a16:creationId xmlns:a16="http://schemas.microsoft.com/office/drawing/2014/main" id="{F22FD0CD-FD04-8634-D7B8-F280B324DE97}"/>
              </a:ext>
            </a:extLst>
          </p:cNvPr>
          <p:cNvSpPr>
            <a:spLocks noGrp="1"/>
          </p:cNvSpPr>
          <p:nvPr>
            <p:ph type="body" idx="17" hasCustomPrompt="1"/>
          </p:nvPr>
        </p:nvSpPr>
        <p:spPr>
          <a:xfrm>
            <a:off x="8434717" y="4072419"/>
            <a:ext cx="3314831" cy="1824983"/>
          </a:xfrm>
        </p:spPr>
        <p:txBody>
          <a:bodyPr lIns="0" rIns="0">
            <a:normAutofit/>
          </a:bodyPr>
          <a:lstStyle>
            <a:lvl1pPr marL="0" indent="0">
              <a:buNone/>
              <a:defRPr sz="1800"/>
            </a:lvl1pPr>
            <a:lvl2pPr marL="457200" indent="0">
              <a:buNone/>
              <a:defRPr/>
            </a:lvl2pPr>
            <a:lvl3pPr marL="914400" indent="0">
              <a:buNone/>
              <a:defRPr/>
            </a:lvl3pPr>
          </a:lstStyle>
          <a:p>
            <a:pPr lvl="0">
              <a:buNone/>
            </a:pPr>
            <a:r>
              <a:t>Text goes here …</a:t>
            </a:r>
          </a:p>
        </p:txBody>
      </p:sp>
      <p:sp>
        <p:nvSpPr>
          <p:cNvPr id="4" name="Text Placeholder 3">
            <a:extLst>
              <a:ext uri="{FF2B5EF4-FFF2-40B4-BE49-F238E27FC236}">
                <a16:creationId xmlns:a16="http://schemas.microsoft.com/office/drawing/2014/main" id="{1057C0FE-2BC5-D429-70D8-1C8427B99C5F}"/>
              </a:ext>
            </a:extLst>
          </p:cNvPr>
          <p:cNvSpPr>
            <a:spLocks noGrp="1"/>
          </p:cNvSpPr>
          <p:nvPr>
            <p:ph type="body" idx="18" hasCustomPrompt="1"/>
          </p:nvPr>
        </p:nvSpPr>
        <p:spPr>
          <a:xfrm>
            <a:off x="4698459" y="4072419"/>
            <a:ext cx="3314831" cy="1824983"/>
          </a:xfrm>
        </p:spPr>
        <p:txBody>
          <a:bodyPr lIns="0" rIns="0">
            <a:normAutofit/>
          </a:bodyPr>
          <a:lstStyle>
            <a:lvl1pPr marL="0" indent="0">
              <a:buNone/>
              <a:defRPr sz="1800"/>
            </a:lvl1pPr>
            <a:lvl2pPr marL="457200" indent="0">
              <a:buNone/>
              <a:defRPr/>
            </a:lvl2pPr>
            <a:lvl3pPr marL="914400" indent="0">
              <a:buNone/>
              <a:defRPr/>
            </a:lvl3pPr>
          </a:lstStyle>
          <a:p>
            <a:pPr lvl="0">
              <a:buNone/>
            </a:pPr>
            <a:r>
              <a:t>Text goes here …</a:t>
            </a:r>
          </a:p>
        </p:txBody>
      </p:sp>
      <p:sp>
        <p:nvSpPr>
          <p:cNvPr id="5" name="Straight Connector 4">
            <a:extLst>
              <a:ext uri="{FF2B5EF4-FFF2-40B4-BE49-F238E27FC236}">
                <a16:creationId xmlns:a16="http://schemas.microsoft.com/office/drawing/2014/main" id="{341B2AFD-672B-452C-B8D7-95D226B6FC41}"/>
              </a:ext>
            </a:extLst>
          </p:cNvPr>
          <p:cNvSpPr>
            <a:spLocks noGrp="1"/>
          </p:cNvSpPr>
          <p:nvPr/>
        </p:nvSpPr>
        <p:spPr>
          <a:xfrm flipV="1">
            <a:off x="4502228" y="1494268"/>
            <a:ext cx="0" cy="442543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8" name="Text Placeholder 3">
            <a:extLst>
              <a:ext uri="{FF2B5EF4-FFF2-40B4-BE49-F238E27FC236}">
                <a16:creationId xmlns:a16="http://schemas.microsoft.com/office/drawing/2014/main" id="{F529CBE9-E801-6775-C916-FBB425AF86E4}"/>
              </a:ext>
            </a:extLst>
          </p:cNvPr>
          <p:cNvSpPr>
            <a:spLocks noGrp="1"/>
          </p:cNvSpPr>
          <p:nvPr>
            <p:ph type="body" idx="22" hasCustomPrompt="1"/>
          </p:nvPr>
        </p:nvSpPr>
        <p:spPr>
          <a:xfrm>
            <a:off x="8434717" y="3730079"/>
            <a:ext cx="3314831"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9" name="Text Placeholder 3">
            <a:extLst>
              <a:ext uri="{FF2B5EF4-FFF2-40B4-BE49-F238E27FC236}">
                <a16:creationId xmlns:a16="http://schemas.microsoft.com/office/drawing/2014/main" id="{FAEC8527-411E-5E2C-A2A5-FE0BFC4B0913}"/>
              </a:ext>
            </a:extLst>
          </p:cNvPr>
          <p:cNvSpPr>
            <a:spLocks noGrp="1"/>
          </p:cNvSpPr>
          <p:nvPr>
            <p:ph type="body" idx="24" hasCustomPrompt="1"/>
          </p:nvPr>
        </p:nvSpPr>
        <p:spPr>
          <a:xfrm>
            <a:off x="991699" y="3730079"/>
            <a:ext cx="3314830"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10" name="Text Placeholder 3">
            <a:extLst>
              <a:ext uri="{FF2B5EF4-FFF2-40B4-BE49-F238E27FC236}">
                <a16:creationId xmlns:a16="http://schemas.microsoft.com/office/drawing/2014/main" id="{FD510753-FC6C-D6C7-BD56-236A18A158EF}"/>
              </a:ext>
            </a:extLst>
          </p:cNvPr>
          <p:cNvSpPr>
            <a:spLocks noGrp="1"/>
          </p:cNvSpPr>
          <p:nvPr>
            <p:ph type="body" idx="25" hasCustomPrompt="1"/>
          </p:nvPr>
        </p:nvSpPr>
        <p:spPr>
          <a:xfrm>
            <a:off x="4698459" y="3730079"/>
            <a:ext cx="3314831"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26" name="Picture Placeholder 25">
            <a:extLst>
              <a:ext uri="{FF2B5EF4-FFF2-40B4-BE49-F238E27FC236}">
                <a16:creationId xmlns:a16="http://schemas.microsoft.com/office/drawing/2014/main" id="{1A76968C-9584-75B6-412C-8D813D3B83C6}"/>
              </a:ext>
            </a:extLst>
          </p:cNvPr>
          <p:cNvSpPr>
            <a:spLocks noGrp="1"/>
          </p:cNvSpPr>
          <p:nvPr>
            <p:ph type="pic" idx="26" hasCustomPrompt="1"/>
          </p:nvPr>
        </p:nvSpPr>
        <p:spPr>
          <a:xfrm>
            <a:off x="980875" y="1471966"/>
            <a:ext cx="3325647" cy="2074121"/>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27" name="Picture Placeholder 25">
            <a:extLst>
              <a:ext uri="{FF2B5EF4-FFF2-40B4-BE49-F238E27FC236}">
                <a16:creationId xmlns:a16="http://schemas.microsoft.com/office/drawing/2014/main" id="{15BE7786-E223-E932-8AE6-4FE1F9A0C807}"/>
              </a:ext>
            </a:extLst>
          </p:cNvPr>
          <p:cNvSpPr>
            <a:spLocks noGrp="1"/>
          </p:cNvSpPr>
          <p:nvPr>
            <p:ph type="pic" idx="27" hasCustomPrompt="1"/>
          </p:nvPr>
        </p:nvSpPr>
        <p:spPr>
          <a:xfrm>
            <a:off x="4694231" y="1471966"/>
            <a:ext cx="3325647" cy="2074121"/>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29" name="Picture Placeholder 25">
            <a:extLst>
              <a:ext uri="{FF2B5EF4-FFF2-40B4-BE49-F238E27FC236}">
                <a16:creationId xmlns:a16="http://schemas.microsoft.com/office/drawing/2014/main" id="{26B98ED2-BB52-5285-74C3-25BBC2602D2D}"/>
              </a:ext>
            </a:extLst>
          </p:cNvPr>
          <p:cNvSpPr>
            <a:spLocks noGrp="1"/>
          </p:cNvSpPr>
          <p:nvPr>
            <p:ph type="pic" idx="28" hasCustomPrompt="1"/>
          </p:nvPr>
        </p:nvSpPr>
        <p:spPr>
          <a:xfrm>
            <a:off x="8441041" y="1471966"/>
            <a:ext cx="3325647" cy="2074121"/>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32" name="Straight Connector 31">
            <a:extLst>
              <a:ext uri="{FF2B5EF4-FFF2-40B4-BE49-F238E27FC236}">
                <a16:creationId xmlns:a16="http://schemas.microsoft.com/office/drawing/2014/main" id="{FF2DC371-4904-41D4-8B34-F02109518819}"/>
              </a:ext>
            </a:extLst>
          </p:cNvPr>
          <p:cNvSpPr>
            <a:spLocks noGrp="1"/>
          </p:cNvSpPr>
          <p:nvPr/>
        </p:nvSpPr>
        <p:spPr>
          <a:xfrm flipV="1">
            <a:off x="8226735" y="1494268"/>
            <a:ext cx="0" cy="442543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2" name="Slide Number Placeholder 4">
            <a:extLst>
              <a:ext uri="{FF2B5EF4-FFF2-40B4-BE49-F238E27FC236}">
                <a16:creationId xmlns:a16="http://schemas.microsoft.com/office/drawing/2014/main" id="{E2678A04-4CB9-5E5F-8922-C82DAC0D3A37}"/>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52" name="Picture 5"/>
          <p:cNvPicPr>
            <a:picLocks noChangeAspect="1"/>
          </p:cNvPicPr>
          <p:nvPr/>
        </p:nvPicPr>
        <p:blipFill>
          <a:blip r:embed="rId3"/>
          <a:stretch>
            <a:fillRect/>
          </a:stretch>
        </p:blipFill>
        <p:spPr>
          <a:xfrm>
            <a:off x="277792" y="0"/>
            <a:ext cx="277793" cy="277793"/>
          </a:xfrm>
          <a:prstGeom prst="rect">
            <a:avLst/>
          </a:prstGeom>
        </p:spPr>
      </p:pic>
      <p:pic>
        <p:nvPicPr>
          <p:cNvPr id="53" name="Picture 11"/>
          <p:cNvPicPr>
            <a:picLocks noChangeAspect="1"/>
          </p:cNvPicPr>
          <p:nvPr/>
        </p:nvPicPr>
        <p:blipFill>
          <a:blip r:embed="rId4"/>
          <a:srcRect/>
          <a:stretch/>
        </p:blipFill>
        <p:spPr>
          <a:xfrm>
            <a:off x="8937523" y="6461313"/>
            <a:ext cx="396687" cy="396687"/>
          </a:xfrm>
          <a:prstGeom prst="rect">
            <a:avLst/>
          </a:prstGeom>
        </p:spPr>
      </p:pic>
      <p:sp>
        <p:nvSpPr>
          <p:cNvPr id="15" name="Rectangle 14">
            <a:extLst>
              <a:ext uri="{FF2B5EF4-FFF2-40B4-BE49-F238E27FC236}">
                <a16:creationId xmlns:a16="http://schemas.microsoft.com/office/drawing/2014/main" id="{1A46C8BD-3459-64E9-9A03-60C5BBA8E8B6}"/>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6" name="Rectangle 15">
            <a:extLst>
              <a:ext uri="{FF2B5EF4-FFF2-40B4-BE49-F238E27FC236}">
                <a16:creationId xmlns:a16="http://schemas.microsoft.com/office/drawing/2014/main" id="{885991CC-342F-DF49-EFAA-8D2519351CFC}"/>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Straight Connector 6">
            <a:extLst>
              <a:ext uri="{FF2B5EF4-FFF2-40B4-BE49-F238E27FC236}">
                <a16:creationId xmlns:a16="http://schemas.microsoft.com/office/drawing/2014/main" id="{F71DFCA1-D749-4CE9-8436-C12A4792CF28}"/>
              </a:ext>
            </a:extLst>
          </p:cNvPr>
          <p:cNvSpPr>
            <a:spLocks noGrp="1"/>
          </p:cNvSpPr>
          <p:nvPr/>
        </p:nvSpPr>
        <p:spPr>
          <a:xfrm>
            <a:off x="980876" y="1198726"/>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s With Photos">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476789"/>
            <a:ext cx="10757719" cy="71472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Four Columns With Photos</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47"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9" y="4072419"/>
            <a:ext cx="2528249" cy="1833117"/>
          </a:xfrm>
        </p:spPr>
        <p:txBody>
          <a:bodyPr lIns="0" rIns="0">
            <a:normAutofit/>
          </a:bodyPr>
          <a:lstStyle>
            <a:lvl1pPr marL="0" indent="0">
              <a:buNone/>
              <a:defRPr sz="1800"/>
            </a:lvl1pPr>
            <a:lvl2pPr marL="457200" indent="0">
              <a:buNone/>
              <a:defRPr sz="1800"/>
            </a:lvl2pPr>
            <a:lvl3pPr marL="914400" indent="0">
              <a:buNone/>
              <a:defRPr sz="1800"/>
            </a:lvl3pPr>
          </a:lstStyle>
          <a:p>
            <a:pPr lvl="0">
              <a:buNone/>
            </a:pPr>
            <a:r>
              <a:t>Text goes here …</a:t>
            </a:r>
          </a:p>
        </p:txBody>
      </p:sp>
      <p:sp>
        <p:nvSpPr>
          <p:cNvPr id="5" name="Straight Connector 4">
            <a:extLst>
              <a:ext uri="{FF2B5EF4-FFF2-40B4-BE49-F238E27FC236}">
                <a16:creationId xmlns:a16="http://schemas.microsoft.com/office/drawing/2014/main" id="{A7A2F405-2D40-4D64-A8B9-0EAEA02E4F1D}"/>
              </a:ext>
            </a:extLst>
          </p:cNvPr>
          <p:cNvSpPr>
            <a:spLocks noGrp="1"/>
          </p:cNvSpPr>
          <p:nvPr/>
        </p:nvSpPr>
        <p:spPr>
          <a:xfrm flipV="1">
            <a:off x="3627157" y="1483117"/>
            <a:ext cx="0" cy="443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9" name="Text Placeholder 3">
            <a:extLst>
              <a:ext uri="{FF2B5EF4-FFF2-40B4-BE49-F238E27FC236}">
                <a16:creationId xmlns:a16="http://schemas.microsoft.com/office/drawing/2014/main" id="{2C05D48C-4AA9-32C3-E59C-78282BD05461}"/>
              </a:ext>
            </a:extLst>
          </p:cNvPr>
          <p:cNvSpPr>
            <a:spLocks noGrp="1"/>
          </p:cNvSpPr>
          <p:nvPr>
            <p:ph type="body" idx="19" hasCustomPrompt="1"/>
          </p:nvPr>
        </p:nvSpPr>
        <p:spPr>
          <a:xfrm>
            <a:off x="3734899" y="4072419"/>
            <a:ext cx="2528249" cy="1833117"/>
          </a:xfrm>
        </p:spPr>
        <p:txBody>
          <a:bodyPr lIns="0" rIns="0">
            <a:normAutofit/>
          </a:bodyPr>
          <a:lstStyle>
            <a:lvl1pPr marL="0" indent="0">
              <a:buNone/>
              <a:defRPr sz="1800"/>
            </a:lvl1pPr>
            <a:lvl2pPr marL="457200" indent="0">
              <a:buNone/>
              <a:defRPr sz="1800"/>
            </a:lvl2pPr>
            <a:lvl3pPr marL="914400" indent="0">
              <a:buNone/>
              <a:defRPr sz="1800"/>
            </a:lvl3pPr>
          </a:lstStyle>
          <a:p>
            <a:pPr lvl="0">
              <a:buNone/>
            </a:pPr>
            <a:r>
              <a:t>Text goes here …</a:t>
            </a:r>
          </a:p>
        </p:txBody>
      </p:sp>
      <p:sp>
        <p:nvSpPr>
          <p:cNvPr id="10" name="Text Placeholder 3">
            <a:extLst>
              <a:ext uri="{FF2B5EF4-FFF2-40B4-BE49-F238E27FC236}">
                <a16:creationId xmlns:a16="http://schemas.microsoft.com/office/drawing/2014/main" id="{9DA69184-351A-0F32-D962-F3CA1B334608}"/>
              </a:ext>
            </a:extLst>
          </p:cNvPr>
          <p:cNvSpPr>
            <a:spLocks noGrp="1"/>
          </p:cNvSpPr>
          <p:nvPr>
            <p:ph type="body" idx="20" hasCustomPrompt="1"/>
          </p:nvPr>
        </p:nvSpPr>
        <p:spPr>
          <a:xfrm>
            <a:off x="6478099" y="4072419"/>
            <a:ext cx="2528249" cy="1833117"/>
          </a:xfrm>
        </p:spPr>
        <p:txBody>
          <a:bodyPr lIns="0" rIns="0">
            <a:normAutofit/>
          </a:bodyPr>
          <a:lstStyle>
            <a:lvl1pPr marL="0" indent="0">
              <a:buNone/>
              <a:defRPr sz="1800"/>
            </a:lvl1pPr>
            <a:lvl2pPr marL="457200" indent="0">
              <a:buNone/>
              <a:defRPr sz="1800"/>
            </a:lvl2pPr>
            <a:lvl3pPr marL="914400" indent="0">
              <a:buNone/>
              <a:defRPr sz="1800"/>
            </a:lvl3pPr>
          </a:lstStyle>
          <a:p>
            <a:pPr lvl="0">
              <a:buNone/>
            </a:pPr>
            <a:r>
              <a:t>Text goes here …</a:t>
            </a:r>
          </a:p>
        </p:txBody>
      </p:sp>
      <p:sp>
        <p:nvSpPr>
          <p:cNvPr id="12" name="Text Placeholder 3">
            <a:extLst>
              <a:ext uri="{FF2B5EF4-FFF2-40B4-BE49-F238E27FC236}">
                <a16:creationId xmlns:a16="http://schemas.microsoft.com/office/drawing/2014/main" id="{C87F8D9E-0BB7-F906-7378-3D6CF1D72D37}"/>
              </a:ext>
            </a:extLst>
          </p:cNvPr>
          <p:cNvSpPr>
            <a:spLocks noGrp="1"/>
          </p:cNvSpPr>
          <p:nvPr>
            <p:ph type="body" idx="21" hasCustomPrompt="1"/>
          </p:nvPr>
        </p:nvSpPr>
        <p:spPr>
          <a:xfrm>
            <a:off x="9221300" y="4072419"/>
            <a:ext cx="2528249" cy="1833117"/>
          </a:xfrm>
        </p:spPr>
        <p:txBody>
          <a:bodyPr lIns="0" rIns="0">
            <a:normAutofit/>
          </a:bodyPr>
          <a:lstStyle>
            <a:lvl1pPr marL="0" indent="0">
              <a:buNone/>
              <a:defRPr sz="1800"/>
            </a:lvl1pPr>
            <a:lvl2pPr marL="457200" indent="0">
              <a:buNone/>
              <a:defRPr sz="1800"/>
            </a:lvl2pPr>
            <a:lvl3pPr marL="914400" indent="0">
              <a:buNone/>
              <a:defRPr sz="1800"/>
            </a:lvl3pPr>
          </a:lstStyle>
          <a:p>
            <a:pPr lvl="0">
              <a:buNone/>
            </a:pPr>
            <a:r>
              <a:t>Text goes here …</a:t>
            </a:r>
          </a:p>
        </p:txBody>
      </p:sp>
      <p:sp>
        <p:nvSpPr>
          <p:cNvPr id="3" name="Picture Placeholder 25">
            <a:extLst>
              <a:ext uri="{FF2B5EF4-FFF2-40B4-BE49-F238E27FC236}">
                <a16:creationId xmlns:a16="http://schemas.microsoft.com/office/drawing/2014/main" id="{8503821B-8800-93EB-1508-DBC3BF76EB85}"/>
              </a:ext>
            </a:extLst>
          </p:cNvPr>
          <p:cNvSpPr>
            <a:spLocks noGrp="1"/>
          </p:cNvSpPr>
          <p:nvPr>
            <p:ph type="pic" idx="26" hasCustomPrompt="1"/>
          </p:nvPr>
        </p:nvSpPr>
        <p:spPr>
          <a:xfrm>
            <a:off x="980876" y="1471966"/>
            <a:ext cx="2528250" cy="2074121"/>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4" name="Picture Placeholder 25">
            <a:extLst>
              <a:ext uri="{FF2B5EF4-FFF2-40B4-BE49-F238E27FC236}">
                <a16:creationId xmlns:a16="http://schemas.microsoft.com/office/drawing/2014/main" id="{9E6DE31D-5272-B0A2-9A99-944865B588A7}"/>
              </a:ext>
            </a:extLst>
          </p:cNvPr>
          <p:cNvSpPr>
            <a:spLocks noGrp="1"/>
          </p:cNvSpPr>
          <p:nvPr>
            <p:ph type="pic" idx="27" hasCustomPrompt="1"/>
          </p:nvPr>
        </p:nvSpPr>
        <p:spPr>
          <a:xfrm>
            <a:off x="3724078" y="1471966"/>
            <a:ext cx="2528250" cy="2074121"/>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8" name="Picture Placeholder 25">
            <a:extLst>
              <a:ext uri="{FF2B5EF4-FFF2-40B4-BE49-F238E27FC236}">
                <a16:creationId xmlns:a16="http://schemas.microsoft.com/office/drawing/2014/main" id="{DF4C66CF-173B-7AD6-91BD-03863C58F9CB}"/>
              </a:ext>
            </a:extLst>
          </p:cNvPr>
          <p:cNvSpPr>
            <a:spLocks noGrp="1"/>
          </p:cNvSpPr>
          <p:nvPr>
            <p:ph type="pic" idx="28" hasCustomPrompt="1"/>
          </p:nvPr>
        </p:nvSpPr>
        <p:spPr>
          <a:xfrm>
            <a:off x="6478099" y="1471966"/>
            <a:ext cx="2528249" cy="2074121"/>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26" name="Picture Placeholder 25">
            <a:extLst>
              <a:ext uri="{FF2B5EF4-FFF2-40B4-BE49-F238E27FC236}">
                <a16:creationId xmlns:a16="http://schemas.microsoft.com/office/drawing/2014/main" id="{37129CDB-7C11-80BA-1AF7-0AAA646EB939}"/>
              </a:ext>
            </a:extLst>
          </p:cNvPr>
          <p:cNvSpPr>
            <a:spLocks noGrp="1"/>
          </p:cNvSpPr>
          <p:nvPr>
            <p:ph type="pic" idx="29" hasCustomPrompt="1"/>
          </p:nvPr>
        </p:nvSpPr>
        <p:spPr>
          <a:xfrm>
            <a:off x="9232119" y="1471966"/>
            <a:ext cx="2528249" cy="2074121"/>
          </a:xfrm>
          <a:prstGeom prst="rect">
            <a:avLst/>
          </a:prstGeom>
          <a:solidFill>
            <a:schemeClr val="bg1">
              <a:lumMod val="95000"/>
            </a:schemeClr>
          </a:solidFill>
        </p:spPr>
        <p:txBody>
          <a:bodyPr anchor="ctr"/>
          <a:lstStyle>
            <a:lvl1pPr marL="0" indent="0" algn="ctr">
              <a:buNone/>
              <a:defRPr>
                <a:solidFill>
                  <a:schemeClr val="accent1"/>
                </a:solidFill>
              </a:defRPr>
            </a:lvl1pPr>
          </a:lstStyle>
          <a:p>
            <a:r>
              <a:t>Click to add a photo</a:t>
            </a:r>
          </a:p>
        </p:txBody>
      </p:sp>
      <p:sp>
        <p:nvSpPr>
          <p:cNvPr id="34" name="Straight Connector 33">
            <a:extLst>
              <a:ext uri="{FF2B5EF4-FFF2-40B4-BE49-F238E27FC236}">
                <a16:creationId xmlns:a16="http://schemas.microsoft.com/office/drawing/2014/main" id="{ABEED82E-09C9-44DA-A86E-5E0F371716E3}"/>
              </a:ext>
            </a:extLst>
          </p:cNvPr>
          <p:cNvSpPr>
            <a:spLocks noGrp="1"/>
          </p:cNvSpPr>
          <p:nvPr/>
        </p:nvSpPr>
        <p:spPr>
          <a:xfrm flipV="1">
            <a:off x="6359206" y="1483117"/>
            <a:ext cx="0" cy="443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35" name="Straight Connector 34">
            <a:extLst>
              <a:ext uri="{FF2B5EF4-FFF2-40B4-BE49-F238E27FC236}">
                <a16:creationId xmlns:a16="http://schemas.microsoft.com/office/drawing/2014/main" id="{AC41F9F5-023B-4E23-B85A-7730E85701CF}"/>
              </a:ext>
            </a:extLst>
          </p:cNvPr>
          <p:cNvSpPr>
            <a:spLocks noGrp="1"/>
          </p:cNvSpPr>
          <p:nvPr/>
        </p:nvSpPr>
        <p:spPr>
          <a:xfrm flipV="1">
            <a:off x="9124708" y="1483117"/>
            <a:ext cx="0" cy="443357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36" name="Text Placeholder 3">
            <a:extLst>
              <a:ext uri="{FF2B5EF4-FFF2-40B4-BE49-F238E27FC236}">
                <a16:creationId xmlns:a16="http://schemas.microsoft.com/office/drawing/2014/main" id="{0D15CA9E-A822-C49E-51E7-F5E601FC933B}"/>
              </a:ext>
            </a:extLst>
          </p:cNvPr>
          <p:cNvSpPr>
            <a:spLocks noGrp="1"/>
          </p:cNvSpPr>
          <p:nvPr>
            <p:ph type="body" idx="30" hasCustomPrompt="1"/>
          </p:nvPr>
        </p:nvSpPr>
        <p:spPr>
          <a:xfrm>
            <a:off x="991699" y="3730079"/>
            <a:ext cx="2527716"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38" name="Text Placeholder 3">
            <a:extLst>
              <a:ext uri="{FF2B5EF4-FFF2-40B4-BE49-F238E27FC236}">
                <a16:creationId xmlns:a16="http://schemas.microsoft.com/office/drawing/2014/main" id="{7B1AF7D5-153A-D2D3-F2EC-4B55FC624AEB}"/>
              </a:ext>
            </a:extLst>
          </p:cNvPr>
          <p:cNvSpPr>
            <a:spLocks noGrp="1"/>
          </p:cNvSpPr>
          <p:nvPr>
            <p:ph type="body" idx="31" hasCustomPrompt="1"/>
          </p:nvPr>
        </p:nvSpPr>
        <p:spPr>
          <a:xfrm>
            <a:off x="3726587" y="3730079"/>
            <a:ext cx="2527716"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39" name="Text Placeholder 3">
            <a:extLst>
              <a:ext uri="{FF2B5EF4-FFF2-40B4-BE49-F238E27FC236}">
                <a16:creationId xmlns:a16="http://schemas.microsoft.com/office/drawing/2014/main" id="{95935367-88BC-20C1-26A5-7EEA64EC778B}"/>
              </a:ext>
            </a:extLst>
          </p:cNvPr>
          <p:cNvSpPr>
            <a:spLocks noGrp="1"/>
          </p:cNvSpPr>
          <p:nvPr>
            <p:ph type="body" idx="32" hasCustomPrompt="1"/>
          </p:nvPr>
        </p:nvSpPr>
        <p:spPr>
          <a:xfrm>
            <a:off x="6469787" y="3730079"/>
            <a:ext cx="2527716"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40" name="Text Placeholder 3">
            <a:extLst>
              <a:ext uri="{FF2B5EF4-FFF2-40B4-BE49-F238E27FC236}">
                <a16:creationId xmlns:a16="http://schemas.microsoft.com/office/drawing/2014/main" id="{9F79719F-DCD6-82A5-AFB7-6DC3BCEE9C6F}"/>
              </a:ext>
            </a:extLst>
          </p:cNvPr>
          <p:cNvSpPr>
            <a:spLocks noGrp="1"/>
          </p:cNvSpPr>
          <p:nvPr>
            <p:ph type="body" idx="33" hasCustomPrompt="1"/>
          </p:nvPr>
        </p:nvSpPr>
        <p:spPr>
          <a:xfrm>
            <a:off x="9232119" y="3730079"/>
            <a:ext cx="2527716" cy="229382"/>
          </a:xfrm>
        </p:spPr>
        <p:txBody>
          <a:bodyPr lIns="0" rIns="0">
            <a:noAutofit/>
          </a:bodyPr>
          <a:lstStyle>
            <a:lvl1pPr marL="0" indent="0">
              <a:buNone/>
              <a:defRPr sz="1600" b="1">
                <a:solidFill>
                  <a:schemeClr val="accent1"/>
                </a:solidFill>
              </a:defRPr>
            </a:lvl1pPr>
            <a:lvl2pPr marL="457200" indent="0">
              <a:buNone/>
              <a:defRPr/>
            </a:lvl2pPr>
            <a:lvl3pPr marL="914400" indent="0">
              <a:buNone/>
              <a:defRPr/>
            </a:lvl3pPr>
          </a:lstStyle>
          <a:p>
            <a:pPr lvl="0">
              <a:buNone/>
            </a:pPr>
            <a:r>
              <a:t>HEADING</a:t>
            </a:r>
          </a:p>
        </p:txBody>
      </p:sp>
      <p:sp>
        <p:nvSpPr>
          <p:cNvPr id="2" name="Slide Number Placeholder 4">
            <a:extLst>
              <a:ext uri="{FF2B5EF4-FFF2-40B4-BE49-F238E27FC236}">
                <a16:creationId xmlns:a16="http://schemas.microsoft.com/office/drawing/2014/main" id="{EB3DA9DE-5606-AC48-FD10-6073C15F5B32}"/>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64" name="Picture 5"/>
          <p:cNvPicPr>
            <a:picLocks noChangeAspect="1"/>
          </p:cNvPicPr>
          <p:nvPr/>
        </p:nvPicPr>
        <p:blipFill>
          <a:blip r:embed="rId3"/>
          <a:stretch>
            <a:fillRect/>
          </a:stretch>
        </p:blipFill>
        <p:spPr>
          <a:xfrm>
            <a:off x="277792" y="0"/>
            <a:ext cx="277793" cy="277793"/>
          </a:xfrm>
          <a:prstGeom prst="rect">
            <a:avLst/>
          </a:prstGeom>
        </p:spPr>
      </p:pic>
      <p:pic>
        <p:nvPicPr>
          <p:cNvPr id="65" name="Picture 12"/>
          <p:cNvPicPr>
            <a:picLocks noChangeAspect="1"/>
          </p:cNvPicPr>
          <p:nvPr/>
        </p:nvPicPr>
        <p:blipFill>
          <a:blip r:embed="rId4"/>
          <a:srcRect/>
          <a:stretch/>
        </p:blipFill>
        <p:spPr>
          <a:xfrm>
            <a:off x="8937523" y="6461313"/>
            <a:ext cx="396687" cy="396687"/>
          </a:xfrm>
          <a:prstGeom prst="rect">
            <a:avLst/>
          </a:prstGeom>
        </p:spPr>
      </p:pic>
      <p:sp>
        <p:nvSpPr>
          <p:cNvPr id="16" name="Rectangle 15">
            <a:extLst>
              <a:ext uri="{FF2B5EF4-FFF2-40B4-BE49-F238E27FC236}">
                <a16:creationId xmlns:a16="http://schemas.microsoft.com/office/drawing/2014/main" id="{0E1DF28D-665E-00A9-A6E5-4E1D9E17D85B}"/>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7" name="Rectangle 16">
            <a:extLst>
              <a:ext uri="{FF2B5EF4-FFF2-40B4-BE49-F238E27FC236}">
                <a16:creationId xmlns:a16="http://schemas.microsoft.com/office/drawing/2014/main" id="{F91F4B1D-B764-73A0-040D-663EE460B8DF}"/>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Straight Connector 6">
            <a:extLst>
              <a:ext uri="{FF2B5EF4-FFF2-40B4-BE49-F238E27FC236}">
                <a16:creationId xmlns:a16="http://schemas.microsoft.com/office/drawing/2014/main" id="{326B6218-D62D-41CC-A485-36A4AE0025F7}"/>
              </a:ext>
            </a:extLst>
          </p:cNvPr>
          <p:cNvSpPr>
            <a:spLocks noGrp="1"/>
          </p:cNvSpPr>
          <p:nvPr/>
        </p:nvSpPr>
        <p:spPr>
          <a:xfrm>
            <a:off x="980876" y="1198726"/>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 With Stats">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476789"/>
            <a:ext cx="10757719" cy="71472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Three Columns With Stats</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9"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9" y="3391409"/>
            <a:ext cx="3314830" cy="2175458"/>
          </a:xfrm>
        </p:spPr>
        <p:txBody>
          <a:bodyPr lIns="0" rIns="0">
            <a:normAutofit/>
          </a:bodyPr>
          <a:lstStyle>
            <a:lvl1pPr marL="0" indent="0">
              <a:buNone/>
              <a:defRPr sz="2400" b="1"/>
            </a:lvl1pPr>
            <a:lvl2pPr marL="457200" indent="0">
              <a:buNone/>
              <a:defRPr sz="1800"/>
            </a:lvl2pPr>
            <a:lvl3pPr marL="914400" indent="0">
              <a:buNone/>
              <a:defRPr sz="1800"/>
            </a:lvl3pPr>
          </a:lstStyle>
          <a:p>
            <a:pPr lvl="0">
              <a:buNone/>
            </a:pPr>
            <a:r>
              <a:t>Text goes here …</a:t>
            </a:r>
          </a:p>
        </p:txBody>
      </p:sp>
      <p:sp>
        <p:nvSpPr>
          <p:cNvPr id="9" name="Text Placeholder 3">
            <a:extLst>
              <a:ext uri="{FF2B5EF4-FFF2-40B4-BE49-F238E27FC236}">
                <a16:creationId xmlns:a16="http://schemas.microsoft.com/office/drawing/2014/main" id="{2C05D48C-4AA9-32C3-E59C-78282BD05461}"/>
              </a:ext>
            </a:extLst>
          </p:cNvPr>
          <p:cNvSpPr>
            <a:spLocks noGrp="1"/>
          </p:cNvSpPr>
          <p:nvPr>
            <p:ph type="body" idx="19" hasCustomPrompt="1"/>
          </p:nvPr>
        </p:nvSpPr>
        <p:spPr>
          <a:xfrm>
            <a:off x="4698458" y="3391409"/>
            <a:ext cx="3314832" cy="2175457"/>
          </a:xfrm>
        </p:spPr>
        <p:txBody>
          <a:bodyPr lIns="0" rIns="0">
            <a:normAutofit/>
          </a:bodyPr>
          <a:lstStyle>
            <a:lvl1pPr marL="0" indent="0">
              <a:buNone/>
              <a:defRPr sz="2400" b="1"/>
            </a:lvl1pPr>
            <a:lvl2pPr marL="457200" indent="0">
              <a:buNone/>
              <a:defRPr sz="1800"/>
            </a:lvl2pPr>
            <a:lvl3pPr marL="914400" indent="0">
              <a:buNone/>
              <a:defRPr sz="1800"/>
            </a:lvl3pPr>
          </a:lstStyle>
          <a:p>
            <a:pPr lvl="0">
              <a:buNone/>
            </a:pPr>
            <a:r>
              <a:t>Text goes here …</a:t>
            </a:r>
          </a:p>
        </p:txBody>
      </p:sp>
      <p:sp>
        <p:nvSpPr>
          <p:cNvPr id="12" name="Text Placeholder 3">
            <a:extLst>
              <a:ext uri="{FF2B5EF4-FFF2-40B4-BE49-F238E27FC236}">
                <a16:creationId xmlns:a16="http://schemas.microsoft.com/office/drawing/2014/main" id="{C87F8D9E-0BB7-F906-7378-3D6CF1D72D37}"/>
              </a:ext>
            </a:extLst>
          </p:cNvPr>
          <p:cNvSpPr>
            <a:spLocks noGrp="1"/>
          </p:cNvSpPr>
          <p:nvPr>
            <p:ph type="body" idx="21" hasCustomPrompt="1"/>
          </p:nvPr>
        </p:nvSpPr>
        <p:spPr>
          <a:xfrm>
            <a:off x="8405219" y="3391409"/>
            <a:ext cx="3344331" cy="2175457"/>
          </a:xfrm>
        </p:spPr>
        <p:txBody>
          <a:bodyPr lIns="0" rIns="0">
            <a:normAutofit/>
          </a:bodyPr>
          <a:lstStyle>
            <a:lvl1pPr marL="0" indent="0">
              <a:buNone/>
              <a:defRPr sz="2400" b="1"/>
            </a:lvl1pPr>
            <a:lvl2pPr marL="457200" indent="0">
              <a:buNone/>
              <a:defRPr sz="1800"/>
            </a:lvl2pPr>
            <a:lvl3pPr marL="914400" indent="0">
              <a:buNone/>
              <a:defRPr sz="1800"/>
            </a:lvl3pPr>
          </a:lstStyle>
          <a:p>
            <a:pPr lvl="0">
              <a:buNone/>
            </a:pPr>
            <a:r>
              <a:t>Text goes here …</a:t>
            </a:r>
          </a:p>
        </p:txBody>
      </p:sp>
      <p:sp>
        <p:nvSpPr>
          <p:cNvPr id="2" name="Straight Connector 1">
            <a:extLst>
              <a:ext uri="{FF2B5EF4-FFF2-40B4-BE49-F238E27FC236}">
                <a16:creationId xmlns:a16="http://schemas.microsoft.com/office/drawing/2014/main" id="{68D3EB10-FAE7-45D4-8D44-909EDA531D11}"/>
              </a:ext>
            </a:extLst>
          </p:cNvPr>
          <p:cNvSpPr>
            <a:spLocks noGrp="1"/>
          </p:cNvSpPr>
          <p:nvPr/>
        </p:nvSpPr>
        <p:spPr>
          <a:xfrm>
            <a:off x="980876" y="3219434"/>
            <a:ext cx="332902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sp>
      <p:sp>
        <p:nvSpPr>
          <p:cNvPr id="13" name="Straight Connector 12">
            <a:extLst>
              <a:ext uri="{FF2B5EF4-FFF2-40B4-BE49-F238E27FC236}">
                <a16:creationId xmlns:a16="http://schemas.microsoft.com/office/drawing/2014/main" id="{6C894BA8-9F50-494B-A483-919D3CDBAA7F}"/>
              </a:ext>
            </a:extLst>
          </p:cNvPr>
          <p:cNvSpPr>
            <a:spLocks noGrp="1"/>
          </p:cNvSpPr>
          <p:nvPr/>
        </p:nvSpPr>
        <p:spPr>
          <a:xfrm>
            <a:off x="4698924" y="3219434"/>
            <a:ext cx="332902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sp>
      <p:sp>
        <p:nvSpPr>
          <p:cNvPr id="27" name="Straight Connector 26">
            <a:extLst>
              <a:ext uri="{FF2B5EF4-FFF2-40B4-BE49-F238E27FC236}">
                <a16:creationId xmlns:a16="http://schemas.microsoft.com/office/drawing/2014/main" id="{D170A6CF-41D7-40B3-82F8-70DB66ABE5D5}"/>
              </a:ext>
            </a:extLst>
          </p:cNvPr>
          <p:cNvSpPr>
            <a:spLocks noGrp="1"/>
          </p:cNvSpPr>
          <p:nvPr/>
        </p:nvSpPr>
        <p:spPr>
          <a:xfrm>
            <a:off x="8402639" y="3219434"/>
            <a:ext cx="3324331"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sp>
      <p:sp>
        <p:nvSpPr>
          <p:cNvPr id="29" name="Text Placeholder 3">
            <a:extLst>
              <a:ext uri="{FF2B5EF4-FFF2-40B4-BE49-F238E27FC236}">
                <a16:creationId xmlns:a16="http://schemas.microsoft.com/office/drawing/2014/main" id="{ACEB21BC-21F4-9D49-0387-C87A447C1FAA}"/>
              </a:ext>
            </a:extLst>
          </p:cNvPr>
          <p:cNvSpPr>
            <a:spLocks noGrp="1"/>
          </p:cNvSpPr>
          <p:nvPr>
            <p:ph type="body" idx="22" hasCustomPrompt="1"/>
          </p:nvPr>
        </p:nvSpPr>
        <p:spPr>
          <a:xfrm>
            <a:off x="991699" y="2077152"/>
            <a:ext cx="3314830" cy="1126014"/>
          </a:xfrm>
        </p:spPr>
        <p:txBody>
          <a:bodyPr lIns="0" rIns="0" anchor="ctr">
            <a:normAutofit/>
          </a:bodyPr>
          <a:lstStyle>
            <a:lvl1pPr marL="0" indent="0">
              <a:buNone/>
              <a:defRPr sz="8000" b="1">
                <a:solidFill>
                  <a:schemeClr val="accent1"/>
                </a:solidFill>
              </a:defRPr>
            </a:lvl1pPr>
            <a:lvl2pPr marL="457200" indent="0">
              <a:buNone/>
              <a:defRPr sz="1800"/>
            </a:lvl2pPr>
            <a:lvl3pPr marL="914400" indent="0">
              <a:buNone/>
              <a:defRPr sz="1800"/>
            </a:lvl3pPr>
          </a:lstStyle>
          <a:p>
            <a:pPr lvl="0">
              <a:buNone/>
            </a:pPr>
            <a:r>
              <a:t>#1</a:t>
            </a:r>
          </a:p>
        </p:txBody>
      </p:sp>
      <p:sp>
        <p:nvSpPr>
          <p:cNvPr id="30" name="Text Placeholder 3">
            <a:extLst>
              <a:ext uri="{FF2B5EF4-FFF2-40B4-BE49-F238E27FC236}">
                <a16:creationId xmlns:a16="http://schemas.microsoft.com/office/drawing/2014/main" id="{85DCE979-2646-9A6E-BBB2-970179C136FF}"/>
              </a:ext>
            </a:extLst>
          </p:cNvPr>
          <p:cNvSpPr>
            <a:spLocks noGrp="1"/>
          </p:cNvSpPr>
          <p:nvPr>
            <p:ph type="body" idx="23" hasCustomPrompt="1"/>
          </p:nvPr>
        </p:nvSpPr>
        <p:spPr>
          <a:xfrm>
            <a:off x="4698458" y="2077152"/>
            <a:ext cx="3314832" cy="1126014"/>
          </a:xfrm>
        </p:spPr>
        <p:txBody>
          <a:bodyPr lIns="0" rIns="0" anchor="ctr">
            <a:normAutofit/>
          </a:bodyPr>
          <a:lstStyle>
            <a:lvl1pPr marL="0" indent="0">
              <a:buNone/>
              <a:defRPr sz="8000" b="1">
                <a:solidFill>
                  <a:schemeClr val="accent1"/>
                </a:solidFill>
              </a:defRPr>
            </a:lvl1pPr>
            <a:lvl2pPr marL="457200" indent="0">
              <a:buNone/>
              <a:defRPr sz="1800"/>
            </a:lvl2pPr>
            <a:lvl3pPr marL="914400" indent="0">
              <a:buNone/>
              <a:defRPr sz="1800"/>
            </a:lvl3pPr>
          </a:lstStyle>
          <a:p>
            <a:pPr lvl="0">
              <a:buNone/>
            </a:pPr>
            <a:r>
              <a:t>#1</a:t>
            </a:r>
          </a:p>
        </p:txBody>
      </p:sp>
      <p:sp>
        <p:nvSpPr>
          <p:cNvPr id="32" name="Text Placeholder 3">
            <a:extLst>
              <a:ext uri="{FF2B5EF4-FFF2-40B4-BE49-F238E27FC236}">
                <a16:creationId xmlns:a16="http://schemas.microsoft.com/office/drawing/2014/main" id="{4787DC20-676B-B7E2-16D2-8D4A989B8993}"/>
              </a:ext>
            </a:extLst>
          </p:cNvPr>
          <p:cNvSpPr>
            <a:spLocks noGrp="1"/>
          </p:cNvSpPr>
          <p:nvPr>
            <p:ph type="body" idx="25" hasCustomPrompt="1"/>
          </p:nvPr>
        </p:nvSpPr>
        <p:spPr>
          <a:xfrm>
            <a:off x="8405520" y="2077152"/>
            <a:ext cx="3310161" cy="1126014"/>
          </a:xfrm>
        </p:spPr>
        <p:txBody>
          <a:bodyPr lIns="0" rIns="0" anchor="ctr">
            <a:normAutofit/>
          </a:bodyPr>
          <a:lstStyle>
            <a:lvl1pPr marL="0" indent="0">
              <a:buNone/>
              <a:defRPr sz="8000" b="1">
                <a:solidFill>
                  <a:schemeClr val="accent1"/>
                </a:solidFill>
              </a:defRPr>
            </a:lvl1pPr>
            <a:lvl2pPr marL="457200" indent="0">
              <a:buNone/>
              <a:defRPr sz="1800"/>
            </a:lvl2pPr>
            <a:lvl3pPr marL="914400" indent="0">
              <a:buNone/>
              <a:defRPr sz="1800"/>
            </a:lvl3pPr>
          </a:lstStyle>
          <a:p>
            <a:pPr lvl="0">
              <a:buNone/>
            </a:pPr>
            <a:r>
              <a:t>#1</a:t>
            </a:r>
          </a:p>
        </p:txBody>
      </p:sp>
      <p:sp>
        <p:nvSpPr>
          <p:cNvPr id="3" name="Slide Number Placeholder 4">
            <a:extLst>
              <a:ext uri="{FF2B5EF4-FFF2-40B4-BE49-F238E27FC236}">
                <a16:creationId xmlns:a16="http://schemas.microsoft.com/office/drawing/2014/main" id="{820CC089-69CB-55F5-2BFE-68930202E248}"/>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50" name="Picture 3"/>
          <p:cNvPicPr>
            <a:picLocks noChangeAspect="1"/>
          </p:cNvPicPr>
          <p:nvPr/>
        </p:nvPicPr>
        <p:blipFill>
          <a:blip r:embed="rId3"/>
          <a:stretch>
            <a:fillRect/>
          </a:stretch>
        </p:blipFill>
        <p:spPr>
          <a:xfrm>
            <a:off x="277792" y="0"/>
            <a:ext cx="277793" cy="277793"/>
          </a:xfrm>
          <a:prstGeom prst="rect">
            <a:avLst/>
          </a:prstGeom>
        </p:spPr>
      </p:pic>
      <p:pic>
        <p:nvPicPr>
          <p:cNvPr id="51" name="Picture 4"/>
          <p:cNvPicPr>
            <a:picLocks noChangeAspect="1"/>
          </p:cNvPicPr>
          <p:nvPr/>
        </p:nvPicPr>
        <p:blipFill>
          <a:blip r:embed="rId4"/>
          <a:srcRect/>
          <a:stretch/>
        </p:blipFill>
        <p:spPr>
          <a:xfrm>
            <a:off x="8937523" y="6461313"/>
            <a:ext cx="396687" cy="396687"/>
          </a:xfrm>
          <a:prstGeom prst="rect">
            <a:avLst/>
          </a:prstGeom>
        </p:spPr>
      </p:pic>
      <p:sp>
        <p:nvSpPr>
          <p:cNvPr id="10" name="Rectangle 9">
            <a:extLst>
              <a:ext uri="{FF2B5EF4-FFF2-40B4-BE49-F238E27FC236}">
                <a16:creationId xmlns:a16="http://schemas.microsoft.com/office/drawing/2014/main" id="{142D0681-3706-00B3-09CD-2C846D45F75C}"/>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4" name="Rectangle 13">
            <a:extLst>
              <a:ext uri="{FF2B5EF4-FFF2-40B4-BE49-F238E27FC236}">
                <a16:creationId xmlns:a16="http://schemas.microsoft.com/office/drawing/2014/main" id="{EEFB3588-F35B-0F4C-2E5F-F8A73973CF49}"/>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Straight Connector 5">
            <a:extLst>
              <a:ext uri="{FF2B5EF4-FFF2-40B4-BE49-F238E27FC236}">
                <a16:creationId xmlns:a16="http://schemas.microsoft.com/office/drawing/2014/main" id="{2A40482B-50A1-4DE8-B9E5-5D5E6F8E1E13}"/>
              </a:ext>
            </a:extLst>
          </p:cNvPr>
          <p:cNvSpPr>
            <a:spLocks noGrp="1"/>
          </p:cNvSpPr>
          <p:nvPr/>
        </p:nvSpPr>
        <p:spPr>
          <a:xfrm>
            <a:off x="980876" y="1198726"/>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
        <p:nvSpPr>
          <p:cNvPr id="7" name="Straight Connector 6">
            <a:extLst>
              <a:ext uri="{FF2B5EF4-FFF2-40B4-BE49-F238E27FC236}">
                <a16:creationId xmlns:a16="http://schemas.microsoft.com/office/drawing/2014/main" id="{69F98821-DCB1-4AB7-BD4B-7DA3AD93D1F5}"/>
              </a:ext>
            </a:extLst>
          </p:cNvPr>
          <p:cNvSpPr>
            <a:spLocks noGrp="1"/>
          </p:cNvSpPr>
          <p:nvPr/>
        </p:nvSpPr>
        <p:spPr>
          <a:xfrm flipV="1">
            <a:off x="4505931" y="2084364"/>
            <a:ext cx="0" cy="34825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8" name="Straight Connector 7">
            <a:extLst>
              <a:ext uri="{FF2B5EF4-FFF2-40B4-BE49-F238E27FC236}">
                <a16:creationId xmlns:a16="http://schemas.microsoft.com/office/drawing/2014/main" id="{EFDF42CC-061F-44D6-A618-FE648F129B2B}"/>
              </a:ext>
            </a:extLst>
          </p:cNvPr>
          <p:cNvSpPr>
            <a:spLocks noGrp="1"/>
          </p:cNvSpPr>
          <p:nvPr/>
        </p:nvSpPr>
        <p:spPr>
          <a:xfrm flipV="1">
            <a:off x="8211756" y="2084364"/>
            <a:ext cx="0" cy="34825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lumns With Stats">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476789"/>
            <a:ext cx="10757719" cy="71472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Four Columns With Stats</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9"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91699" y="3391409"/>
            <a:ext cx="2528249" cy="2175458"/>
          </a:xfrm>
        </p:spPr>
        <p:txBody>
          <a:bodyPr lIns="0" rIns="0">
            <a:normAutofit/>
          </a:bodyPr>
          <a:lstStyle>
            <a:lvl1pPr marL="0" indent="0">
              <a:buNone/>
              <a:defRPr sz="2400" b="1"/>
            </a:lvl1pPr>
            <a:lvl2pPr marL="457200" indent="0">
              <a:buNone/>
              <a:defRPr sz="1800"/>
            </a:lvl2pPr>
            <a:lvl3pPr marL="914400" indent="0">
              <a:buNone/>
              <a:defRPr sz="1800"/>
            </a:lvl3pPr>
          </a:lstStyle>
          <a:p>
            <a:pPr lvl="0">
              <a:buNone/>
            </a:pPr>
            <a:r>
              <a:t>Text goes here …</a:t>
            </a:r>
          </a:p>
        </p:txBody>
      </p:sp>
      <p:sp>
        <p:nvSpPr>
          <p:cNvPr id="9" name="Text Placeholder 3">
            <a:extLst>
              <a:ext uri="{FF2B5EF4-FFF2-40B4-BE49-F238E27FC236}">
                <a16:creationId xmlns:a16="http://schemas.microsoft.com/office/drawing/2014/main" id="{2C05D48C-4AA9-32C3-E59C-78282BD05461}"/>
              </a:ext>
            </a:extLst>
          </p:cNvPr>
          <p:cNvSpPr>
            <a:spLocks noGrp="1"/>
          </p:cNvSpPr>
          <p:nvPr>
            <p:ph type="body" idx="19" hasCustomPrompt="1"/>
          </p:nvPr>
        </p:nvSpPr>
        <p:spPr>
          <a:xfrm>
            <a:off x="3734899" y="3391409"/>
            <a:ext cx="2528249" cy="2175457"/>
          </a:xfrm>
        </p:spPr>
        <p:txBody>
          <a:bodyPr lIns="0" rIns="0">
            <a:normAutofit/>
          </a:bodyPr>
          <a:lstStyle>
            <a:lvl1pPr marL="0" indent="0">
              <a:buNone/>
              <a:defRPr sz="2400" b="1"/>
            </a:lvl1pPr>
            <a:lvl2pPr marL="457200" indent="0">
              <a:buNone/>
              <a:defRPr sz="1800"/>
            </a:lvl2pPr>
            <a:lvl3pPr marL="914400" indent="0">
              <a:buNone/>
              <a:defRPr sz="1800"/>
            </a:lvl3pPr>
          </a:lstStyle>
          <a:p>
            <a:pPr lvl="0">
              <a:buNone/>
            </a:pPr>
            <a:r>
              <a:t>Text goes here …</a:t>
            </a:r>
          </a:p>
        </p:txBody>
      </p:sp>
      <p:sp>
        <p:nvSpPr>
          <p:cNvPr id="10" name="Text Placeholder 3">
            <a:extLst>
              <a:ext uri="{FF2B5EF4-FFF2-40B4-BE49-F238E27FC236}">
                <a16:creationId xmlns:a16="http://schemas.microsoft.com/office/drawing/2014/main" id="{9DA69184-351A-0F32-D962-F3CA1B334608}"/>
              </a:ext>
            </a:extLst>
          </p:cNvPr>
          <p:cNvSpPr>
            <a:spLocks noGrp="1"/>
          </p:cNvSpPr>
          <p:nvPr>
            <p:ph type="body" idx="20" hasCustomPrompt="1"/>
          </p:nvPr>
        </p:nvSpPr>
        <p:spPr>
          <a:xfrm>
            <a:off x="6478099" y="3391409"/>
            <a:ext cx="2528249" cy="2175457"/>
          </a:xfrm>
        </p:spPr>
        <p:txBody>
          <a:bodyPr lIns="0" rIns="0">
            <a:normAutofit/>
          </a:bodyPr>
          <a:lstStyle>
            <a:lvl1pPr marL="0" indent="0">
              <a:buNone/>
              <a:defRPr sz="2400" b="1"/>
            </a:lvl1pPr>
            <a:lvl2pPr marL="457200" indent="0">
              <a:buNone/>
              <a:defRPr sz="1800"/>
            </a:lvl2pPr>
            <a:lvl3pPr marL="914400" indent="0">
              <a:buNone/>
              <a:defRPr sz="1800"/>
            </a:lvl3pPr>
          </a:lstStyle>
          <a:p>
            <a:pPr lvl="0">
              <a:buNone/>
            </a:pPr>
            <a:r>
              <a:t>Text goes here …</a:t>
            </a:r>
          </a:p>
        </p:txBody>
      </p:sp>
      <p:sp>
        <p:nvSpPr>
          <p:cNvPr id="12" name="Text Placeholder 3">
            <a:extLst>
              <a:ext uri="{FF2B5EF4-FFF2-40B4-BE49-F238E27FC236}">
                <a16:creationId xmlns:a16="http://schemas.microsoft.com/office/drawing/2014/main" id="{C87F8D9E-0BB7-F906-7378-3D6CF1D72D37}"/>
              </a:ext>
            </a:extLst>
          </p:cNvPr>
          <p:cNvSpPr>
            <a:spLocks noGrp="1"/>
          </p:cNvSpPr>
          <p:nvPr>
            <p:ph type="body" idx="21" hasCustomPrompt="1"/>
          </p:nvPr>
        </p:nvSpPr>
        <p:spPr>
          <a:xfrm>
            <a:off x="9221300" y="3391409"/>
            <a:ext cx="2528249" cy="2175457"/>
          </a:xfrm>
        </p:spPr>
        <p:txBody>
          <a:bodyPr lIns="0" rIns="0">
            <a:normAutofit/>
          </a:bodyPr>
          <a:lstStyle>
            <a:lvl1pPr marL="0" indent="0">
              <a:buNone/>
              <a:defRPr sz="2400" b="1"/>
            </a:lvl1pPr>
            <a:lvl2pPr marL="457200" indent="0">
              <a:buNone/>
              <a:defRPr sz="1800"/>
            </a:lvl2pPr>
            <a:lvl3pPr marL="914400" indent="0">
              <a:buNone/>
              <a:defRPr sz="1800"/>
            </a:lvl3pPr>
          </a:lstStyle>
          <a:p>
            <a:pPr lvl="0">
              <a:buNone/>
            </a:pPr>
            <a:r>
              <a:t>Text goes here …</a:t>
            </a:r>
          </a:p>
        </p:txBody>
      </p:sp>
      <p:sp>
        <p:nvSpPr>
          <p:cNvPr id="2" name="Straight Connector 1">
            <a:extLst>
              <a:ext uri="{FF2B5EF4-FFF2-40B4-BE49-F238E27FC236}">
                <a16:creationId xmlns:a16="http://schemas.microsoft.com/office/drawing/2014/main" id="{6F3EA1E9-1061-42CA-8A61-7F7F6FAFF404}"/>
              </a:ext>
            </a:extLst>
          </p:cNvPr>
          <p:cNvSpPr>
            <a:spLocks noGrp="1"/>
          </p:cNvSpPr>
          <p:nvPr/>
        </p:nvSpPr>
        <p:spPr>
          <a:xfrm>
            <a:off x="980876" y="3219434"/>
            <a:ext cx="253907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sp>
      <p:sp>
        <p:nvSpPr>
          <p:cNvPr id="13" name="Straight Connector 12">
            <a:extLst>
              <a:ext uri="{FF2B5EF4-FFF2-40B4-BE49-F238E27FC236}">
                <a16:creationId xmlns:a16="http://schemas.microsoft.com/office/drawing/2014/main" id="{F7F2DFF3-144E-46A2-AB4A-66C6076C3F5A}"/>
              </a:ext>
            </a:extLst>
          </p:cNvPr>
          <p:cNvSpPr>
            <a:spLocks noGrp="1"/>
          </p:cNvSpPr>
          <p:nvPr/>
        </p:nvSpPr>
        <p:spPr>
          <a:xfrm>
            <a:off x="3712787" y="3219434"/>
            <a:ext cx="253907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sp>
      <p:sp>
        <p:nvSpPr>
          <p:cNvPr id="14" name="Straight Connector 13">
            <a:extLst>
              <a:ext uri="{FF2B5EF4-FFF2-40B4-BE49-F238E27FC236}">
                <a16:creationId xmlns:a16="http://schemas.microsoft.com/office/drawing/2014/main" id="{92BCBE2A-DBBE-4BB3-8326-39DD31CBE324}"/>
              </a:ext>
            </a:extLst>
          </p:cNvPr>
          <p:cNvSpPr>
            <a:spLocks noGrp="1"/>
          </p:cNvSpPr>
          <p:nvPr/>
        </p:nvSpPr>
        <p:spPr>
          <a:xfrm>
            <a:off x="6467276" y="3219434"/>
            <a:ext cx="253907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sp>
      <p:sp>
        <p:nvSpPr>
          <p:cNvPr id="27" name="Straight Connector 26">
            <a:extLst>
              <a:ext uri="{FF2B5EF4-FFF2-40B4-BE49-F238E27FC236}">
                <a16:creationId xmlns:a16="http://schemas.microsoft.com/office/drawing/2014/main" id="{A00E1288-03D8-4E19-B2FC-630569F23BE0}"/>
              </a:ext>
            </a:extLst>
          </p:cNvPr>
          <p:cNvSpPr>
            <a:spLocks noGrp="1"/>
          </p:cNvSpPr>
          <p:nvPr/>
        </p:nvSpPr>
        <p:spPr>
          <a:xfrm>
            <a:off x="9187898" y="3219434"/>
            <a:ext cx="253907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sp>
      <p:sp>
        <p:nvSpPr>
          <p:cNvPr id="29" name="Text Placeholder 3">
            <a:extLst>
              <a:ext uri="{FF2B5EF4-FFF2-40B4-BE49-F238E27FC236}">
                <a16:creationId xmlns:a16="http://schemas.microsoft.com/office/drawing/2014/main" id="{ACEB21BC-21F4-9D49-0387-C87A447C1FAA}"/>
              </a:ext>
            </a:extLst>
          </p:cNvPr>
          <p:cNvSpPr>
            <a:spLocks noGrp="1"/>
          </p:cNvSpPr>
          <p:nvPr>
            <p:ph type="body" idx="22" hasCustomPrompt="1"/>
          </p:nvPr>
        </p:nvSpPr>
        <p:spPr>
          <a:xfrm>
            <a:off x="991699" y="2029652"/>
            <a:ext cx="2528249" cy="1126014"/>
          </a:xfrm>
        </p:spPr>
        <p:txBody>
          <a:bodyPr lIns="0" rIns="0" anchor="ctr">
            <a:normAutofit/>
          </a:bodyPr>
          <a:lstStyle>
            <a:lvl1pPr marL="0" indent="0">
              <a:buNone/>
              <a:defRPr sz="8000" b="1">
                <a:solidFill>
                  <a:schemeClr val="accent1"/>
                </a:solidFill>
              </a:defRPr>
            </a:lvl1pPr>
            <a:lvl2pPr marL="457200" indent="0">
              <a:buNone/>
              <a:defRPr sz="1800"/>
            </a:lvl2pPr>
            <a:lvl3pPr marL="914400" indent="0">
              <a:buNone/>
              <a:defRPr sz="1800"/>
            </a:lvl3pPr>
          </a:lstStyle>
          <a:p>
            <a:pPr lvl="0">
              <a:buNone/>
            </a:pPr>
            <a:r>
              <a:t>#1</a:t>
            </a:r>
          </a:p>
        </p:txBody>
      </p:sp>
      <p:sp>
        <p:nvSpPr>
          <p:cNvPr id="30" name="Text Placeholder 3">
            <a:extLst>
              <a:ext uri="{FF2B5EF4-FFF2-40B4-BE49-F238E27FC236}">
                <a16:creationId xmlns:a16="http://schemas.microsoft.com/office/drawing/2014/main" id="{85DCE979-2646-9A6E-BBB2-970179C136FF}"/>
              </a:ext>
            </a:extLst>
          </p:cNvPr>
          <p:cNvSpPr>
            <a:spLocks noGrp="1"/>
          </p:cNvSpPr>
          <p:nvPr>
            <p:ph type="body" idx="23" hasCustomPrompt="1"/>
          </p:nvPr>
        </p:nvSpPr>
        <p:spPr>
          <a:xfrm>
            <a:off x="3712321" y="2029652"/>
            <a:ext cx="2528249" cy="1126014"/>
          </a:xfrm>
        </p:spPr>
        <p:txBody>
          <a:bodyPr lIns="0" rIns="0" anchor="ctr">
            <a:normAutofit/>
          </a:bodyPr>
          <a:lstStyle>
            <a:lvl1pPr marL="0" indent="0">
              <a:buNone/>
              <a:defRPr sz="8000" b="1">
                <a:solidFill>
                  <a:schemeClr val="accent1"/>
                </a:solidFill>
              </a:defRPr>
            </a:lvl1pPr>
            <a:lvl2pPr marL="457200" indent="0">
              <a:buNone/>
              <a:defRPr sz="1800"/>
            </a:lvl2pPr>
            <a:lvl3pPr marL="914400" indent="0">
              <a:buNone/>
              <a:defRPr sz="1800"/>
            </a:lvl3pPr>
          </a:lstStyle>
          <a:p>
            <a:pPr lvl="0">
              <a:buNone/>
            </a:pPr>
            <a:r>
              <a:t>#1</a:t>
            </a:r>
          </a:p>
        </p:txBody>
      </p:sp>
      <p:sp>
        <p:nvSpPr>
          <p:cNvPr id="31" name="Text Placeholder 3">
            <a:extLst>
              <a:ext uri="{FF2B5EF4-FFF2-40B4-BE49-F238E27FC236}">
                <a16:creationId xmlns:a16="http://schemas.microsoft.com/office/drawing/2014/main" id="{A0F17997-C88B-CC9B-4471-FD928534E2E9}"/>
              </a:ext>
            </a:extLst>
          </p:cNvPr>
          <p:cNvSpPr>
            <a:spLocks noGrp="1"/>
          </p:cNvSpPr>
          <p:nvPr>
            <p:ph type="body" idx="24" hasCustomPrompt="1"/>
          </p:nvPr>
        </p:nvSpPr>
        <p:spPr>
          <a:xfrm>
            <a:off x="6466810" y="2029652"/>
            <a:ext cx="2528249" cy="1126014"/>
          </a:xfrm>
        </p:spPr>
        <p:txBody>
          <a:bodyPr lIns="0" rIns="0" anchor="ctr">
            <a:normAutofit/>
          </a:bodyPr>
          <a:lstStyle>
            <a:lvl1pPr marL="0" indent="0">
              <a:buNone/>
              <a:defRPr sz="8000" b="1">
                <a:solidFill>
                  <a:schemeClr val="accent1"/>
                </a:solidFill>
              </a:defRPr>
            </a:lvl1pPr>
            <a:lvl2pPr marL="457200" indent="0">
              <a:buNone/>
              <a:defRPr sz="1800"/>
            </a:lvl2pPr>
            <a:lvl3pPr marL="914400" indent="0">
              <a:buNone/>
              <a:defRPr sz="1800"/>
            </a:lvl3pPr>
          </a:lstStyle>
          <a:p>
            <a:pPr lvl="0">
              <a:buNone/>
            </a:pPr>
            <a:r>
              <a:t>#1</a:t>
            </a:r>
          </a:p>
        </p:txBody>
      </p:sp>
      <p:sp>
        <p:nvSpPr>
          <p:cNvPr id="32" name="Text Placeholder 3">
            <a:extLst>
              <a:ext uri="{FF2B5EF4-FFF2-40B4-BE49-F238E27FC236}">
                <a16:creationId xmlns:a16="http://schemas.microsoft.com/office/drawing/2014/main" id="{4787DC20-676B-B7E2-16D2-8D4A989B8993}"/>
              </a:ext>
            </a:extLst>
          </p:cNvPr>
          <p:cNvSpPr>
            <a:spLocks noGrp="1"/>
          </p:cNvSpPr>
          <p:nvPr>
            <p:ph type="body" idx="25" hasCustomPrompt="1"/>
          </p:nvPr>
        </p:nvSpPr>
        <p:spPr>
          <a:xfrm>
            <a:off x="9187432" y="2029652"/>
            <a:ext cx="2528249" cy="1126014"/>
          </a:xfrm>
        </p:spPr>
        <p:txBody>
          <a:bodyPr lIns="0" rIns="0" anchor="ctr">
            <a:normAutofit/>
          </a:bodyPr>
          <a:lstStyle>
            <a:lvl1pPr marL="0" indent="0">
              <a:buNone/>
              <a:defRPr sz="8000" b="1">
                <a:solidFill>
                  <a:schemeClr val="accent1"/>
                </a:solidFill>
              </a:defRPr>
            </a:lvl1pPr>
            <a:lvl2pPr marL="457200" indent="0">
              <a:buNone/>
              <a:defRPr sz="1800"/>
            </a:lvl2pPr>
            <a:lvl3pPr marL="914400" indent="0">
              <a:buNone/>
              <a:defRPr sz="1800"/>
            </a:lvl3pPr>
          </a:lstStyle>
          <a:p>
            <a:pPr lvl="0">
              <a:buNone/>
            </a:pPr>
            <a:r>
              <a:t>#1</a:t>
            </a:r>
          </a:p>
        </p:txBody>
      </p:sp>
      <p:sp>
        <p:nvSpPr>
          <p:cNvPr id="3" name="Slide Number Placeholder 4">
            <a:extLst>
              <a:ext uri="{FF2B5EF4-FFF2-40B4-BE49-F238E27FC236}">
                <a16:creationId xmlns:a16="http://schemas.microsoft.com/office/drawing/2014/main" id="{5587C790-D6C0-D378-FD8E-5C267613C46A}"/>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53" name="Picture 3"/>
          <p:cNvPicPr>
            <a:picLocks noChangeAspect="1"/>
          </p:cNvPicPr>
          <p:nvPr/>
        </p:nvPicPr>
        <p:blipFill>
          <a:blip r:embed="rId3"/>
          <a:stretch>
            <a:fillRect/>
          </a:stretch>
        </p:blipFill>
        <p:spPr>
          <a:xfrm>
            <a:off x="277792" y="0"/>
            <a:ext cx="277793" cy="277793"/>
          </a:xfrm>
          <a:prstGeom prst="rect">
            <a:avLst/>
          </a:prstGeom>
        </p:spPr>
      </p:pic>
      <p:pic>
        <p:nvPicPr>
          <p:cNvPr id="54" name="Picture 4"/>
          <p:cNvPicPr>
            <a:picLocks noChangeAspect="1"/>
          </p:cNvPicPr>
          <p:nvPr/>
        </p:nvPicPr>
        <p:blipFill>
          <a:blip r:embed="rId4"/>
          <a:srcRect/>
          <a:stretch/>
        </p:blipFill>
        <p:spPr>
          <a:xfrm>
            <a:off x="8937523" y="6461313"/>
            <a:ext cx="396687" cy="396687"/>
          </a:xfrm>
          <a:prstGeom prst="rect">
            <a:avLst/>
          </a:prstGeom>
        </p:spPr>
      </p:pic>
      <p:sp>
        <p:nvSpPr>
          <p:cNvPr id="15" name="Rectangle 14">
            <a:extLst>
              <a:ext uri="{FF2B5EF4-FFF2-40B4-BE49-F238E27FC236}">
                <a16:creationId xmlns:a16="http://schemas.microsoft.com/office/drawing/2014/main" id="{3284C8EE-16B5-EA52-9A98-72533E9D8D43}"/>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6" name="Rectangle 15">
            <a:extLst>
              <a:ext uri="{FF2B5EF4-FFF2-40B4-BE49-F238E27FC236}">
                <a16:creationId xmlns:a16="http://schemas.microsoft.com/office/drawing/2014/main" id="{0971631E-8636-E450-B3CE-46E0E4C0A8DB}"/>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Straight Connector 5">
            <a:extLst>
              <a:ext uri="{FF2B5EF4-FFF2-40B4-BE49-F238E27FC236}">
                <a16:creationId xmlns:a16="http://schemas.microsoft.com/office/drawing/2014/main" id="{E7EDD343-C439-4AE7-B408-FDD85FFBAE47}"/>
              </a:ext>
            </a:extLst>
          </p:cNvPr>
          <p:cNvSpPr>
            <a:spLocks noGrp="1"/>
          </p:cNvSpPr>
          <p:nvPr/>
        </p:nvSpPr>
        <p:spPr>
          <a:xfrm>
            <a:off x="980876" y="1198726"/>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
        <p:nvSpPr>
          <p:cNvPr id="7" name="Straight Connector 6">
            <a:extLst>
              <a:ext uri="{FF2B5EF4-FFF2-40B4-BE49-F238E27FC236}">
                <a16:creationId xmlns:a16="http://schemas.microsoft.com/office/drawing/2014/main" id="{2548AB5D-4582-4062-BD96-F35805310B10}"/>
              </a:ext>
            </a:extLst>
          </p:cNvPr>
          <p:cNvSpPr>
            <a:spLocks noGrp="1"/>
          </p:cNvSpPr>
          <p:nvPr/>
        </p:nvSpPr>
        <p:spPr>
          <a:xfrm flipV="1">
            <a:off x="3627157" y="2022440"/>
            <a:ext cx="0" cy="35444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8" name="Straight Connector 7">
            <a:extLst>
              <a:ext uri="{FF2B5EF4-FFF2-40B4-BE49-F238E27FC236}">
                <a16:creationId xmlns:a16="http://schemas.microsoft.com/office/drawing/2014/main" id="{589BF13E-29C6-4AE3-9432-BD0A6B850CB2}"/>
              </a:ext>
            </a:extLst>
          </p:cNvPr>
          <p:cNvSpPr>
            <a:spLocks noGrp="1"/>
          </p:cNvSpPr>
          <p:nvPr/>
        </p:nvSpPr>
        <p:spPr>
          <a:xfrm flipV="1">
            <a:off x="6359206" y="2022440"/>
            <a:ext cx="0" cy="35444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11" name="Straight Connector 10">
            <a:extLst>
              <a:ext uri="{FF2B5EF4-FFF2-40B4-BE49-F238E27FC236}">
                <a16:creationId xmlns:a16="http://schemas.microsoft.com/office/drawing/2014/main" id="{B36986E7-6D3D-4383-936D-51B80CE8ADB1}"/>
              </a:ext>
            </a:extLst>
          </p:cNvPr>
          <p:cNvSpPr>
            <a:spLocks noGrp="1"/>
          </p:cNvSpPr>
          <p:nvPr/>
        </p:nvSpPr>
        <p:spPr>
          <a:xfrm flipV="1">
            <a:off x="9100958" y="2022440"/>
            <a:ext cx="0" cy="354442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A State Map">
    <p:bg>
      <p:bgPr>
        <a:solidFill>
          <a:schemeClr val="bg1"/>
        </a:solidFill>
        <a:effectLst/>
      </p:bgPr>
    </p:bg>
    <p:spTree>
      <p:nvGrpSpPr>
        <p:cNvPr id="1" name=""/>
        <p:cNvGrpSpPr/>
        <p:nvPr/>
      </p:nvGrpSpPr>
      <p:grpSpPr>
        <a:xfrm>
          <a:off x="0" y="0"/>
          <a:ext cx="0" cy="0"/>
          <a:chOff x="0" y="0"/>
          <a:chExt cx="0" cy="0"/>
        </a:xfrm>
      </p:grpSpPr>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476789"/>
            <a:ext cx="10757719" cy="714726"/>
          </a:xfrm>
        </p:spPr>
        <p:txBody>
          <a:bodyPr lIns="0" rIns="0">
            <a:normAutofit/>
          </a:bodyPr>
          <a:lstStyle>
            <a:lvl1pPr marL="0" indent="0" algn="l">
              <a:lnSpc>
                <a:spcPct val="90000"/>
              </a:lnSpc>
              <a:buFontTx/>
              <a:buNone/>
              <a:defRPr sz="4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Pennsylvania State Map</a:t>
            </a:r>
          </a:p>
        </p:txBody>
      </p:sp>
      <p:sp>
        <p:nvSpPr>
          <p:cNvPr id="20" name="Rectangle 19">
            <a:extLst>
              <a:ext uri="{FF2B5EF4-FFF2-40B4-BE49-F238E27FC236}">
                <a16:creationId xmlns:a16="http://schemas.microsoft.com/office/drawing/2014/main" id="{DF416B0D-2499-002F-7721-8DA278880EFD}"/>
              </a:ext>
            </a:extLst>
          </p:cNvPr>
          <p:cNvSpPr>
            <a:spLocks noGrp="1"/>
          </p:cNvSpPr>
          <p:nvPr/>
        </p:nvSpPr>
        <p:spPr>
          <a:xfrm rot="5400000">
            <a:off x="4411715" y="2332192"/>
            <a:ext cx="391886" cy="865973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Text Placeholder 13">
            <a:extLst>
              <a:ext uri="{FF2B5EF4-FFF2-40B4-BE49-F238E27FC236}">
                <a16:creationId xmlns:a16="http://schemas.microsoft.com/office/drawing/2014/main" id="{59B13EA6-95FC-4931-D94E-76CD767560A5}"/>
              </a:ext>
            </a:extLst>
          </p:cNvPr>
          <p:cNvSpPr>
            <a:spLocks noGrp="1"/>
          </p:cNvSpPr>
          <p:nvPr>
            <p:ph type="body" idx="14" hasCustomPrompt="1"/>
          </p:nvPr>
        </p:nvSpPr>
        <p:spPr>
          <a:xfrm>
            <a:off x="992026" y="6466113"/>
            <a:ext cx="7945496" cy="375619"/>
          </a:xfrm>
        </p:spPr>
        <p:txBody>
          <a:bodyPr wrap="square" lIns="0" tIns="0" rIns="0" bIns="0" anchor="ctr">
            <a:noAutofit/>
          </a:bodyPr>
          <a:lstStyle>
            <a:lvl1pPr marL="0" indent="0" algn="l">
              <a:buFontTx/>
              <a:buNone/>
              <a:defRPr sz="12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pic>
        <p:nvPicPr>
          <p:cNvPr id="33" name="Picture 23"/>
          <p:cNvPicPr>
            <a:picLocks noChangeAspect="1"/>
          </p:cNvPicPr>
          <p:nvPr/>
        </p:nvPicPr>
        <p:blipFill>
          <a:blip r:embed="rId2"/>
          <a:srcRect/>
          <a:stretch/>
        </p:blipFill>
        <p:spPr>
          <a:xfrm>
            <a:off x="9615592" y="6042015"/>
            <a:ext cx="2298616" cy="714726"/>
          </a:xfrm>
          <a:prstGeom prst="rect">
            <a:avLst/>
          </a:prstGeom>
        </p:spPr>
      </p:pic>
      <p:sp>
        <p:nvSpPr>
          <p:cNvPr id="25" name="Text Placeholder 3">
            <a:extLst>
              <a:ext uri="{FF2B5EF4-FFF2-40B4-BE49-F238E27FC236}">
                <a16:creationId xmlns:a16="http://schemas.microsoft.com/office/drawing/2014/main" id="{D23964E1-6855-DA34-3FCD-C6CB08B5859D}"/>
              </a:ext>
            </a:extLst>
          </p:cNvPr>
          <p:cNvSpPr>
            <a:spLocks noGrp="1"/>
          </p:cNvSpPr>
          <p:nvPr>
            <p:ph type="body" idx="10" hasCustomPrompt="1"/>
          </p:nvPr>
        </p:nvSpPr>
        <p:spPr>
          <a:xfrm>
            <a:off x="9334209" y="1923854"/>
            <a:ext cx="2415865" cy="2175458"/>
          </a:xfrm>
        </p:spPr>
        <p:txBody>
          <a:bodyPr lIns="0" rIns="0">
            <a:normAutofit/>
          </a:bodyPr>
          <a:lstStyle>
            <a:lvl1pPr marL="0" indent="0">
              <a:buNone/>
              <a:defRPr sz="2000" b="1"/>
            </a:lvl1pPr>
            <a:lvl2pPr marL="457200" indent="0">
              <a:buNone/>
              <a:defRPr sz="1800"/>
            </a:lvl2pPr>
            <a:lvl3pPr marL="914400" indent="0">
              <a:buNone/>
              <a:defRPr sz="1800"/>
            </a:lvl3pPr>
          </a:lstStyle>
          <a:p>
            <a:pPr lvl="0">
              <a:buNone/>
            </a:pPr>
            <a:r>
              <a:t>Text goes here …</a:t>
            </a:r>
          </a:p>
        </p:txBody>
      </p:sp>
      <p:pic>
        <p:nvPicPr>
          <p:cNvPr id="35" name="Picture 3"/>
          <p:cNvPicPr>
            <a:picLocks noChangeAspect="1"/>
          </p:cNvPicPr>
          <p:nvPr/>
        </p:nvPicPr>
        <p:blipFill>
          <a:blip r:embed="rId3"/>
          <a:srcRect/>
          <a:stretch/>
        </p:blipFill>
        <p:spPr>
          <a:xfrm>
            <a:off x="416690" y="1314940"/>
            <a:ext cx="8783733" cy="4940849"/>
          </a:xfrm>
          <a:prstGeom prst="rect">
            <a:avLst/>
          </a:prstGeom>
        </p:spPr>
      </p:pic>
      <p:sp>
        <p:nvSpPr>
          <p:cNvPr id="2" name="Slide Number Placeholder 4">
            <a:extLst>
              <a:ext uri="{FF2B5EF4-FFF2-40B4-BE49-F238E27FC236}">
                <a16:creationId xmlns:a16="http://schemas.microsoft.com/office/drawing/2014/main" id="{C996C664-A7F6-3D94-5037-21943AD9C832}"/>
              </a:ext>
            </a:extLst>
          </p:cNvPr>
          <p:cNvSpPr>
            <a:spLocks noGrp="1"/>
          </p:cNvSpPr>
          <p:nvPr>
            <p:ph type="sldNum" idx="4"/>
          </p:nvPr>
        </p:nvSpPr>
        <p:spPr>
          <a:xfrm>
            <a:off x="5987089" y="6471359"/>
            <a:ext cx="2743200" cy="365125"/>
          </a:xfrm>
        </p:spPr>
        <p:txBody>
          <a:bodyPr/>
          <a:lstStyle/>
          <a:p>
            <a:r>
              <a:rPr b="1">
                <a:solidFill>
                  <a:schemeClr val="accent2"/>
                </a:solidFill>
                <a:latin typeface="Arial"/>
                <a:ea typeface="Arial"/>
                <a:cs typeface="Arial"/>
              </a:rPr>
              <a:t>Slide </a:t>
            </a:r>
            <a:fld id="{7CD06EFF-F9A5-9E40-A502-3D98189BE54D}" type="slidenum">
              <a:rPr b="1">
                <a:solidFill>
                  <a:schemeClr val="accent2"/>
                </a:solidFill>
                <a:latin typeface="Arial"/>
                <a:ea typeface="Arial"/>
                <a:cs typeface="Arial"/>
              </a:rPr>
              <a:t>‹#›</a:t>
            </a:fld>
            <a:endParaRPr b="1">
              <a:solidFill>
                <a:schemeClr val="accent2"/>
              </a:solidFill>
              <a:latin typeface="Arial"/>
              <a:ea typeface="Arial"/>
              <a:cs typeface="Arial"/>
            </a:endParaRPr>
          </a:p>
        </p:txBody>
      </p:sp>
      <p:pic>
        <p:nvPicPr>
          <p:cNvPr id="37" name="Picture 2"/>
          <p:cNvPicPr>
            <a:picLocks noChangeAspect="1"/>
          </p:cNvPicPr>
          <p:nvPr/>
        </p:nvPicPr>
        <p:blipFill>
          <a:blip r:embed="rId4"/>
          <a:stretch>
            <a:fillRect/>
          </a:stretch>
        </p:blipFill>
        <p:spPr>
          <a:xfrm>
            <a:off x="277792" y="0"/>
            <a:ext cx="277793" cy="277793"/>
          </a:xfrm>
          <a:prstGeom prst="rect">
            <a:avLst/>
          </a:prstGeom>
        </p:spPr>
      </p:pic>
      <p:pic>
        <p:nvPicPr>
          <p:cNvPr id="38" name="Picture 4"/>
          <p:cNvPicPr>
            <a:picLocks noChangeAspect="1"/>
          </p:cNvPicPr>
          <p:nvPr/>
        </p:nvPicPr>
        <p:blipFill>
          <a:blip r:embed="rId5"/>
          <a:srcRect/>
          <a:stretch/>
        </p:blipFill>
        <p:spPr>
          <a:xfrm>
            <a:off x="8937523" y="6461313"/>
            <a:ext cx="396687" cy="396687"/>
          </a:xfrm>
          <a:prstGeom prst="rect">
            <a:avLst/>
          </a:prstGeom>
        </p:spPr>
      </p:pic>
      <p:sp>
        <p:nvSpPr>
          <p:cNvPr id="9" name="Rectangle 8">
            <a:extLst>
              <a:ext uri="{FF2B5EF4-FFF2-40B4-BE49-F238E27FC236}">
                <a16:creationId xmlns:a16="http://schemas.microsoft.com/office/drawing/2014/main" id="{3E96959F-3F2C-873A-5E7D-D95CD4D85987}"/>
              </a:ext>
            </a:extLst>
          </p:cNvPr>
          <p:cNvSpPr>
            <a:spLocks noGrp="1"/>
          </p:cNvSpPr>
          <p:nvPr/>
        </p:nvSpPr>
        <p:spPr>
          <a:xfrm>
            <a:off x="0" y="276932"/>
            <a:ext cx="277792" cy="65810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0" name="Rectangle 9">
            <a:extLst>
              <a:ext uri="{FF2B5EF4-FFF2-40B4-BE49-F238E27FC236}">
                <a16:creationId xmlns:a16="http://schemas.microsoft.com/office/drawing/2014/main" id="{59456B25-B9F5-3773-9E05-EBD8703CB25C}"/>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Straight Connector 5">
            <a:extLst>
              <a:ext uri="{FF2B5EF4-FFF2-40B4-BE49-F238E27FC236}">
                <a16:creationId xmlns:a16="http://schemas.microsoft.com/office/drawing/2014/main" id="{FDBDE774-49F4-4953-8CF4-4769E0427361}"/>
              </a:ext>
            </a:extLst>
          </p:cNvPr>
          <p:cNvSpPr>
            <a:spLocks noGrp="1"/>
          </p:cNvSpPr>
          <p:nvPr/>
        </p:nvSpPr>
        <p:spPr>
          <a:xfrm>
            <a:off x="980876" y="1198726"/>
            <a:ext cx="3669782"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nd Slide White Thank You">
    <p:bg>
      <p:bgPr>
        <a:solidFill>
          <a:schemeClr val="bg1"/>
        </a:solidFill>
        <a:effectLst/>
      </p:bgPr>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6" y="5115072"/>
            <a:ext cx="10758377" cy="332399"/>
          </a:xfrm>
        </p:spPr>
        <p:txBody>
          <a:bodyPr wrap="square" lIns="0" tIns="0" rIns="0" bIns="0">
            <a:normAutofit/>
          </a:bodyPr>
          <a:lstStyle>
            <a:lvl1pPr marL="0" indent="0" algn="l">
              <a:buFontTx/>
              <a:buNone/>
              <a:defRPr sz="2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www.urlgoeshere.com</a:t>
            </a: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6096000" y="762000"/>
            <a:ext cx="277792" cy="119142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Text Placeholder 13">
            <a:extLst>
              <a:ext uri="{FF2B5EF4-FFF2-40B4-BE49-F238E27FC236}">
                <a16:creationId xmlns:a16="http://schemas.microsoft.com/office/drawing/2014/main" id="{36F762C7-71A0-C668-493A-6DB2F9A3BA03}"/>
              </a:ext>
            </a:extLst>
          </p:cNvPr>
          <p:cNvSpPr>
            <a:spLocks noGrp="1"/>
          </p:cNvSpPr>
          <p:nvPr>
            <p:ph type="body" idx="14" hasCustomPrompt="1"/>
          </p:nvPr>
        </p:nvSpPr>
        <p:spPr>
          <a:xfrm>
            <a:off x="992026" y="1953809"/>
            <a:ext cx="10757719" cy="249299"/>
          </a:xfrm>
        </p:spPr>
        <p:txBody>
          <a:bodyPr wrap="square" lIns="0" tIns="0" rIns="0" bIns="0">
            <a:noAutofit/>
          </a:bodyPr>
          <a:lstStyle>
            <a:lvl1pPr marL="0" indent="0" algn="l">
              <a:buFontTx/>
              <a:buNone/>
              <a:defRPr sz="1600" b="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2485674"/>
            <a:ext cx="10757719" cy="1666936"/>
          </a:xfrm>
        </p:spPr>
        <p:txBody>
          <a:bodyPr lIns="0" rIns="0">
            <a:normAutofit/>
          </a:bodyPr>
          <a:lstStyle>
            <a:lvl1pPr marL="0" indent="0" algn="l">
              <a:lnSpc>
                <a:spcPts val="5600"/>
              </a:lnSpc>
              <a:buFontTx/>
              <a:buNone/>
              <a:defRPr sz="6000" b="1">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Thank you.</a:t>
            </a:r>
          </a:p>
        </p:txBody>
      </p:sp>
      <p:pic>
        <p:nvPicPr>
          <p:cNvPr id="30" name="Picture 30"/>
          <p:cNvPicPr>
            <a:picLocks noChangeAspect="1"/>
          </p:cNvPicPr>
          <p:nvPr/>
        </p:nvPicPr>
        <p:blipFill>
          <a:blip r:embed="rId2"/>
          <a:srcRect/>
          <a:stretch/>
        </p:blipFill>
        <p:spPr>
          <a:xfrm>
            <a:off x="9342689" y="362275"/>
            <a:ext cx="2407715" cy="748649"/>
          </a:xfrm>
          <a:prstGeom prst="rect">
            <a:avLst/>
          </a:prstGeom>
        </p:spPr>
      </p:pic>
      <p:sp>
        <p:nvSpPr>
          <p:cNvPr id="9" name="Rectangle 8">
            <a:extLst>
              <a:ext uri="{FF2B5EF4-FFF2-40B4-BE49-F238E27FC236}">
                <a16:creationId xmlns:a16="http://schemas.microsoft.com/office/drawing/2014/main" id="{77D45C94-FB22-DB67-8B12-BA7FC3BF71BF}"/>
              </a:ext>
            </a:extLst>
          </p:cNvPr>
          <p:cNvSpPr>
            <a:spLocks noGrp="1"/>
          </p:cNvSpPr>
          <p:nvPr/>
        </p:nvSpPr>
        <p:spPr>
          <a:xfrm>
            <a:off x="0" y="276932"/>
            <a:ext cx="277792" cy="63007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2" name="Rectangle 1">
            <a:extLst>
              <a:ext uri="{FF2B5EF4-FFF2-40B4-BE49-F238E27FC236}">
                <a16:creationId xmlns:a16="http://schemas.microsoft.com/office/drawing/2014/main" id="{C80252D5-EE17-72EF-BB70-A64AACC24DEE}"/>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2A89B169-7AA1-0AE3-A738-B266F8D2D807}"/>
              </a:ext>
            </a:extLst>
          </p:cNvPr>
          <p:cNvSpPr>
            <a:spLocks noGrp="1"/>
          </p:cNvSpPr>
          <p:nvPr/>
        </p:nvSpPr>
        <p:spPr>
          <a:xfrm>
            <a:off x="11914206" y="6580206"/>
            <a:ext cx="277794" cy="2777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4" name="Picture 5"/>
          <p:cNvPicPr>
            <a:picLocks noChangeAspect="1"/>
          </p:cNvPicPr>
          <p:nvPr/>
        </p:nvPicPr>
        <p:blipFill>
          <a:blip r:embed="rId3"/>
          <a:stretch>
            <a:fillRect/>
          </a:stretch>
        </p:blipFill>
        <p:spPr>
          <a:xfrm>
            <a:off x="277792" y="0"/>
            <a:ext cx="277793" cy="277793"/>
          </a:xfrm>
          <a:prstGeom prst="rect">
            <a:avLst/>
          </a:prstGeom>
        </p:spPr>
      </p:pic>
      <p:pic>
        <p:nvPicPr>
          <p:cNvPr id="35" name="Picture 6"/>
          <p:cNvPicPr>
            <a:picLocks noChangeAspect="1"/>
          </p:cNvPicPr>
          <p:nvPr/>
        </p:nvPicPr>
        <p:blipFill>
          <a:blip r:embed="rId4"/>
          <a:stretch>
            <a:fillRect/>
          </a:stretch>
        </p:blipFill>
        <p:spPr>
          <a:xfrm>
            <a:off x="11795313" y="6183518"/>
            <a:ext cx="396687" cy="39668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nd Slide Blue Questions">
    <p:bg>
      <p:bgPr>
        <a:solidFill>
          <a:srgbClr val="003594"/>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C5BACCB-11A0-E67D-A5BE-F5FD36B3E10C}"/>
              </a:ext>
            </a:extLst>
          </p:cNvPr>
          <p:cNvSpPr>
            <a:spLocks noGrp="1"/>
          </p:cNvSpPr>
          <p:nvPr>
            <p:ph type="body" idx="10" hasCustomPrompt="1"/>
          </p:nvPr>
        </p:nvSpPr>
        <p:spPr>
          <a:xfrm>
            <a:off x="992355" y="2480848"/>
            <a:ext cx="10757719" cy="948148"/>
          </a:xfrm>
        </p:spPr>
        <p:txBody>
          <a:bodyPr lIns="0" rIns="0">
            <a:normAutofit/>
          </a:bodyPr>
          <a:lstStyle>
            <a:lvl1pPr marL="0" indent="0" algn="l">
              <a:lnSpc>
                <a:spcPts val="5600"/>
              </a:lnSpc>
              <a:buFontTx/>
              <a:buNone/>
              <a:defRPr sz="60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Questions?</a:t>
            </a:r>
          </a:p>
        </p:txBody>
      </p:sp>
      <p:sp>
        <p:nvSpPr>
          <p:cNvPr id="14" name="Text Placeholder 1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7" y="5115072"/>
            <a:ext cx="10757718" cy="332399"/>
          </a:xfrm>
        </p:spPr>
        <p:txBody>
          <a:bodyPr wrap="square" lIns="0" tIns="0" rIns="0" bIns="0">
            <a:normAutofit/>
          </a:bodyPr>
          <a:lstStyle>
            <a:lvl1pPr marL="0" indent="0" algn="l">
              <a:buFontTx/>
              <a:buNone/>
              <a:defRPr sz="2000" b="1">
                <a:solidFill>
                  <a:srgbClr val="FFC00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www.urlgoeshere.com</a:t>
            </a: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6096000" y="762000"/>
            <a:ext cx="277792" cy="119142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07B08A63-5C28-2736-64DB-BF56E813DDAC}"/>
              </a:ext>
            </a:extLst>
          </p:cNvPr>
          <p:cNvSpPr>
            <a:spLocks noGrp="1"/>
          </p:cNvSpPr>
          <p:nvPr/>
        </p:nvSpPr>
        <p:spPr>
          <a:xfrm>
            <a:off x="11912600" y="6580206"/>
            <a:ext cx="277794" cy="277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Text Placeholder 13">
            <a:extLst>
              <a:ext uri="{FF2B5EF4-FFF2-40B4-BE49-F238E27FC236}">
                <a16:creationId xmlns:a16="http://schemas.microsoft.com/office/drawing/2014/main" id="{36F762C7-71A0-C668-493A-6DB2F9A3BA03}"/>
              </a:ext>
            </a:extLst>
          </p:cNvPr>
          <p:cNvSpPr>
            <a:spLocks noGrp="1"/>
          </p:cNvSpPr>
          <p:nvPr>
            <p:ph type="body" idx="14" hasCustomPrompt="1"/>
          </p:nvPr>
        </p:nvSpPr>
        <p:spPr>
          <a:xfrm>
            <a:off x="992027" y="1965617"/>
            <a:ext cx="10757718" cy="249299"/>
          </a:xfrm>
        </p:spPr>
        <p:txBody>
          <a:bodyPr wrap="square" lIns="0" tIns="0" rIns="0" bIns="0">
            <a:noAutofit/>
          </a:bodyPr>
          <a:lstStyle>
            <a:lvl1pPr marL="0" indent="0" algn="l">
              <a:buFontTx/>
              <a:buNone/>
              <a:defRPr sz="1600" b="0">
                <a:solidFill>
                  <a:srgbClr val="FFC00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a:p>
            <a:pPr lvl="0">
              <a:buNone/>
            </a:pPr>
            <a:endParaRPr/>
          </a:p>
        </p:txBody>
      </p:sp>
      <p:pic>
        <p:nvPicPr>
          <p:cNvPr id="25" name="Picture 23"/>
          <p:cNvPicPr>
            <a:picLocks noChangeAspect="1"/>
          </p:cNvPicPr>
          <p:nvPr/>
        </p:nvPicPr>
        <p:blipFill>
          <a:blip r:embed="rId2"/>
          <a:srcRect/>
          <a:stretch/>
        </p:blipFill>
        <p:spPr>
          <a:xfrm>
            <a:off x="9342689" y="362275"/>
            <a:ext cx="2407715" cy="748648"/>
          </a:xfrm>
          <a:prstGeom prst="rect">
            <a:avLst/>
          </a:prstGeom>
        </p:spPr>
      </p:pic>
      <p:pic>
        <p:nvPicPr>
          <p:cNvPr id="26" name="Picture 1"/>
          <p:cNvPicPr>
            <a:picLocks noChangeAspect="1"/>
          </p:cNvPicPr>
          <p:nvPr/>
        </p:nvPicPr>
        <p:blipFill>
          <a:blip r:embed="rId3"/>
          <a:srcRect/>
          <a:stretch/>
        </p:blipFill>
        <p:spPr>
          <a:xfrm>
            <a:off x="277792" y="1607"/>
            <a:ext cx="277793" cy="277793"/>
          </a:xfrm>
          <a:prstGeom prst="rect">
            <a:avLst/>
          </a:prstGeom>
        </p:spPr>
      </p:pic>
      <p:pic>
        <p:nvPicPr>
          <p:cNvPr id="27" name="Picture 2"/>
          <p:cNvPicPr>
            <a:picLocks noChangeAspect="1"/>
          </p:cNvPicPr>
          <p:nvPr/>
        </p:nvPicPr>
        <p:blipFill>
          <a:blip r:embed="rId3"/>
          <a:srcRect/>
          <a:stretch/>
        </p:blipFill>
        <p:spPr>
          <a:xfrm>
            <a:off x="11795313" y="6183518"/>
            <a:ext cx="396687" cy="396687"/>
          </a:xfrm>
          <a:prstGeom prst="rect">
            <a:avLst/>
          </a:prstGeom>
        </p:spPr>
      </p:pic>
      <p:sp>
        <p:nvSpPr>
          <p:cNvPr id="6" name="Rectangle 5">
            <a:extLst>
              <a:ext uri="{FF2B5EF4-FFF2-40B4-BE49-F238E27FC236}">
                <a16:creationId xmlns:a16="http://schemas.microsoft.com/office/drawing/2014/main" id="{7B03A0DC-9489-EA9B-34E8-069F06B0AF0A}"/>
              </a:ext>
            </a:extLst>
          </p:cNvPr>
          <p:cNvSpPr>
            <a:spLocks noGrp="1"/>
          </p:cNvSpPr>
          <p:nvPr/>
        </p:nvSpPr>
        <p:spPr>
          <a:xfrm>
            <a:off x="0" y="276932"/>
            <a:ext cx="277792" cy="63007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3" name="Rectangle 12">
            <a:extLst>
              <a:ext uri="{FF2B5EF4-FFF2-40B4-BE49-F238E27FC236}">
                <a16:creationId xmlns:a16="http://schemas.microsoft.com/office/drawing/2014/main" id="{7C8A5963-63B1-659E-6168-44AD14199691}"/>
              </a:ext>
            </a:extLst>
          </p:cNvPr>
          <p:cNvSpPr>
            <a:spLocks noGrp="1"/>
          </p:cNvSpPr>
          <p:nvPr/>
        </p:nvSpPr>
        <p:spPr>
          <a:xfrm>
            <a:off x="0" y="0"/>
            <a:ext cx="277794" cy="276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Slide Gold Thank You">
    <p:bg>
      <p:bgPr>
        <a:solidFill>
          <a:schemeClr val="accent2"/>
        </a:solidFill>
        <a:effectLst/>
      </p:bgPr>
    </p:bg>
    <p:spTree>
      <p:nvGrpSpPr>
        <p:cNvPr id="1" name=""/>
        <p:cNvGrpSpPr/>
        <p:nvPr/>
      </p:nvGrpSpPr>
      <p:grpSpPr>
        <a:xfrm>
          <a:off x="0" y="0"/>
          <a:ext cx="0" cy="0"/>
          <a:chOff x="0" y="0"/>
          <a:chExt cx="0" cy="0"/>
        </a:xfrm>
      </p:grpSpPr>
      <p:pic>
        <p:nvPicPr>
          <p:cNvPr id="27" name="Picture 23"/>
          <p:cNvPicPr>
            <a:picLocks noChangeAspect="1"/>
          </p:cNvPicPr>
          <p:nvPr/>
        </p:nvPicPr>
        <p:blipFill rotWithShape="1">
          <a:blip r:embed="rId2"/>
          <a:srcRect t="45522"/>
          <a:stretch/>
        </p:blipFill>
        <p:spPr>
          <a:xfrm>
            <a:off x="138896" y="4630706"/>
            <a:ext cx="12053104" cy="1947023"/>
          </a:xfrm>
          <a:prstGeom prst="rect">
            <a:avLst/>
          </a:prstGeom>
        </p:spPr>
      </p:pic>
      <p:sp>
        <p:nvSpPr>
          <p:cNvPr id="14" name="Text Placeholder 1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6" y="5115072"/>
            <a:ext cx="10758377" cy="332399"/>
          </a:xfrm>
        </p:spPr>
        <p:txBody>
          <a:bodyPr wrap="square" lIns="0" tIns="0" rIns="0" bIns="0">
            <a:normAutofit/>
          </a:bodyPr>
          <a:lstStyle>
            <a:lvl1pPr marL="0" indent="0" algn="l">
              <a:buFontTx/>
              <a:buNone/>
              <a:defRPr sz="2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www.urlgoeshere.com</a:t>
            </a: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6096000" y="762000"/>
            <a:ext cx="277792" cy="119142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07B08A63-5C28-2736-64DB-BF56E813DDAC}"/>
              </a:ext>
            </a:extLst>
          </p:cNvPr>
          <p:cNvSpPr>
            <a:spLocks noGrp="1"/>
          </p:cNvSpPr>
          <p:nvPr/>
        </p:nvSpPr>
        <p:spPr>
          <a:xfrm>
            <a:off x="11912600" y="6580206"/>
            <a:ext cx="277794" cy="277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Text Placeholder 13">
            <a:extLst>
              <a:ext uri="{FF2B5EF4-FFF2-40B4-BE49-F238E27FC236}">
                <a16:creationId xmlns:a16="http://schemas.microsoft.com/office/drawing/2014/main" id="{36F762C7-71A0-C668-493A-6DB2F9A3BA03}"/>
              </a:ext>
            </a:extLst>
          </p:cNvPr>
          <p:cNvSpPr>
            <a:spLocks noGrp="1"/>
          </p:cNvSpPr>
          <p:nvPr>
            <p:ph type="body" idx="14" hasCustomPrompt="1"/>
          </p:nvPr>
        </p:nvSpPr>
        <p:spPr>
          <a:xfrm>
            <a:off x="992026" y="1953809"/>
            <a:ext cx="10757719" cy="249299"/>
          </a:xfrm>
        </p:spPr>
        <p:txBody>
          <a:bodyPr wrap="square" lIns="0" tIns="0" rIns="0" bIns="0">
            <a:noAutofit/>
          </a:bodyPr>
          <a:lstStyle>
            <a:lvl1pPr marL="0" indent="0" algn="l">
              <a:buFontTx/>
              <a:buNone/>
              <a:defRPr sz="1600" b="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p:txBody>
      </p:sp>
      <p:sp>
        <p:nvSpPr>
          <p:cNvPr id="22" name="Text Placeholder 8">
            <a:extLst>
              <a:ext uri="{FF2B5EF4-FFF2-40B4-BE49-F238E27FC236}">
                <a16:creationId xmlns:a16="http://schemas.microsoft.com/office/drawing/2014/main" id="{9DA80ABA-642B-4CD6-4C1C-51D2AF4F572B}"/>
              </a:ext>
            </a:extLst>
          </p:cNvPr>
          <p:cNvSpPr>
            <a:spLocks noGrp="1"/>
          </p:cNvSpPr>
          <p:nvPr>
            <p:ph type="body" idx="15" hasCustomPrompt="1"/>
          </p:nvPr>
        </p:nvSpPr>
        <p:spPr>
          <a:xfrm>
            <a:off x="992355" y="2485674"/>
            <a:ext cx="10757719" cy="1666936"/>
          </a:xfrm>
        </p:spPr>
        <p:txBody>
          <a:bodyPr lIns="0" rIns="0">
            <a:normAutofit/>
          </a:bodyPr>
          <a:lstStyle>
            <a:lvl1pPr marL="0" indent="0" algn="l">
              <a:lnSpc>
                <a:spcPts val="5600"/>
              </a:lnSpc>
              <a:buFontTx/>
              <a:buNone/>
              <a:defRPr sz="6000" b="1">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Thank you.</a:t>
            </a:r>
          </a:p>
        </p:txBody>
      </p:sp>
      <p:pic>
        <p:nvPicPr>
          <p:cNvPr id="33" name="Picture 30"/>
          <p:cNvPicPr>
            <a:picLocks noChangeAspect="1"/>
          </p:cNvPicPr>
          <p:nvPr/>
        </p:nvPicPr>
        <p:blipFill>
          <a:blip r:embed="rId3"/>
          <a:srcRect/>
          <a:stretch/>
        </p:blipFill>
        <p:spPr>
          <a:xfrm>
            <a:off x="9342689" y="362275"/>
            <a:ext cx="2407715" cy="748649"/>
          </a:xfrm>
          <a:prstGeom prst="rect">
            <a:avLst/>
          </a:prstGeom>
        </p:spPr>
      </p:pic>
      <p:pic>
        <p:nvPicPr>
          <p:cNvPr id="34" name="Picture 2"/>
          <p:cNvPicPr>
            <a:picLocks noChangeAspect="1"/>
          </p:cNvPicPr>
          <p:nvPr/>
        </p:nvPicPr>
        <p:blipFill>
          <a:blip r:embed="rId4"/>
          <a:srcRect/>
          <a:stretch/>
        </p:blipFill>
        <p:spPr>
          <a:xfrm>
            <a:off x="277792" y="1607"/>
            <a:ext cx="277793" cy="277793"/>
          </a:xfrm>
          <a:prstGeom prst="rect">
            <a:avLst/>
          </a:prstGeom>
        </p:spPr>
      </p:pic>
      <p:pic>
        <p:nvPicPr>
          <p:cNvPr id="35" name="Picture 3"/>
          <p:cNvPicPr>
            <a:picLocks noChangeAspect="1"/>
          </p:cNvPicPr>
          <p:nvPr/>
        </p:nvPicPr>
        <p:blipFill>
          <a:blip r:embed="rId4"/>
          <a:srcRect/>
          <a:stretch/>
        </p:blipFill>
        <p:spPr>
          <a:xfrm>
            <a:off x="11795313" y="6183519"/>
            <a:ext cx="396687" cy="396687"/>
          </a:xfrm>
          <a:prstGeom prst="rect">
            <a:avLst/>
          </a:prstGeom>
        </p:spPr>
      </p:pic>
      <p:sp>
        <p:nvSpPr>
          <p:cNvPr id="9" name="Rectangle 8">
            <a:extLst>
              <a:ext uri="{FF2B5EF4-FFF2-40B4-BE49-F238E27FC236}">
                <a16:creationId xmlns:a16="http://schemas.microsoft.com/office/drawing/2014/main" id="{77D45C94-FB22-DB67-8B12-BA7FC3BF71BF}"/>
              </a:ext>
            </a:extLst>
          </p:cNvPr>
          <p:cNvSpPr>
            <a:spLocks noGrp="1"/>
          </p:cNvSpPr>
          <p:nvPr/>
        </p:nvSpPr>
        <p:spPr>
          <a:xfrm>
            <a:off x="0" y="276932"/>
            <a:ext cx="277792" cy="6300797"/>
          </a:xfrm>
          <a:prstGeom prst="rect">
            <a:avLst/>
          </a:prstGeom>
          <a:solidFill>
            <a:srgbClr val="00359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3" name="Rectangle 12">
            <a:extLst>
              <a:ext uri="{FF2B5EF4-FFF2-40B4-BE49-F238E27FC236}">
                <a16:creationId xmlns:a16="http://schemas.microsoft.com/office/drawing/2014/main" id="{7D77EF01-9B43-B49F-0496-4371143CFBA0}"/>
              </a:ext>
            </a:extLst>
          </p:cNvPr>
          <p:cNvSpPr>
            <a:spLocks noGrp="1"/>
          </p:cNvSpPr>
          <p:nvPr/>
        </p:nvSpPr>
        <p:spPr>
          <a:xfrm>
            <a:off x="0" y="0"/>
            <a:ext cx="277794" cy="276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nd Slide Whit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5957103" y="900897"/>
            <a:ext cx="277792" cy="1163641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Text Placeholder 13">
            <a:extLst>
              <a:ext uri="{FF2B5EF4-FFF2-40B4-BE49-F238E27FC236}">
                <a16:creationId xmlns:a16="http://schemas.microsoft.com/office/drawing/2014/main" id="{13C50966-A99F-798D-C58F-0D9886F67402}"/>
              </a:ext>
            </a:extLst>
          </p:cNvPr>
          <p:cNvSpPr>
            <a:spLocks noGrp="1"/>
          </p:cNvSpPr>
          <p:nvPr>
            <p:ph type="body" idx="12" hasCustomPrompt="1"/>
          </p:nvPr>
        </p:nvSpPr>
        <p:spPr>
          <a:xfrm>
            <a:off x="992027" y="5115072"/>
            <a:ext cx="10757718" cy="332399"/>
          </a:xfrm>
        </p:spPr>
        <p:txBody>
          <a:bodyPr wrap="square" lIns="0" tIns="0" rIns="0" bIns="0">
            <a:normAutofit/>
          </a:bodyPr>
          <a:lstStyle>
            <a:lvl1pPr marL="0" indent="0" algn="ctr">
              <a:buFontTx/>
              <a:buNone/>
              <a:defRPr sz="2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www.urlgoeshere.com</a:t>
            </a:r>
          </a:p>
        </p:txBody>
      </p:sp>
      <p:sp>
        <p:nvSpPr>
          <p:cNvPr id="4" name="Text Placeholder 13">
            <a:extLst>
              <a:ext uri="{FF2B5EF4-FFF2-40B4-BE49-F238E27FC236}">
                <a16:creationId xmlns:a16="http://schemas.microsoft.com/office/drawing/2014/main" id="{626E00A5-2C40-95C5-F409-73F2D3F39934}"/>
              </a:ext>
            </a:extLst>
          </p:cNvPr>
          <p:cNvSpPr>
            <a:spLocks noGrp="1"/>
          </p:cNvSpPr>
          <p:nvPr>
            <p:ph type="body" idx="14" hasCustomPrompt="1"/>
          </p:nvPr>
        </p:nvSpPr>
        <p:spPr>
          <a:xfrm>
            <a:off x="992027" y="4741122"/>
            <a:ext cx="10757718" cy="249299"/>
          </a:xfrm>
        </p:spPr>
        <p:txBody>
          <a:bodyPr wrap="square" lIns="0" tIns="0" rIns="0" bIns="0">
            <a:noAutofit/>
          </a:bodyPr>
          <a:lstStyle>
            <a:lvl1pPr marL="0" indent="0" algn="ctr">
              <a:buFontTx/>
              <a:buNone/>
              <a:defRPr sz="1600" b="0">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a:p>
            <a:pPr lvl="0">
              <a:buNone/>
            </a:pPr>
            <a:endParaRPr/>
          </a:p>
        </p:txBody>
      </p:sp>
      <p:pic>
        <p:nvPicPr>
          <p:cNvPr id="22" name="Picture 4"/>
          <p:cNvPicPr>
            <a:picLocks noChangeAspect="1"/>
          </p:cNvPicPr>
          <p:nvPr/>
        </p:nvPicPr>
        <p:blipFill>
          <a:blip r:embed="rId2"/>
          <a:srcRect/>
          <a:stretch/>
        </p:blipFill>
        <p:spPr>
          <a:xfrm>
            <a:off x="2289051" y="1952733"/>
            <a:ext cx="7613896" cy="2367446"/>
          </a:xfrm>
          <a:prstGeom prst="rect">
            <a:avLst/>
          </a:prstGeom>
        </p:spPr>
      </p:pic>
      <p:sp>
        <p:nvSpPr>
          <p:cNvPr id="15" name="Rectangle 14">
            <a:extLst>
              <a:ext uri="{FF2B5EF4-FFF2-40B4-BE49-F238E27FC236}">
                <a16:creationId xmlns:a16="http://schemas.microsoft.com/office/drawing/2014/main" id="{E11012CB-6557-8DFA-EBD7-51B806C2DD5B}"/>
              </a:ext>
            </a:extLst>
          </p:cNvPr>
          <p:cNvSpPr>
            <a:spLocks noGrp="1"/>
          </p:cNvSpPr>
          <p:nvPr/>
        </p:nvSpPr>
        <p:spPr>
          <a:xfrm>
            <a:off x="0" y="276932"/>
            <a:ext cx="277792" cy="63007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2" name="Rectangle 1">
            <a:extLst>
              <a:ext uri="{FF2B5EF4-FFF2-40B4-BE49-F238E27FC236}">
                <a16:creationId xmlns:a16="http://schemas.microsoft.com/office/drawing/2014/main" id="{1F2EAE99-90F0-51B9-78DA-406FBD76CBBC}"/>
              </a:ext>
            </a:extLst>
          </p:cNvPr>
          <p:cNvSpPr>
            <a:spLocks noGrp="1"/>
          </p:cNvSpPr>
          <p:nvPr/>
        </p:nvSpPr>
        <p:spPr>
          <a:xfrm>
            <a:off x="0" y="0"/>
            <a:ext cx="277794" cy="2769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735A385E-3D46-CD82-151A-810BEDD2C966}"/>
              </a:ext>
            </a:extLst>
          </p:cNvPr>
          <p:cNvSpPr>
            <a:spLocks noGrp="1"/>
          </p:cNvSpPr>
          <p:nvPr/>
        </p:nvSpPr>
        <p:spPr>
          <a:xfrm>
            <a:off x="11914206" y="6580206"/>
            <a:ext cx="277794" cy="27779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6" name="Picture 9"/>
          <p:cNvPicPr>
            <a:picLocks noChangeAspect="1"/>
          </p:cNvPicPr>
          <p:nvPr/>
        </p:nvPicPr>
        <p:blipFill>
          <a:blip r:embed="rId3"/>
          <a:stretch>
            <a:fillRect/>
          </a:stretch>
        </p:blipFill>
        <p:spPr>
          <a:xfrm>
            <a:off x="277792" y="0"/>
            <a:ext cx="277793" cy="277793"/>
          </a:xfrm>
          <a:prstGeom prst="rect">
            <a:avLst/>
          </a:prstGeom>
        </p:spPr>
      </p:pic>
      <p:pic>
        <p:nvPicPr>
          <p:cNvPr id="27" name="Picture 10"/>
          <p:cNvPicPr>
            <a:picLocks noChangeAspect="1"/>
          </p:cNvPicPr>
          <p:nvPr/>
        </p:nvPicPr>
        <p:blipFill>
          <a:blip r:embed="rId4"/>
          <a:stretch>
            <a:fillRect/>
          </a:stretch>
        </p:blipFill>
        <p:spPr>
          <a:xfrm>
            <a:off x="11795313" y="6183518"/>
            <a:ext cx="396687" cy="396687"/>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nd Slide Blue">
    <p:bg>
      <p:bgPr>
        <a:solidFill>
          <a:srgbClr val="003594"/>
        </a:solidFill>
        <a:effectLst/>
      </p:bgPr>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9E06613C-620C-CCA1-5CF5-9D533B47391F}"/>
              </a:ext>
            </a:extLst>
          </p:cNvPr>
          <p:cNvSpPr>
            <a:spLocks noGrp="1"/>
          </p:cNvSpPr>
          <p:nvPr>
            <p:ph type="body" idx="12" hasCustomPrompt="1"/>
          </p:nvPr>
        </p:nvSpPr>
        <p:spPr>
          <a:xfrm>
            <a:off x="992027" y="5115072"/>
            <a:ext cx="10757718" cy="332399"/>
          </a:xfrm>
        </p:spPr>
        <p:txBody>
          <a:bodyPr wrap="square" lIns="0" tIns="0" rIns="0" bIns="0">
            <a:normAutofit/>
          </a:bodyPr>
          <a:lstStyle>
            <a:lvl1pPr marL="0" indent="0" algn="ctr">
              <a:buFontTx/>
              <a:buNone/>
              <a:defRPr sz="2000" b="1">
                <a:solidFill>
                  <a:srgbClr val="FFC000"/>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www.urlgoeshere.com</a:t>
            </a:r>
          </a:p>
        </p:txBody>
      </p:sp>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6096000" y="762000"/>
            <a:ext cx="277792" cy="1191420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07B08A63-5C28-2736-64DB-BF56E813DDAC}"/>
              </a:ext>
            </a:extLst>
          </p:cNvPr>
          <p:cNvSpPr>
            <a:spLocks noGrp="1"/>
          </p:cNvSpPr>
          <p:nvPr/>
        </p:nvSpPr>
        <p:spPr>
          <a:xfrm>
            <a:off x="11912600" y="6580206"/>
            <a:ext cx="277794" cy="277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Text Placeholder 13">
            <a:extLst>
              <a:ext uri="{FF2B5EF4-FFF2-40B4-BE49-F238E27FC236}">
                <a16:creationId xmlns:a16="http://schemas.microsoft.com/office/drawing/2014/main" id="{36F762C7-71A0-C668-493A-6DB2F9A3BA03}"/>
              </a:ext>
            </a:extLst>
          </p:cNvPr>
          <p:cNvSpPr>
            <a:spLocks noGrp="1"/>
          </p:cNvSpPr>
          <p:nvPr>
            <p:ph type="body" idx="14" hasCustomPrompt="1"/>
          </p:nvPr>
        </p:nvSpPr>
        <p:spPr>
          <a:xfrm>
            <a:off x="992027" y="4741122"/>
            <a:ext cx="10757718" cy="249299"/>
          </a:xfrm>
        </p:spPr>
        <p:txBody>
          <a:bodyPr wrap="square" lIns="0" tIns="0" rIns="0" bIns="0">
            <a:noAutofit/>
          </a:bodyPr>
          <a:lstStyle>
            <a:lvl1pPr marL="0" indent="0" algn="ctr">
              <a:buFontTx/>
              <a:buNone/>
              <a:defRPr sz="1600" b="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a:p>
            <a:pPr lvl="0">
              <a:buNone/>
            </a:pPr>
            <a:endParaRPr/>
          </a:p>
        </p:txBody>
      </p:sp>
      <p:pic>
        <p:nvPicPr>
          <p:cNvPr id="27" name="Picture 23"/>
          <p:cNvPicPr>
            <a:picLocks noChangeAspect="1"/>
          </p:cNvPicPr>
          <p:nvPr/>
        </p:nvPicPr>
        <p:blipFill>
          <a:blip r:embed="rId2"/>
          <a:srcRect/>
          <a:stretch/>
        </p:blipFill>
        <p:spPr>
          <a:xfrm>
            <a:off x="2289046" y="1952733"/>
            <a:ext cx="7613907" cy="2367446"/>
          </a:xfrm>
          <a:prstGeom prst="rect">
            <a:avLst/>
          </a:prstGeom>
        </p:spPr>
      </p:pic>
      <p:pic>
        <p:nvPicPr>
          <p:cNvPr id="28" name="Picture 1"/>
          <p:cNvPicPr>
            <a:picLocks noChangeAspect="1"/>
          </p:cNvPicPr>
          <p:nvPr/>
        </p:nvPicPr>
        <p:blipFill>
          <a:blip r:embed="rId3"/>
          <a:srcRect/>
          <a:stretch/>
        </p:blipFill>
        <p:spPr>
          <a:xfrm>
            <a:off x="277792" y="1607"/>
            <a:ext cx="277793" cy="277793"/>
          </a:xfrm>
          <a:prstGeom prst="rect">
            <a:avLst/>
          </a:prstGeom>
        </p:spPr>
      </p:pic>
      <p:pic>
        <p:nvPicPr>
          <p:cNvPr id="29" name="Picture 2"/>
          <p:cNvPicPr>
            <a:picLocks noChangeAspect="1"/>
          </p:cNvPicPr>
          <p:nvPr/>
        </p:nvPicPr>
        <p:blipFill>
          <a:blip r:embed="rId3"/>
          <a:srcRect/>
          <a:stretch/>
        </p:blipFill>
        <p:spPr>
          <a:xfrm>
            <a:off x="11795313" y="6183518"/>
            <a:ext cx="396687" cy="396687"/>
          </a:xfrm>
          <a:prstGeom prst="rect">
            <a:avLst/>
          </a:prstGeom>
        </p:spPr>
      </p:pic>
      <p:sp>
        <p:nvSpPr>
          <p:cNvPr id="18" name="Rectangle 17">
            <a:extLst>
              <a:ext uri="{FF2B5EF4-FFF2-40B4-BE49-F238E27FC236}">
                <a16:creationId xmlns:a16="http://schemas.microsoft.com/office/drawing/2014/main" id="{468E4196-B801-527E-1869-FE0091EAC022}"/>
              </a:ext>
            </a:extLst>
          </p:cNvPr>
          <p:cNvSpPr>
            <a:spLocks noGrp="1"/>
          </p:cNvSpPr>
          <p:nvPr/>
        </p:nvSpPr>
        <p:spPr>
          <a:xfrm>
            <a:off x="0" y="276932"/>
            <a:ext cx="277792" cy="63007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9" name="Rectangle 18">
            <a:extLst>
              <a:ext uri="{FF2B5EF4-FFF2-40B4-BE49-F238E27FC236}">
                <a16:creationId xmlns:a16="http://schemas.microsoft.com/office/drawing/2014/main" id="{BE8547A6-1472-6643-A7C3-0614E3531088}"/>
              </a:ext>
            </a:extLst>
          </p:cNvPr>
          <p:cNvSpPr>
            <a:spLocks noGrp="1"/>
          </p:cNvSpPr>
          <p:nvPr/>
        </p:nvSpPr>
        <p:spPr>
          <a:xfrm>
            <a:off x="0" y="0"/>
            <a:ext cx="277794" cy="276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d Slide Gold">
    <p:bg>
      <p:bgPr>
        <a:solidFill>
          <a:schemeClr val="accent2"/>
        </a:solidFill>
        <a:effectLst/>
      </p:bgPr>
    </p:bg>
    <p:spTree>
      <p:nvGrpSpPr>
        <p:cNvPr id="1" name=""/>
        <p:cNvGrpSpPr/>
        <p:nvPr/>
      </p:nvGrpSpPr>
      <p:grpSpPr>
        <a:xfrm>
          <a:off x="0" y="0"/>
          <a:ext cx="0" cy="0"/>
          <a:chOff x="0" y="0"/>
          <a:chExt cx="0" cy="0"/>
        </a:xfrm>
      </p:grpSpPr>
      <p:pic>
        <p:nvPicPr>
          <p:cNvPr id="21" name="Picture 23"/>
          <p:cNvPicPr>
            <a:picLocks noChangeAspect="1"/>
          </p:cNvPicPr>
          <p:nvPr/>
        </p:nvPicPr>
        <p:blipFill rotWithShape="1">
          <a:blip r:embed="rId2"/>
          <a:srcRect t="45522"/>
          <a:stretch/>
        </p:blipFill>
        <p:spPr>
          <a:xfrm>
            <a:off x="138896" y="4373348"/>
            <a:ext cx="12053104" cy="2205243"/>
          </a:xfrm>
          <a:prstGeom prst="rect">
            <a:avLst/>
          </a:prstGeom>
        </p:spPr>
      </p:pic>
      <p:sp>
        <p:nvSpPr>
          <p:cNvPr id="8" name="Rectangle 7">
            <a:extLst>
              <a:ext uri="{FF2B5EF4-FFF2-40B4-BE49-F238E27FC236}">
                <a16:creationId xmlns:a16="http://schemas.microsoft.com/office/drawing/2014/main" id="{B2AB57D5-15A0-E41D-7E0D-BA7AA53223AC}"/>
              </a:ext>
            </a:extLst>
          </p:cNvPr>
          <p:cNvSpPr>
            <a:spLocks noGrp="1"/>
          </p:cNvSpPr>
          <p:nvPr/>
        </p:nvSpPr>
        <p:spPr>
          <a:xfrm rot="5400000">
            <a:off x="6096000" y="762000"/>
            <a:ext cx="277792" cy="119142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07B08A63-5C28-2736-64DB-BF56E813DDAC}"/>
              </a:ext>
            </a:extLst>
          </p:cNvPr>
          <p:cNvSpPr>
            <a:spLocks noGrp="1"/>
          </p:cNvSpPr>
          <p:nvPr/>
        </p:nvSpPr>
        <p:spPr>
          <a:xfrm>
            <a:off x="11912600" y="6580206"/>
            <a:ext cx="277794" cy="277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Text Placeholder 13">
            <a:extLst>
              <a:ext uri="{FF2B5EF4-FFF2-40B4-BE49-F238E27FC236}">
                <a16:creationId xmlns:a16="http://schemas.microsoft.com/office/drawing/2014/main" id="{13C50966-A99F-798D-C58F-0D9886F67402}"/>
              </a:ext>
            </a:extLst>
          </p:cNvPr>
          <p:cNvSpPr>
            <a:spLocks noGrp="1"/>
          </p:cNvSpPr>
          <p:nvPr>
            <p:ph type="body" idx="12" hasCustomPrompt="1"/>
          </p:nvPr>
        </p:nvSpPr>
        <p:spPr>
          <a:xfrm>
            <a:off x="992027" y="5115072"/>
            <a:ext cx="10757718" cy="332399"/>
          </a:xfrm>
        </p:spPr>
        <p:txBody>
          <a:bodyPr wrap="square" lIns="0" tIns="0" rIns="0" bIns="0">
            <a:normAutofit/>
          </a:bodyPr>
          <a:lstStyle>
            <a:lvl1pPr marL="0" indent="0" algn="ctr">
              <a:buFontTx/>
              <a:buNone/>
              <a:defRPr sz="20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www.urlgoeshere.com</a:t>
            </a:r>
          </a:p>
        </p:txBody>
      </p:sp>
      <p:sp>
        <p:nvSpPr>
          <p:cNvPr id="4" name="Text Placeholder 13">
            <a:extLst>
              <a:ext uri="{FF2B5EF4-FFF2-40B4-BE49-F238E27FC236}">
                <a16:creationId xmlns:a16="http://schemas.microsoft.com/office/drawing/2014/main" id="{626E00A5-2C40-95C5-F409-73F2D3F39934}"/>
              </a:ext>
            </a:extLst>
          </p:cNvPr>
          <p:cNvSpPr>
            <a:spLocks noGrp="1"/>
          </p:cNvSpPr>
          <p:nvPr>
            <p:ph type="body" idx="14" hasCustomPrompt="1"/>
          </p:nvPr>
        </p:nvSpPr>
        <p:spPr>
          <a:xfrm>
            <a:off x="992027" y="4741122"/>
            <a:ext cx="10757718" cy="249299"/>
          </a:xfrm>
        </p:spPr>
        <p:txBody>
          <a:bodyPr wrap="square" lIns="0" tIns="0" rIns="0" bIns="0">
            <a:noAutofit/>
          </a:bodyPr>
          <a:lstStyle>
            <a:lvl1pPr marL="0" indent="0" algn="ctr">
              <a:buFontTx/>
              <a:buNone/>
              <a:defRPr sz="1600" b="0">
                <a:solidFill>
                  <a:schemeClr val="bg2">
                    <a:lumMod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buNone/>
            </a:pPr>
            <a:r>
              <a:t>School, Department, Center or Institution name can go here</a:t>
            </a:r>
          </a:p>
          <a:p>
            <a:pPr lvl="0">
              <a:buNone/>
            </a:pPr>
            <a:endParaRPr/>
          </a:p>
        </p:txBody>
      </p:sp>
      <p:pic>
        <p:nvPicPr>
          <p:cNvPr id="26" name="Picture 4"/>
          <p:cNvPicPr>
            <a:picLocks noChangeAspect="1"/>
          </p:cNvPicPr>
          <p:nvPr/>
        </p:nvPicPr>
        <p:blipFill>
          <a:blip r:embed="rId3"/>
          <a:srcRect/>
          <a:stretch/>
        </p:blipFill>
        <p:spPr>
          <a:xfrm>
            <a:off x="2289051" y="1563095"/>
            <a:ext cx="7613896" cy="2367446"/>
          </a:xfrm>
          <a:prstGeom prst="rect">
            <a:avLst/>
          </a:prstGeom>
        </p:spPr>
      </p:pic>
      <p:pic>
        <p:nvPicPr>
          <p:cNvPr id="27" name="Picture 5"/>
          <p:cNvPicPr>
            <a:picLocks noChangeAspect="1"/>
          </p:cNvPicPr>
          <p:nvPr/>
        </p:nvPicPr>
        <p:blipFill>
          <a:blip r:embed="rId4"/>
          <a:srcRect/>
          <a:stretch/>
        </p:blipFill>
        <p:spPr>
          <a:xfrm>
            <a:off x="277792" y="1607"/>
            <a:ext cx="277793" cy="277793"/>
          </a:xfrm>
          <a:prstGeom prst="rect">
            <a:avLst/>
          </a:prstGeom>
        </p:spPr>
      </p:pic>
      <p:pic>
        <p:nvPicPr>
          <p:cNvPr id="28" name="Picture 8"/>
          <p:cNvPicPr>
            <a:picLocks noChangeAspect="1"/>
          </p:cNvPicPr>
          <p:nvPr/>
        </p:nvPicPr>
        <p:blipFill>
          <a:blip r:embed="rId4"/>
          <a:srcRect/>
          <a:stretch/>
        </p:blipFill>
        <p:spPr>
          <a:xfrm>
            <a:off x="11795313" y="6183519"/>
            <a:ext cx="396687" cy="396687"/>
          </a:xfrm>
          <a:prstGeom prst="rect">
            <a:avLst/>
          </a:prstGeom>
        </p:spPr>
      </p:pic>
      <p:sp>
        <p:nvSpPr>
          <p:cNvPr id="15" name="Rectangle 14">
            <a:extLst>
              <a:ext uri="{FF2B5EF4-FFF2-40B4-BE49-F238E27FC236}">
                <a16:creationId xmlns:a16="http://schemas.microsoft.com/office/drawing/2014/main" id="{E11012CB-6557-8DFA-EBD7-51B806C2DD5B}"/>
              </a:ext>
            </a:extLst>
          </p:cNvPr>
          <p:cNvSpPr>
            <a:spLocks noGrp="1"/>
          </p:cNvSpPr>
          <p:nvPr/>
        </p:nvSpPr>
        <p:spPr>
          <a:xfrm>
            <a:off x="0" y="276932"/>
            <a:ext cx="277792" cy="6300797"/>
          </a:xfrm>
          <a:prstGeom prst="rect">
            <a:avLst/>
          </a:prstGeom>
          <a:solidFill>
            <a:srgbClr val="00359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solidFill>
                <a:schemeClr val="accent1"/>
              </a:solidFill>
            </a:endParaRPr>
          </a:p>
        </p:txBody>
      </p:sp>
      <p:sp>
        <p:nvSpPr>
          <p:cNvPr id="16" name="Rectangle 15">
            <a:extLst>
              <a:ext uri="{FF2B5EF4-FFF2-40B4-BE49-F238E27FC236}">
                <a16:creationId xmlns:a16="http://schemas.microsoft.com/office/drawing/2014/main" id="{E385FC82-33E7-013B-6909-1A92FFD178C0}"/>
              </a:ext>
            </a:extLst>
          </p:cNvPr>
          <p:cNvSpPr>
            <a:spLocks noGrp="1"/>
          </p:cNvSpPr>
          <p:nvPr/>
        </p:nvSpPr>
        <p:spPr>
          <a:xfrm>
            <a:off x="0" y="0"/>
            <a:ext cx="277794" cy="276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C7022-6BC1-4842-B509-8AB688F9537A}"/>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10525EC-881E-4B98-8D93-B464DA307D9C}"/>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Slide Number Placeholder 4">
            <a:extLst>
              <a:ext uri="{FF2B5EF4-FFF2-40B4-BE49-F238E27FC236}">
                <a16:creationId xmlns:a16="http://schemas.microsoft.com/office/drawing/2014/main" id="{C2BD5778-B21B-40B6-9CEF-79B0D59AC26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7CD06EFF-F9A5-9E40-A502-3D98189BE54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hdr="0" ftr="0" dt="0"/>
  <p:txStyles>
    <p:titleStyle>
      <a:lvl1pPr algn="l" defTabSz="914400">
        <a:lnSpc>
          <a:spcPct val="90000"/>
        </a:lnSpc>
        <a:spcBef>
          <a:spcPct val="0"/>
        </a:spcBef>
        <a:buNone/>
        <a:defRPr sz="4000" b="1" i="0" kern="1200">
          <a:solidFill>
            <a:schemeClr val="bg2">
              <a:lumMod val="25000"/>
            </a:schemeClr>
          </a:solidFill>
          <a:latin typeface="Arial"/>
          <a:ea typeface="Arial"/>
          <a:cs typeface="Arial"/>
        </a:defRPr>
      </a:lvl1pPr>
    </p:titleStyle>
    <p:bodyStyle>
      <a:lvl1pPr marL="457200" indent="-457200" algn="l" defTabSz="914400">
        <a:lnSpc>
          <a:spcPct val="90000"/>
        </a:lnSpc>
        <a:spcBef>
          <a:spcPts val="1000"/>
        </a:spcBef>
        <a:buClr>
          <a:schemeClr val="accent1"/>
        </a:buClr>
        <a:buFont typeface="Wingdings"/>
        <a:buChar char="§"/>
        <a:defRPr sz="2800" kern="1200">
          <a:solidFill>
            <a:schemeClr val="tx1"/>
          </a:solidFill>
          <a:latin typeface="Arial"/>
          <a:ea typeface="Arial"/>
          <a:cs typeface="Arial"/>
        </a:defRPr>
      </a:lvl1pPr>
      <a:lvl2pPr marL="800100" indent="-342900" algn="l" defTabSz="914400">
        <a:lnSpc>
          <a:spcPct val="90000"/>
        </a:lnSpc>
        <a:spcBef>
          <a:spcPts val="500"/>
        </a:spcBef>
        <a:buClr>
          <a:schemeClr val="accent1"/>
        </a:buClr>
        <a:buFont typeface="Wingdings"/>
        <a:buChar char="§"/>
        <a:defRPr sz="2400" kern="1200">
          <a:solidFill>
            <a:schemeClr val="tx1"/>
          </a:solidFill>
          <a:latin typeface="Arial"/>
          <a:ea typeface="Arial"/>
          <a:cs typeface="Arial"/>
        </a:defRPr>
      </a:lvl2pPr>
      <a:lvl3pPr marL="1257300" indent="-342900" algn="l" defTabSz="914400">
        <a:lnSpc>
          <a:spcPct val="90000"/>
        </a:lnSpc>
        <a:spcBef>
          <a:spcPts val="500"/>
        </a:spcBef>
        <a:buClr>
          <a:schemeClr val="accent1"/>
        </a:buClr>
        <a:buFont typeface="Wingdings"/>
        <a:buChar char="§"/>
        <a:defRPr sz="2000" kern="1200">
          <a:solidFill>
            <a:schemeClr val="tx1"/>
          </a:solidFill>
          <a:latin typeface="Arial"/>
          <a:ea typeface="Arial"/>
          <a:cs typeface="Arial"/>
        </a:defRPr>
      </a:lvl3pPr>
      <a:lvl4pPr marL="1657350" indent="-285750" algn="l" defTabSz="914400">
        <a:lnSpc>
          <a:spcPct val="90000"/>
        </a:lnSpc>
        <a:spcBef>
          <a:spcPts val="500"/>
        </a:spcBef>
        <a:buClr>
          <a:schemeClr val="accent1"/>
        </a:buClr>
        <a:buFont typeface="Wingdings"/>
        <a:buChar char="§"/>
        <a:defRPr sz="1800" kern="1200">
          <a:solidFill>
            <a:schemeClr val="tx1"/>
          </a:solidFill>
          <a:latin typeface="Arial"/>
          <a:ea typeface="Arial"/>
          <a:cs typeface="Arial"/>
        </a:defRPr>
      </a:lvl4pPr>
      <a:lvl5pPr marL="2114550" indent="-285750" algn="l" defTabSz="914400">
        <a:lnSpc>
          <a:spcPct val="90000"/>
        </a:lnSpc>
        <a:spcBef>
          <a:spcPts val="500"/>
        </a:spcBef>
        <a:buClr>
          <a:schemeClr val="accent1"/>
        </a:buClr>
        <a:buFont typeface="Wingdings"/>
        <a:buChar char="§"/>
        <a:defRPr sz="1800" kern="1200">
          <a:solidFill>
            <a:schemeClr val="tx1"/>
          </a:solidFill>
          <a:latin typeface="Arial"/>
          <a:ea typeface="Arial"/>
          <a:cs typeface="Arial"/>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osmanbeyoglulab/ECCB-2026-Tutorial/" TargetMode="External"/><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63.png"/></Relationships>
</file>

<file path=ppt/slides/_rels/slide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23.emf"/></Relationships>
</file>

<file path=ppt/slides/_rels/slide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8E5F8-5932-BC74-2036-C72BB2FCB2E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92707B5-4BBA-CE9C-C0E1-16AB43BF1DE3}"/>
              </a:ext>
            </a:extLst>
          </p:cNvPr>
          <p:cNvSpPr>
            <a:spLocks noGrp="1"/>
          </p:cNvSpPr>
          <p:nvPr>
            <p:ph type="body" idx="15"/>
          </p:nvPr>
        </p:nvSpPr>
        <p:spPr/>
        <p:txBody>
          <a:bodyPr>
            <a:normAutofit/>
          </a:bodyPr>
          <a:lstStyle/>
          <a:p>
            <a:r>
              <a:rPr lang="en-US" sz="2800" dirty="0"/>
              <a:t>Hands-on workflow</a:t>
            </a:r>
          </a:p>
        </p:txBody>
      </p:sp>
      <p:sp>
        <p:nvSpPr>
          <p:cNvPr id="3" name="Text Placeholder 2">
            <a:extLst>
              <a:ext uri="{FF2B5EF4-FFF2-40B4-BE49-F238E27FC236}">
                <a16:creationId xmlns:a16="http://schemas.microsoft.com/office/drawing/2014/main" id="{C7E4776E-6005-DCC4-7B5B-90CBD0BB4479}"/>
              </a:ext>
            </a:extLst>
          </p:cNvPr>
          <p:cNvSpPr>
            <a:spLocks noGrp="1"/>
          </p:cNvSpPr>
          <p:nvPr>
            <p:ph type="body" idx="14"/>
          </p:nvPr>
        </p:nvSpPr>
        <p:spPr/>
        <p:txBody>
          <a:bodyPr/>
          <a:lstStyle/>
          <a:p>
            <a:r>
              <a:t>Zeyuan Meng, MS — Intelligent Systems Program </a:t>
            </a:r>
          </a:p>
        </p:txBody>
      </p:sp>
      <p:sp>
        <p:nvSpPr>
          <p:cNvPr id="8" name="TextBox 7">
            <a:extLst>
              <a:ext uri="{FF2B5EF4-FFF2-40B4-BE49-F238E27FC236}">
                <a16:creationId xmlns:a16="http://schemas.microsoft.com/office/drawing/2014/main" id="{795E5C21-5C96-8C07-D989-4B2DFB1ABABE}"/>
              </a:ext>
            </a:extLst>
          </p:cNvPr>
          <p:cNvSpPr txBox="1"/>
          <p:nvPr/>
        </p:nvSpPr>
        <p:spPr>
          <a:xfrm>
            <a:off x="992026" y="1191515"/>
            <a:ext cx="10757719" cy="333873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Session 0 — Set up the paired and transcript-only datasets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Session 1 — Preprocess paired spatial RNA and protein data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Session 2 — Understand how DGAT learns RNA-to-protein relationships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Session 3 — Infer and interpret protein landscapes in human lymph node</a:t>
            </a:r>
          </a:p>
          <a:p>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Tutorial materials: </a:t>
            </a:r>
          </a:p>
          <a:p>
            <a:r>
              <a:rPr lang="en-US" dirty="0">
                <a:latin typeface="Arial" panose="020B0604020202020204" pitchFamily="34" charset="0"/>
                <a:cs typeface="Arial" panose="020B0604020202020204" pitchFamily="34" charset="0"/>
                <a:hlinkClick r:id="rId3"/>
              </a:rPr>
              <a:t>        https://github.com/osmanbeyoglulab/ECCB-2026-Tutorial/</a:t>
            </a:r>
            <a:endParaRPr lang="en-US" dirty="0">
              <a:latin typeface="Arial" panose="020B0604020202020204" pitchFamily="34" charset="0"/>
              <a:cs typeface="Arial" panose="020B0604020202020204" pitchFamily="34" charset="0"/>
            </a:endParaRPr>
          </a:p>
          <a:p>
            <a:pPr>
              <a:lnSpc>
                <a:spcPct val="200000"/>
              </a:lnSpc>
            </a:pPr>
            <a:endParaRPr lang="en-US" b="1" dirty="0"/>
          </a:p>
        </p:txBody>
      </p:sp>
      <p:sp>
        <p:nvSpPr>
          <p:cNvPr id="4" name="Slide Number Placeholder 3">
            <a:extLst>
              <a:ext uri="{FF2B5EF4-FFF2-40B4-BE49-F238E27FC236}">
                <a16:creationId xmlns:a16="http://schemas.microsoft.com/office/drawing/2014/main" id="{4B9A0FD7-1C7F-2AFB-78A8-07876A6F445A}"/>
              </a:ext>
            </a:extLst>
          </p:cNvPr>
          <p:cNvSpPr>
            <a:spLocks noGrp="1"/>
          </p:cNvSpPr>
          <p:nvPr>
            <p:ph type="sldNum" idx="4"/>
          </p:nvPr>
        </p:nvSpPr>
        <p:spPr/>
        <p:txBody>
          <a:bodyPr/>
          <a:lstStyle/>
          <a:p>
            <a:r>
              <a:rPr lang="en-US" b="1">
                <a:solidFill>
                  <a:schemeClr val="accent2"/>
                </a:solidFill>
                <a:latin typeface="Arial"/>
                <a:ea typeface="Arial"/>
                <a:cs typeface="Arial"/>
              </a:rPr>
              <a:t>Slide </a:t>
            </a:r>
            <a:fld id="{7CD06EFF-F9A5-9E40-A502-3D98189BE54D}" type="slidenum">
              <a:rPr b="1" smtClean="0">
                <a:solidFill>
                  <a:schemeClr val="accent2"/>
                </a:solidFill>
                <a:latin typeface="Arial"/>
                <a:ea typeface="Arial"/>
                <a:cs typeface="Arial"/>
              </a:rPr>
              <a:t>1</a:t>
            </a:fld>
            <a:endParaRPr b="1">
              <a:solidFill>
                <a:schemeClr val="accent2"/>
              </a:solidFill>
              <a:latin typeface="Arial"/>
              <a:ea typeface="Arial"/>
              <a:cs typeface="Arial"/>
            </a:endParaRPr>
          </a:p>
        </p:txBody>
      </p:sp>
      <p:pic>
        <p:nvPicPr>
          <p:cNvPr id="10" name="Picture 6">
            <a:extLst>
              <a:ext uri="{FF2B5EF4-FFF2-40B4-BE49-F238E27FC236}">
                <a16:creationId xmlns:a16="http://schemas.microsoft.com/office/drawing/2014/main" id="{CF2FB883-4147-6319-782E-D22DAD29C09C}"/>
              </a:ext>
            </a:extLst>
          </p:cNvPr>
          <p:cNvPicPr>
            <a:picLocks noChangeAspect="1"/>
          </p:cNvPicPr>
          <p:nvPr/>
        </p:nvPicPr>
        <p:blipFill>
          <a:blip r:embed="rId4"/>
          <a:stretch>
            <a:fillRect/>
          </a:stretch>
        </p:blipFill>
        <p:spPr>
          <a:xfrm>
            <a:off x="8937522" y="834152"/>
            <a:ext cx="2971800" cy="2971800"/>
          </a:xfrm>
          <a:prstGeom prst="rect">
            <a:avLst/>
          </a:prstGeom>
        </p:spPr>
      </p:pic>
    </p:spTree>
    <p:extLst>
      <p:ext uri="{BB962C8B-B14F-4D97-AF65-F5344CB8AC3E}">
        <p14:creationId xmlns:p14="http://schemas.microsoft.com/office/powerpoint/2010/main" val="2954061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E9BD3E-B78F-5140-6D6E-3889A950C704}"/>
              </a:ext>
            </a:extLst>
          </p:cNvPr>
          <p:cNvSpPr>
            <a:spLocks noGrp="1"/>
          </p:cNvSpPr>
          <p:nvPr>
            <p:ph type="body" idx="15"/>
          </p:nvPr>
        </p:nvSpPr>
        <p:spPr/>
        <p:txBody>
          <a:bodyPr>
            <a:normAutofit/>
          </a:bodyPr>
          <a:lstStyle/>
          <a:p>
            <a:r>
              <a:rPr lang="en-US" sz="2800" dirty="0"/>
              <a:t>Session 1 — Prepare Paired Spatial RNA and Protein Data</a:t>
            </a:r>
          </a:p>
        </p:txBody>
      </p:sp>
      <p:sp>
        <p:nvSpPr>
          <p:cNvPr id="3" name="Text Placeholder 2">
            <a:extLst>
              <a:ext uri="{FF2B5EF4-FFF2-40B4-BE49-F238E27FC236}">
                <a16:creationId xmlns:a16="http://schemas.microsoft.com/office/drawing/2014/main" id="{D5BD75E1-1F49-0968-795E-DA2C2E8CF09F}"/>
              </a:ext>
            </a:extLst>
          </p:cNvPr>
          <p:cNvSpPr>
            <a:spLocks noGrp="1"/>
          </p:cNvSpPr>
          <p:nvPr>
            <p:ph type="body" idx="14"/>
          </p:nvPr>
        </p:nvSpPr>
        <p:spPr/>
        <p:txBody>
          <a:bodyPr/>
          <a:lstStyle/>
          <a:p>
            <a:r>
              <a:t>Zeyuan Meng, MS — Intelligent Systems Program </a:t>
            </a:r>
          </a:p>
        </p:txBody>
      </p:sp>
      <p:sp>
        <p:nvSpPr>
          <p:cNvPr id="4" name="Text Placeholder 3">
            <a:extLst>
              <a:ext uri="{FF2B5EF4-FFF2-40B4-BE49-F238E27FC236}">
                <a16:creationId xmlns:a16="http://schemas.microsoft.com/office/drawing/2014/main" id="{78311BF9-7ADE-C059-C0C7-E7BE25630F9B}"/>
              </a:ext>
            </a:extLst>
          </p:cNvPr>
          <p:cNvSpPr>
            <a:spLocks noGrp="1"/>
          </p:cNvSpPr>
          <p:nvPr>
            <p:ph type="body" idx="10"/>
          </p:nvPr>
        </p:nvSpPr>
        <p:spPr>
          <a:xfrm>
            <a:off x="992026" y="1309561"/>
            <a:ext cx="10758375" cy="3807265"/>
          </a:xfrm>
        </p:spPr>
        <p:txBody>
          <a:bodyPr/>
          <a:lstStyle/>
          <a:p>
            <a:pPr>
              <a:buFont typeface="Arial" panose="020B0604020202020204" pitchFamily="34" charset="0"/>
              <a:buChar char="•"/>
            </a:pPr>
            <a:r>
              <a:rPr lang="en-US" sz="1800" dirty="0"/>
              <a:t>Ensure that RNA, ADT, spatial coordinates, and annotations refer to the same spots in the same order.</a:t>
            </a:r>
          </a:p>
          <a:p>
            <a:pPr>
              <a:buFont typeface="Arial" panose="020B0604020202020204" pitchFamily="34" charset="0"/>
              <a:buChar char="•"/>
            </a:pPr>
            <a:r>
              <a:rPr lang="en-US" sz="1800" dirty="0"/>
              <a:t>Apply quality control without disrupting the correspondence across modalities. </a:t>
            </a:r>
          </a:p>
          <a:p>
            <a:pPr>
              <a:buFont typeface="Arial" panose="020B0604020202020204" pitchFamily="34" charset="0"/>
              <a:buChar char="•"/>
            </a:pPr>
            <a:r>
              <a:rPr lang="en-US" sz="1800" dirty="0"/>
              <a:t>Normalize RNA and protein measurements using modality-appropriate methods. </a:t>
            </a:r>
          </a:p>
          <a:p>
            <a:pPr>
              <a:buFont typeface="Arial" panose="020B0604020202020204" pitchFamily="34" charset="0"/>
              <a:buChar char="•"/>
            </a:pPr>
            <a:r>
              <a:rPr lang="en-US" sz="1800" dirty="0"/>
              <a:t>Construct spatial and molecular graphs to capture complementary neighborhood relationships.</a:t>
            </a:r>
          </a:p>
        </p:txBody>
      </p:sp>
      <p:pic>
        <p:nvPicPr>
          <p:cNvPr id="15" name="图片 6"/>
          <p:cNvPicPr>
            <a:picLocks noChangeAspect="1"/>
          </p:cNvPicPr>
          <p:nvPr/>
        </p:nvPicPr>
        <p:blipFill>
          <a:blip r:embed="rId3"/>
          <a:srcRect t="11761"/>
          <a:stretch>
            <a:fillRect/>
          </a:stretch>
        </p:blipFill>
        <p:spPr>
          <a:xfrm>
            <a:off x="4253948" y="3062478"/>
            <a:ext cx="4406518" cy="2721800"/>
          </a:xfrm>
          <a:prstGeom prst="rect">
            <a:avLst/>
          </a:prstGeom>
        </p:spPr>
      </p:pic>
      <p:sp>
        <p:nvSpPr>
          <p:cNvPr id="9" name="TextBox 8">
            <a:extLst>
              <a:ext uri="{FF2B5EF4-FFF2-40B4-BE49-F238E27FC236}">
                <a16:creationId xmlns:a16="http://schemas.microsoft.com/office/drawing/2014/main" id="{DCAA15A0-DD1C-CFA7-710C-BA3AD6C1C321}"/>
              </a:ext>
            </a:extLst>
          </p:cNvPr>
          <p:cNvSpPr>
            <a:spLocks noGrp="1"/>
          </p:cNvSpPr>
          <p:nvPr/>
        </p:nvSpPr>
        <p:spPr>
          <a:xfrm>
            <a:off x="1084790" y="5590452"/>
            <a:ext cx="10497609"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Core requirement:</a:t>
            </a:r>
            <a:r>
              <a:rPr lang="en-US" dirty="0">
                <a:latin typeface="Arial" panose="020B0604020202020204" pitchFamily="34" charset="0"/>
                <a:cs typeface="Arial" panose="020B0604020202020204" pitchFamily="34" charset="0"/>
              </a:rPr>
              <a:t> RNA, ADT, spatial coordinates, and annotations must describe the same spots in the same order.</a:t>
            </a:r>
            <a:endParaRPr sz="1800" b="1" dirty="0">
              <a:latin typeface="Arial" panose="020B0604020202020204" pitchFamily="34" charset="0"/>
              <a:ea typeface="Arial"/>
              <a:cs typeface="Arial" panose="020B0604020202020204" pitchFamily="34" charset="0"/>
            </a:endParaRPr>
          </a:p>
        </p:txBody>
      </p:sp>
    </p:spTree>
    <p:extLst>
      <p:ext uri="{BB962C8B-B14F-4D97-AF65-F5344CB8AC3E}">
        <p14:creationId xmlns:p14="http://schemas.microsoft.com/office/powerpoint/2010/main" val="3318548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D3048B-4405-5D72-124B-6E61A76AE9AC}"/>
              </a:ext>
            </a:extLst>
          </p:cNvPr>
          <p:cNvSpPr>
            <a:spLocks noGrp="1"/>
          </p:cNvSpPr>
          <p:nvPr>
            <p:ph type="body" idx="15"/>
          </p:nvPr>
        </p:nvSpPr>
        <p:spPr>
          <a:xfrm>
            <a:off x="992026" y="437441"/>
            <a:ext cx="11470640" cy="714726"/>
          </a:xfrm>
        </p:spPr>
        <p:txBody>
          <a:bodyPr lIns="0" tIns="45720" rIns="0" bIns="45720">
            <a:normAutofit fontScale="92521"/>
          </a:bodyPr>
          <a:lstStyle/>
          <a:p>
            <a:pPr algn="l">
              <a:buNone/>
              <a:defRPr sz="3735" b="1">
                <a:solidFill>
                  <a:schemeClr val="accent1"/>
                </a:solidFill>
                <a:latin typeface="Arial"/>
                <a:ea typeface="Arial"/>
                <a:cs typeface="Arial"/>
              </a:defRPr>
            </a:pPr>
            <a:r>
              <a:rPr sz="2800" b="1">
                <a:solidFill>
                  <a:schemeClr val="accent1"/>
                </a:solidFill>
                <a:latin typeface="Arial"/>
                <a:ea typeface="Arial"/>
                <a:cs typeface="Arial"/>
              </a:rPr>
              <a:t>Q</a:t>
            </a:r>
            <a:r>
              <a:rPr sz="3000" b="1">
                <a:solidFill>
                  <a:schemeClr val="accent1"/>
                </a:solidFill>
                <a:latin typeface="Arial"/>
                <a:ea typeface="Arial"/>
                <a:cs typeface="Arial"/>
              </a:rPr>
              <a:t>uality</a:t>
            </a:r>
            <a:r>
              <a:rPr sz="2800" b="1">
                <a:solidFill>
                  <a:schemeClr val="accent1"/>
                </a:solidFill>
                <a:latin typeface="Arial"/>
                <a:ea typeface="Arial"/>
                <a:cs typeface="Arial"/>
              </a:rPr>
              <a:t> Control</a:t>
            </a:r>
          </a:p>
        </p:txBody>
      </p:sp>
      <p:sp>
        <p:nvSpPr>
          <p:cNvPr id="3" name="Text Placeholder 2">
            <a:extLst>
              <a:ext uri="{FF2B5EF4-FFF2-40B4-BE49-F238E27FC236}">
                <a16:creationId xmlns:a16="http://schemas.microsoft.com/office/drawing/2014/main" id="{567AE893-6B5D-9F0C-0F6D-8B9E23A371C2}"/>
              </a:ext>
            </a:extLst>
          </p:cNvPr>
          <p:cNvSpPr>
            <a:spLocks noGrp="1"/>
          </p:cNvSpPr>
          <p:nvPr>
            <p:ph type="body" idx="14"/>
          </p:nvPr>
        </p:nvSpPr>
        <p:spPr/>
        <p:txBody>
          <a:bodyPr/>
          <a:lstStyle/>
          <a:p>
            <a:r>
              <a:t>Zeyuan Meng, MS — Intelligent Systems Program </a:t>
            </a:r>
          </a:p>
        </p:txBody>
      </p:sp>
      <p:sp>
        <p:nvSpPr>
          <p:cNvPr id="47" name="Text Placeholder 3">
            <a:extLst>
              <a:ext uri="{FF2B5EF4-FFF2-40B4-BE49-F238E27FC236}">
                <a16:creationId xmlns:a16="http://schemas.microsoft.com/office/drawing/2014/main" id="{EEF4EDC0-72B6-EB2F-78E9-E1D7130B8B04}"/>
              </a:ext>
            </a:extLst>
          </p:cNvPr>
          <p:cNvSpPr>
            <a:spLocks noGrp="1"/>
          </p:cNvSpPr>
          <p:nvPr/>
        </p:nvSpPr>
        <p:spPr>
          <a:xfrm>
            <a:off x="861046" y="5109128"/>
            <a:ext cx="10889028" cy="691269"/>
          </a:xfrm>
          <a:prstGeom prst="rect">
            <a:avLst/>
          </a:prstGeom>
        </p:spPr>
        <p:txBody>
          <a:bodyPr vert="horz" lIns="0" tIns="45720" rIns="0" bIns="45720">
            <a:normAutofit fontScale="99310"/>
          </a:bodyPr>
          <a:lstStyle>
            <a:lvl1pPr marL="457200" indent="-457200" algn="l" defTabSz="914400">
              <a:lnSpc>
                <a:spcPct val="90000"/>
              </a:lnSpc>
              <a:spcBef>
                <a:spcPts val="1000"/>
              </a:spcBef>
              <a:buClr>
                <a:schemeClr val="accent1"/>
              </a:buClr>
              <a:buFont typeface="Wingdings"/>
              <a:buChar char="§"/>
              <a:defRPr sz="2400" kern="1200">
                <a:solidFill>
                  <a:schemeClr val="tx1"/>
                </a:solidFill>
                <a:latin typeface="Arial"/>
                <a:ea typeface="Arial"/>
                <a:cs typeface="Arial"/>
              </a:defRPr>
            </a:lvl1pPr>
            <a:lvl2pPr marL="800100" indent="-342900" algn="l" defTabSz="914400">
              <a:lnSpc>
                <a:spcPct val="90000"/>
              </a:lnSpc>
              <a:spcBef>
                <a:spcPts val="500"/>
              </a:spcBef>
              <a:buClr>
                <a:schemeClr val="accent1"/>
              </a:buClr>
              <a:buFont typeface="Wingdings"/>
              <a:buChar char="§"/>
              <a:defRPr sz="2400" kern="1200">
                <a:solidFill>
                  <a:schemeClr val="tx1"/>
                </a:solidFill>
                <a:latin typeface="Arial"/>
                <a:ea typeface="Arial"/>
                <a:cs typeface="Arial"/>
              </a:defRPr>
            </a:lvl2pPr>
            <a:lvl3pPr marL="1257300" indent="-342900" algn="l" defTabSz="914400">
              <a:lnSpc>
                <a:spcPct val="90000"/>
              </a:lnSpc>
              <a:spcBef>
                <a:spcPts val="500"/>
              </a:spcBef>
              <a:buClr>
                <a:schemeClr val="accent1"/>
              </a:buClr>
              <a:buFont typeface="Wingdings"/>
              <a:buChar char="§"/>
              <a:defRPr sz="2000" kern="1200">
                <a:solidFill>
                  <a:schemeClr val="tx1"/>
                </a:solidFill>
                <a:latin typeface="Arial"/>
                <a:ea typeface="Arial"/>
                <a:cs typeface="Arial"/>
              </a:defRPr>
            </a:lvl3pPr>
            <a:lvl4pPr marL="1657350" indent="-285750" algn="l" defTabSz="914400">
              <a:lnSpc>
                <a:spcPct val="90000"/>
              </a:lnSpc>
              <a:spcBef>
                <a:spcPts val="500"/>
              </a:spcBef>
              <a:buClr>
                <a:schemeClr val="accent1"/>
              </a:buClr>
              <a:buFont typeface="Wingdings"/>
              <a:buChar char="§"/>
              <a:defRPr sz="1800" kern="1200">
                <a:solidFill>
                  <a:schemeClr val="tx1"/>
                </a:solidFill>
                <a:latin typeface="Arial"/>
                <a:ea typeface="Arial"/>
                <a:cs typeface="Arial"/>
              </a:defRPr>
            </a:lvl4pPr>
            <a:lvl5pPr marL="2114550" indent="-285750" algn="l" defTabSz="914400">
              <a:lnSpc>
                <a:spcPct val="90000"/>
              </a:lnSpc>
              <a:spcBef>
                <a:spcPts val="500"/>
              </a:spcBef>
              <a:buClr>
                <a:schemeClr val="accent1"/>
              </a:buClr>
              <a:buFont typeface="Wingdings"/>
              <a:buChar char="§"/>
              <a:defRPr sz="1800" kern="1200">
                <a:solidFill>
                  <a:schemeClr val="tx1"/>
                </a:solidFill>
                <a:latin typeface="Arial"/>
                <a:ea typeface="Arial"/>
                <a:cs typeface="Arial"/>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a:lnSpc>
                <a:spcPct val="100000"/>
              </a:lnSpc>
              <a:spcBef>
                <a:spcPct val="0"/>
              </a:spcBef>
              <a:spcAft>
                <a:spcPct val="0"/>
              </a:spcAft>
              <a:buClrTx/>
              <a:buNone/>
            </a:pPr>
            <a:endParaRPr sz="1700"/>
          </a:p>
        </p:txBody>
      </p:sp>
      <p:pic>
        <p:nvPicPr>
          <p:cNvPr id="53" name="Expected output — session01_qc_rna_and_protein.png"/>
          <p:cNvPicPr>
            <a:picLocks noChangeAspect="1"/>
          </p:cNvPicPr>
          <p:nvPr/>
        </p:nvPicPr>
        <p:blipFill>
          <a:blip r:embed="rId3"/>
          <a:stretch/>
        </p:blipFill>
        <p:spPr>
          <a:xfrm>
            <a:off x="6423366" y="1176708"/>
            <a:ext cx="5036397" cy="3659654"/>
          </a:xfrm>
          <a:prstGeom prst="rect">
            <a:avLst/>
          </a:prstGeom>
        </p:spPr>
      </p:pic>
      <p:sp>
        <p:nvSpPr>
          <p:cNvPr id="7" name="TextBox 6">
            <a:extLst>
              <a:ext uri="{FF2B5EF4-FFF2-40B4-BE49-F238E27FC236}">
                <a16:creationId xmlns:a16="http://schemas.microsoft.com/office/drawing/2014/main" id="{A6905B37-B6D8-0630-4F35-C3007BBEF8B0}"/>
              </a:ext>
            </a:extLst>
          </p:cNvPr>
          <p:cNvSpPr>
            <a:spLocks noGrp="1"/>
          </p:cNvSpPr>
          <p:nvPr/>
        </p:nvSpPr>
        <p:spPr>
          <a:xfrm>
            <a:off x="732237" y="1424274"/>
            <a:ext cx="5254852" cy="3139321"/>
          </a:xfrm>
          <a:prstGeom prst="rect">
            <a:avLst/>
          </a:prstGeom>
          <a:noFill/>
        </p:spPr>
        <p:txBody>
          <a:bodyPr wrap="square" lIns="91440" tIns="45720" rIns="91440" bIns="45720" anchor="t">
            <a:normAutofit fontScale="92500" lnSpcReduction="10000"/>
          </a:bodyPr>
          <a:lstStyle/>
          <a:p>
            <a:r>
              <a:rPr lang="en-US" b="1" dirty="0">
                <a:latin typeface="Arial" panose="020B0604020202020204" pitchFamily="34" charset="0"/>
                <a:cs typeface="Arial" panose="020B0604020202020204" pitchFamily="34" charset="0"/>
              </a:rPr>
              <a:t>Spot filtering:</a:t>
            </a:r>
            <a:r>
              <a:rPr lang="en-US" dirty="0">
                <a:latin typeface="Arial" panose="020B0604020202020204" pitchFamily="34" charset="0"/>
                <a:cs typeface="Arial" panose="020B0604020202020204" pitchFamily="34" charset="0"/>
              </a:rPr>
              <a:t> Remove spots with fewer than 700 detected genes or more than 30% mitochondrial UMIs to exclude low-complexity or potentially damaged spots.</a:t>
            </a:r>
          </a:p>
          <a:p>
            <a:r>
              <a:rPr lang="en-US" b="1" dirty="0">
                <a:latin typeface="Arial" panose="020B0604020202020204" pitchFamily="34" charset="0"/>
                <a:cs typeface="Arial" panose="020B0604020202020204" pitchFamily="34" charset="0"/>
              </a:rPr>
              <a:t>Gene filtering:</a:t>
            </a:r>
            <a:r>
              <a:rPr lang="en-US" dirty="0">
                <a:latin typeface="Arial" panose="020B0604020202020204" pitchFamily="34" charset="0"/>
                <a:cs typeface="Arial" panose="020B0604020202020204" pitchFamily="34" charset="0"/>
              </a:rPr>
              <a:t> Retain genes detected in at least 2.5% of spots to reduce sparsity and technical noise.</a:t>
            </a:r>
          </a:p>
          <a:p>
            <a:r>
              <a:rPr lang="en-US" b="1" dirty="0">
                <a:latin typeface="Arial" panose="020B0604020202020204" pitchFamily="34" charset="0"/>
                <a:cs typeface="Arial" panose="020B0604020202020204" pitchFamily="34" charset="0"/>
              </a:rPr>
              <a:t>Protein-panel cleanup:</a:t>
            </a:r>
            <a:r>
              <a:rPr lang="en-US" dirty="0">
                <a:latin typeface="Arial" panose="020B0604020202020204" pitchFamily="34" charset="0"/>
                <a:cs typeface="Arial" panose="020B0604020202020204" pitchFamily="34" charset="0"/>
              </a:rPr>
              <a:t> Remove four isotype controls because they measure nonspecific antibody background rather than biological protein abundance.</a:t>
            </a:r>
          </a:p>
          <a:p>
            <a:r>
              <a:rPr lang="en-US" b="1" dirty="0">
                <a:latin typeface="Arial" panose="020B0604020202020204" pitchFamily="34" charset="0"/>
                <a:cs typeface="Arial" panose="020B0604020202020204" pitchFamily="34" charset="0"/>
              </a:rPr>
              <a:t>Alignment check:</a:t>
            </a:r>
            <a:r>
              <a:rPr lang="en-US" dirty="0">
                <a:latin typeface="Arial" panose="020B0604020202020204" pitchFamily="34" charset="0"/>
                <a:cs typeface="Arial" panose="020B0604020202020204" pitchFamily="34" charset="0"/>
              </a:rPr>
              <a:t> Confirm that RNA, ADT, spatial coordinates, and annotations contain the same spots in the same order.</a:t>
            </a:r>
          </a:p>
          <a:p>
            <a:pPr marL="9" algn="l">
              <a:spcAft>
                <a:spcPts val="5"/>
              </a:spcAft>
              <a:defRPr sz="1800">
                <a:solidFill>
                  <a:schemeClr val="tx1"/>
                </a:solidFill>
                <a:latin typeface="Arial"/>
                <a:ea typeface="Arial"/>
                <a:cs typeface="Arial"/>
              </a:defRPr>
            </a:pPr>
            <a:endParaRPr sz="1800" dirty="0">
              <a:solidFill>
                <a:schemeClr val="tx1"/>
              </a:solidFill>
              <a:latin typeface="Arial"/>
              <a:ea typeface="Arial"/>
              <a:cs typeface="Arial"/>
            </a:endParaRPr>
          </a:p>
        </p:txBody>
      </p:sp>
    </p:spTree>
    <p:extLst>
      <p:ext uri="{BB962C8B-B14F-4D97-AF65-F5344CB8AC3E}">
        <p14:creationId xmlns:p14="http://schemas.microsoft.com/office/powerpoint/2010/main" val="3543450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597B79-B48E-62E7-D763-4F1A5E1F932D}"/>
              </a:ext>
            </a:extLst>
          </p:cNvPr>
          <p:cNvSpPr>
            <a:spLocks noGrp="1"/>
          </p:cNvSpPr>
          <p:nvPr>
            <p:ph type="body" idx="15"/>
          </p:nvPr>
        </p:nvSpPr>
        <p:spPr>
          <a:xfrm>
            <a:off x="992026" y="437441"/>
            <a:ext cx="11470640" cy="714726"/>
          </a:xfrm>
        </p:spPr>
        <p:txBody>
          <a:bodyPr lIns="0" tIns="45720" rIns="0" bIns="45720">
            <a:normAutofit/>
          </a:bodyPr>
          <a:lstStyle/>
          <a:p>
            <a:pPr algn="l">
              <a:buNone/>
              <a:defRPr sz="3735" b="1">
                <a:solidFill>
                  <a:schemeClr val="accent1"/>
                </a:solidFill>
                <a:latin typeface="Arial"/>
                <a:ea typeface="Arial"/>
                <a:cs typeface="Arial"/>
              </a:defRPr>
            </a:pPr>
            <a:r>
              <a:rPr sz="2800" b="1" dirty="0">
                <a:solidFill>
                  <a:schemeClr val="accent1"/>
                </a:solidFill>
                <a:latin typeface="Arial"/>
                <a:ea typeface="Arial"/>
                <a:cs typeface="Arial"/>
              </a:rPr>
              <a:t>RNA normalization</a:t>
            </a:r>
          </a:p>
        </p:txBody>
      </p:sp>
      <p:sp>
        <p:nvSpPr>
          <p:cNvPr id="3" name="Text Placeholder 2">
            <a:extLst>
              <a:ext uri="{FF2B5EF4-FFF2-40B4-BE49-F238E27FC236}">
                <a16:creationId xmlns:a16="http://schemas.microsoft.com/office/drawing/2014/main" id="{2E5618A4-A5E3-2743-018F-D396A7DE6DEB}"/>
              </a:ext>
            </a:extLst>
          </p:cNvPr>
          <p:cNvSpPr>
            <a:spLocks noGrp="1"/>
          </p:cNvSpPr>
          <p:nvPr>
            <p:ph type="body" idx="14"/>
          </p:nvPr>
        </p:nvSpPr>
        <p:spPr/>
        <p:txBody>
          <a:bodyPr/>
          <a:lstStyle/>
          <a:p>
            <a:r>
              <a:t>Zeyuan Meng, MS — Intelligent Systems Program </a:t>
            </a:r>
          </a:p>
        </p:txBody>
      </p:sp>
      <p:sp>
        <p:nvSpPr>
          <p:cNvPr id="7" name="TextBox 6">
            <a:extLst>
              <a:ext uri="{FF2B5EF4-FFF2-40B4-BE49-F238E27FC236}">
                <a16:creationId xmlns:a16="http://schemas.microsoft.com/office/drawing/2014/main" id="{268C5C61-5454-DE31-7F38-6DF154203F55}"/>
              </a:ext>
            </a:extLst>
          </p:cNvPr>
          <p:cNvSpPr>
            <a:spLocks noGrp="1"/>
          </p:cNvSpPr>
          <p:nvPr/>
        </p:nvSpPr>
        <p:spPr>
          <a:xfrm>
            <a:off x="6847114" y="1537016"/>
            <a:ext cx="4725761" cy="5802949"/>
          </a:xfrm>
          <a:prstGeom prst="rect">
            <a:avLst/>
          </a:prstGeom>
          <a:noFill/>
        </p:spPr>
        <p:txBody>
          <a:bodyPr wrap="square" lIns="91440" tIns="45720" rIns="91440" bIns="45720" anchor="t">
            <a:normAutofit/>
          </a:bodyPr>
          <a:lstStyle/>
          <a:p>
            <a:endParaRPr sz="1700">
              <a:solidFill>
                <a:schemeClr val="tx1"/>
              </a:solidFill>
              <a:latin typeface="Arial"/>
              <a:ea typeface="Arial"/>
              <a:cs typeface="Arial"/>
            </a:endParaRPr>
          </a:p>
        </p:txBody>
      </p:sp>
      <p:pic>
        <p:nvPicPr>
          <p:cNvPr id="20" name="Picture 7"/>
          <p:cNvPicPr>
            <a:picLocks noChangeAspect="1"/>
          </p:cNvPicPr>
          <p:nvPr/>
        </p:nvPicPr>
        <p:blipFill>
          <a:blip r:embed="rId3"/>
          <a:stretch>
            <a:fillRect/>
          </a:stretch>
        </p:blipFill>
        <p:spPr>
          <a:xfrm>
            <a:off x="3210604" y="1339550"/>
            <a:ext cx="5770789" cy="2182849"/>
          </a:xfrm>
          <a:prstGeom prst="rect">
            <a:avLst/>
          </a:prstGeom>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C91E71A-CA36-BFA6-8FC0-F4137B91160C}"/>
                  </a:ext>
                </a:extLst>
              </p:cNvPr>
              <p:cNvSpPr>
                <a:spLocks noGrp="1"/>
              </p:cNvSpPr>
              <p:nvPr/>
            </p:nvSpPr>
            <p:spPr>
              <a:xfrm>
                <a:off x="574759" y="3907248"/>
                <a:ext cx="11042480" cy="2031325"/>
              </a:xfrm>
              <a:prstGeom prst="rect">
                <a:avLst/>
              </a:prstGeom>
              <a:noFill/>
            </p:spPr>
            <p:txBody>
              <a:bodyPr wrap="square">
                <a:spAutoFit/>
              </a:bodyPr>
              <a:lstStyle/>
              <a:p>
                <a:pPr>
                  <a:buNone/>
                </a:pPr>
                <a:r>
                  <a:rPr b="1" dirty="0"/>
                  <a:t>log1p transformation — used for RNA</a:t>
                </a:r>
                <a:endParaRPr dirty="0"/>
              </a:p>
              <a:p>
                <a:pPr>
                  <a:buNone/>
                </a:pPr>
                <a:r>
                  <a:rPr dirty="0"/>
                  <a:t>After scaling each spot to the same total count, each value </a:t>
                </a:r>
                <a14:m>
                  <m:oMath xmlns:m="http://schemas.openxmlformats.org/officeDocument/2006/math">
                    <m:r>
                      <a:rPr lang="en-US" i="1">
                        <a:latin typeface="Cambria Math"/>
                        <a:ea typeface="Cambria Math"/>
                        <a:cs typeface="Cambria Math"/>
                      </a:rPr>
                      <m:t>𝑥</m:t>
                    </m:r>
                  </m:oMath>
                </a14:m>
                <a:r>
                  <a:rPr dirty="0"/>
                  <a:t>is transformed as:</a:t>
                </a:r>
              </a:p>
              <a:p>
                <a:pPr>
                  <a:buNone/>
                </a:pPr>
                <a14:m>
                  <m:oMathPara xmlns:m="http://schemas.openxmlformats.org/officeDocument/2006/math">
                    <m:oMath>
                      <m:r>
                        <a:rPr lang="en-US" i="1">
                          <a:latin typeface="Cambria Math"/>
                          <a:ea typeface="Cambria Math"/>
                          <a:cs typeface="Cambria Math"/>
                        </a:rPr>
                        <m:t>𝑥</m:t>
                      </m:r>
                      <m:r>
                        <a:rPr lang="en-US" i="0">
                          <a:latin typeface="Cambria Math"/>
                          <a:ea typeface="Cambria Math"/>
                          <a:cs typeface="Cambria Math"/>
                        </a:rPr>
                        <m:t>′=</m:t>
                      </m:r>
                      <m:func>
                        <m:funcPr>
                          <m:ctrlPr>
                            <a:rPr lang="en-US" i="0">
                              <a:latin typeface="Cambria Math"/>
                              <a:ea typeface="Cambria Math"/>
                              <a:cs typeface="Cambria Math"/>
                            </a:rPr>
                          </m:ctrlPr>
                        </m:funcPr>
                        <m:fName>
                          <m:r>
                            <a:rPr lang="en-US" i="0">
                              <a:latin typeface="Cambria Math"/>
                              <a:ea typeface="Cambria Math"/>
                              <a:cs typeface="Cambria Math"/>
                            </a:rPr>
                            <m:t>𝑙𝑜𝑔</m:t>
                          </m:r>
                        </m:fName>
                        <m:e>
                          <m:d>
                            <m:dPr>
                              <m:ctrlPr>
                                <a:rPr lang="en-US" i="0">
                                  <a:latin typeface="Cambria Math"/>
                                  <a:ea typeface="Cambria Math"/>
                                  <a:cs typeface="Cambria Math"/>
                                </a:rPr>
                              </m:ctrlPr>
                            </m:dPr>
                            <m:e>
                              <m:r>
                                <a:rPr lang="en-US" i="0">
                                  <a:latin typeface="Cambria Math"/>
                                  <a:ea typeface="Cambria Math"/>
                                  <a:cs typeface="Cambria Math"/>
                                </a:rPr>
                                <m:t>1+</m:t>
                              </m:r>
                              <m:r>
                                <a:rPr lang="en-US" i="1">
                                  <a:latin typeface="Cambria Math"/>
                                  <a:ea typeface="Cambria Math"/>
                                  <a:cs typeface="Cambria Math"/>
                                </a:rPr>
                                <m:t>𝑥</m:t>
                              </m:r>
                            </m:e>
                          </m:d>
                        </m:e>
                      </m:func>
                    </m:oMath>
                  </m:oMathPara>
                </a14:m>
                <a:endParaRPr dirty="0"/>
              </a:p>
              <a:p>
                <a:pPr marL="342900" indent="-342900">
                  <a:buFont typeface="Arial"/>
                  <a:buChar char="•"/>
                </a:pPr>
                <a:r>
                  <a:rPr dirty="0"/>
                  <a:t>Adding 1 keeps zero counts </a:t>
                </a:r>
                <a:r>
                  <a:rPr lang="en-US" dirty="0"/>
                  <a:t>remain zero after the log transformation</a:t>
                </a:r>
                <a:r>
                  <a:rPr dirty="0"/>
                  <a:t>.</a:t>
                </a:r>
              </a:p>
              <a:p>
                <a:pPr marL="342900" lvl="0" indent="-342900">
                  <a:buFont typeface="Arial"/>
                  <a:buChar char="•"/>
                </a:pPr>
                <a:r>
                  <a:rPr dirty="0"/>
                  <a:t>The logarithm compresses very large values, so highly expressed genes do not dominate the analysis.</a:t>
                </a:r>
              </a:p>
              <a:p>
                <a:pPr marL="342900" lvl="0" indent="-342900">
                  <a:buFont typeface="Arial"/>
                  <a:buChar char="•"/>
                </a:pPr>
                <a:r>
                  <a:rPr dirty="0"/>
                  <a:t>Small and moderate expression differences become easier for the model to compare.</a:t>
                </a:r>
              </a:p>
              <a:p>
                <a:pPr marL="342900" lvl="0" indent="-342900">
                  <a:buFont typeface="Arial"/>
                  <a:buChar char="•"/>
                </a:pPr>
                <a:r>
                  <a:rPr dirty="0"/>
                  <a:t>Gene-wise standardization and clipping are applied afterward.</a:t>
                </a:r>
              </a:p>
            </p:txBody>
          </p:sp>
        </mc:Choice>
        <mc:Fallback>
          <p:sp>
            <p:nvSpPr>
              <p:cNvPr id="12" name="TextBox 11">
                <a:extLst>
                  <a:ext uri="{FF2B5EF4-FFF2-40B4-BE49-F238E27FC236}">
                    <a16:creationId xmlns:a16="http://schemas.microsoft.com/office/drawing/2014/main" id="{0C91E71A-CA36-BFA6-8FC0-F4137B91160C}"/>
                  </a:ext>
                </a:extLst>
              </p:cNvPr>
              <p:cNvSpPr>
                <a:spLocks noGrp="1" noRot="1" noChangeAspect="1" noMove="1" noResize="1" noEditPoints="1" noAdjustHandles="1" noChangeArrowheads="1" noChangeShapeType="1" noTextEdit="1"/>
              </p:cNvSpPr>
              <p:nvPr/>
            </p:nvSpPr>
            <p:spPr>
              <a:xfrm>
                <a:off x="574759" y="3907248"/>
                <a:ext cx="11042480" cy="2031325"/>
              </a:xfrm>
              <a:prstGeom prst="rect">
                <a:avLst/>
              </a:prstGeom>
              <a:blipFill>
                <a:blip r:embed="rId4"/>
                <a:stretch>
                  <a:fillRect l="-460" t="-1242" b="-3727"/>
                </a:stretch>
              </a:blipFill>
            </p:spPr>
            <p:txBody>
              <a:bodyPr/>
              <a:lstStyle/>
              <a:p>
                <a:r>
                  <a:rPr lang="en-US">
                    <a:noFill/>
                  </a:rPr>
                  <a:t> </a:t>
                </a:r>
              </a:p>
            </p:txBody>
          </p:sp>
        </mc:Fallback>
      </mc:AlternateContent>
    </p:spTree>
    <p:extLst>
      <p:ext uri="{BB962C8B-B14F-4D97-AF65-F5344CB8AC3E}">
        <p14:creationId xmlns:p14="http://schemas.microsoft.com/office/powerpoint/2010/main" val="2619487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D3F973-C0BD-D708-0DA4-371C230CAC24}"/>
              </a:ext>
            </a:extLst>
          </p:cNvPr>
          <p:cNvSpPr>
            <a:spLocks noGrp="1"/>
          </p:cNvSpPr>
          <p:nvPr>
            <p:ph type="body" idx="15"/>
          </p:nvPr>
        </p:nvSpPr>
        <p:spPr>
          <a:xfrm>
            <a:off x="992026" y="437441"/>
            <a:ext cx="11470640" cy="714726"/>
          </a:xfrm>
        </p:spPr>
        <p:txBody>
          <a:bodyPr lIns="0" tIns="45720" rIns="0" bIns="45720">
            <a:normAutofit/>
          </a:bodyPr>
          <a:lstStyle/>
          <a:p>
            <a:pPr algn="l">
              <a:buNone/>
              <a:defRPr sz="3735" b="1">
                <a:solidFill>
                  <a:schemeClr val="accent1"/>
                </a:solidFill>
                <a:latin typeface="Arial"/>
                <a:ea typeface="Arial"/>
                <a:cs typeface="Arial"/>
              </a:defRPr>
            </a:pPr>
            <a:r>
              <a:rPr lang="en-US" sz="2800" dirty="0"/>
              <a:t>P</a:t>
            </a:r>
            <a:r>
              <a:rPr sz="2800" b="1" dirty="0">
                <a:solidFill>
                  <a:schemeClr val="accent1"/>
                </a:solidFill>
                <a:latin typeface="Arial"/>
                <a:ea typeface="Arial"/>
                <a:cs typeface="Arial"/>
              </a:rPr>
              <a:t>rotein normalization</a:t>
            </a:r>
            <a:r>
              <a:rPr lang="en-US" sz="2800" b="1" dirty="0">
                <a:solidFill>
                  <a:schemeClr val="accent1"/>
                </a:solidFill>
                <a:latin typeface="Arial"/>
                <a:ea typeface="Arial"/>
                <a:cs typeface="Arial"/>
              </a:rPr>
              <a:t> (CLR)</a:t>
            </a:r>
            <a:endParaRPr sz="2800" b="1" dirty="0">
              <a:solidFill>
                <a:schemeClr val="accent1"/>
              </a:solidFill>
              <a:latin typeface="Arial"/>
              <a:ea typeface="Arial"/>
              <a:cs typeface="Arial"/>
            </a:endParaRPr>
          </a:p>
        </p:txBody>
      </p:sp>
      <p:sp>
        <p:nvSpPr>
          <p:cNvPr id="3" name="Text Placeholder 2">
            <a:extLst>
              <a:ext uri="{FF2B5EF4-FFF2-40B4-BE49-F238E27FC236}">
                <a16:creationId xmlns:a16="http://schemas.microsoft.com/office/drawing/2014/main" id="{FD8F5C5C-2792-1A67-C7FE-D69E291FED29}"/>
              </a:ext>
            </a:extLst>
          </p:cNvPr>
          <p:cNvSpPr>
            <a:spLocks noGrp="1"/>
          </p:cNvSpPr>
          <p:nvPr>
            <p:ph type="body" idx="14"/>
          </p:nvPr>
        </p:nvSpPr>
        <p:spPr/>
        <p:txBody>
          <a:bodyPr/>
          <a:lstStyle/>
          <a:p>
            <a:r>
              <a:t>Zeyuan Meng, MS — Intelligent Systems Program </a:t>
            </a:r>
          </a:p>
        </p:txBody>
      </p:sp>
      <p:sp>
        <p:nvSpPr>
          <p:cNvPr id="7" name="TextBox 6">
            <a:extLst>
              <a:ext uri="{FF2B5EF4-FFF2-40B4-BE49-F238E27FC236}">
                <a16:creationId xmlns:a16="http://schemas.microsoft.com/office/drawing/2014/main" id="{BCE39632-525F-ECD8-F342-1AF80F80B5BF}"/>
              </a:ext>
            </a:extLst>
          </p:cNvPr>
          <p:cNvSpPr>
            <a:spLocks noGrp="1"/>
          </p:cNvSpPr>
          <p:nvPr/>
        </p:nvSpPr>
        <p:spPr>
          <a:xfrm>
            <a:off x="6816034" y="1308416"/>
            <a:ext cx="4725761" cy="5802949"/>
          </a:xfrm>
          <a:prstGeom prst="rect">
            <a:avLst/>
          </a:prstGeom>
          <a:noFill/>
        </p:spPr>
        <p:txBody>
          <a:bodyPr wrap="square" lIns="91440" tIns="45720" rIns="91440" bIns="45720" anchor="t">
            <a:normAutofit/>
          </a:bodyPr>
          <a:lstStyle/>
          <a:p>
            <a:endParaRPr sz="1700">
              <a:solidFill>
                <a:schemeClr val="tx1"/>
              </a:solidFill>
              <a:latin typeface="Arial"/>
              <a:ea typeface="Arial"/>
              <a:cs typeface="Arial"/>
            </a:endParaRPr>
          </a:p>
        </p:txBody>
      </p:sp>
      <p:pic>
        <p:nvPicPr>
          <p:cNvPr id="17" name="Picture 12"/>
          <p:cNvPicPr>
            <a:picLocks noChangeAspect="1"/>
          </p:cNvPicPr>
          <p:nvPr/>
        </p:nvPicPr>
        <p:blipFill>
          <a:blip r:embed="rId3"/>
          <a:stretch/>
        </p:blipFill>
        <p:spPr>
          <a:xfrm>
            <a:off x="3089206" y="1352922"/>
            <a:ext cx="5770789" cy="2212676"/>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286C03B-2570-0C5F-40B3-2A5617E4623F}"/>
                  </a:ext>
                </a:extLst>
              </p:cNvPr>
              <p:cNvSpPr>
                <a:spLocks noGrp="1"/>
              </p:cNvSpPr>
              <p:nvPr/>
            </p:nvSpPr>
            <p:spPr>
              <a:xfrm>
                <a:off x="1232589" y="3643722"/>
                <a:ext cx="10309205" cy="1310230"/>
              </a:xfrm>
              <a:prstGeom prst="rect">
                <a:avLst/>
              </a:prstGeom>
              <a:noFill/>
            </p:spPr>
            <p:txBody>
              <a:bodyPr wrap="square" lIns="0" tIns="0" rIns="0" bIns="0">
                <a:spAutoFit/>
              </a:bodyPr>
              <a:lstStyle/>
              <a:p>
                <a:r>
                  <a:rPr dirty="0">
                    <a:latin typeface="Arial" panose="020B0604020202020204" pitchFamily="34" charset="0"/>
                    <a:cs typeface="Arial" panose="020B0604020202020204" pitchFamily="34" charset="0"/>
                  </a:rPr>
                  <a:t>For protein </a:t>
                </a:r>
                <a14:m>
                  <m:oMath xmlns:m="http://schemas.openxmlformats.org/officeDocument/2006/math">
                    <m:r>
                      <a:rPr lang="en-US" i="1">
                        <a:latin typeface="Cambria Math"/>
                        <a:ea typeface="Cambria Math"/>
                        <a:cs typeface="Cambria Math"/>
                      </a:rPr>
                      <m:t>𝑗</m:t>
                    </m:r>
                  </m:oMath>
                </a14:m>
                <a:r>
                  <a:rPr dirty="0">
                    <a:latin typeface="Arial" panose="020B0604020202020204" pitchFamily="34" charset="0"/>
                    <a:cs typeface="Arial" panose="020B0604020202020204" pitchFamily="34" charset="0"/>
                  </a:rPr>
                  <a:t>, calculate its geometric-mean baseline across </a:t>
                </a:r>
                <a14:m>
                  <m:oMath xmlns:m="http://schemas.openxmlformats.org/officeDocument/2006/math">
                    <m:r>
                      <a:rPr lang="en-US" i="1">
                        <a:latin typeface="Cambria Math"/>
                        <a:ea typeface="Cambria Math"/>
                        <a:cs typeface="Cambria Math"/>
                      </a:rPr>
                      <m:t>𝑛</m:t>
                    </m:r>
                  </m:oMath>
                </a14:m>
                <a:r>
                  <a:rPr dirty="0">
                    <a:latin typeface="Arial" panose="020B0604020202020204" pitchFamily="34" charset="0"/>
                    <a:cs typeface="Arial" panose="020B0604020202020204" pitchFamily="34" charset="0"/>
                  </a:rPr>
                  <a:t> spots:</a:t>
                </a:r>
                <a:endParaRPr i="1" dirty="0">
                  <a:latin typeface="Arial" panose="020B0604020202020204" pitchFamily="34" charset="0"/>
                  <a:ea typeface="Cambria Math"/>
                  <a:cs typeface="Arial" panose="020B0604020202020204" pitchFamily="34" charset="0"/>
                </a:endParaRPr>
              </a:p>
              <a:p>
                <a:pPr>
                  <a:buNone/>
                </a:pPr>
                <a14:m>
                  <m:oMathPara xmlns:m="http://schemas.openxmlformats.org/officeDocument/2006/math">
                    <m:oMath>
                      <m:sSub>
                        <m:sSubPr>
                          <m:ctrlPr>
                            <a:rPr lang="en-US" i="1">
                              <a:latin typeface="Cambria Math"/>
                              <a:ea typeface="Cambria Math"/>
                              <a:cs typeface="Cambria Math"/>
                            </a:rPr>
                          </m:ctrlPr>
                        </m:sSubPr>
                        <m:e>
                          <m:r>
                            <a:rPr lang="en-US" i="1">
                              <a:latin typeface="Cambria Math"/>
                              <a:ea typeface="Cambria Math"/>
                              <a:cs typeface="Cambria Math"/>
                            </a:rPr>
                            <m:t>𝑔</m:t>
                          </m:r>
                        </m:e>
                        <m:sub>
                          <m:r>
                            <a:rPr lang="en-US" i="1">
                              <a:latin typeface="Cambria Math"/>
                              <a:ea typeface="Cambria Math"/>
                              <a:cs typeface="Cambria Math"/>
                            </a:rPr>
                            <m:t>𝑗</m:t>
                          </m:r>
                        </m:sub>
                      </m:sSub>
                      <m:r>
                        <a:rPr lang="en-US" i="0">
                          <a:latin typeface="Cambria Math"/>
                          <a:ea typeface="Cambria Math"/>
                          <a:cs typeface="Cambria Math"/>
                        </a:rPr>
                        <m:t>=</m:t>
                      </m:r>
                      <m:func>
                        <m:funcPr>
                          <m:ctrlPr>
                            <a:rPr lang="en-US" i="0">
                              <a:latin typeface="Cambria Math"/>
                              <a:ea typeface="Cambria Math"/>
                              <a:cs typeface="Cambria Math"/>
                            </a:rPr>
                          </m:ctrlPr>
                        </m:funcPr>
                        <m:fName>
                          <m:r>
                            <a:rPr lang="en-US" i="0">
                              <a:latin typeface="Cambria Math"/>
                              <a:ea typeface="Cambria Math"/>
                              <a:cs typeface="Cambria Math"/>
                            </a:rPr>
                            <m:t>𝑒𝑥𝑝</m:t>
                          </m:r>
                        </m:fName>
                        <m:e>
                          <m:d>
                            <m:dPr>
                              <m:ctrlPr>
                                <a:rPr lang="en-US" i="1">
                                  <a:latin typeface="Cambria Math" panose="02040503050406030204" pitchFamily="18" charset="0"/>
                                  <a:ea typeface="Cambria Math"/>
                                  <a:cs typeface="Cambria Math"/>
                                </a:rPr>
                              </m:ctrlPr>
                            </m:dPr>
                            <m:e>
                              <m:f>
                                <m:fPr>
                                  <m:ctrlPr>
                                    <a:rPr lang="en-US" i="0">
                                      <a:latin typeface="Cambria Math"/>
                                      <a:ea typeface="Cambria Math"/>
                                      <a:cs typeface="Cambria Math"/>
                                    </a:rPr>
                                  </m:ctrlPr>
                                </m:fPr>
                                <m:num>
                                  <m:r>
                                    <a:rPr lang="en-US" i="0">
                                      <a:latin typeface="Cambria Math"/>
                                      <a:ea typeface="Cambria Math"/>
                                      <a:cs typeface="Cambria Math"/>
                                    </a:rPr>
                                    <m:t>1</m:t>
                                  </m:r>
                                </m:num>
                                <m:den>
                                  <m:r>
                                    <a:rPr lang="en-US" i="1">
                                      <a:latin typeface="Cambria Math"/>
                                      <a:ea typeface="Cambria Math"/>
                                      <a:cs typeface="Cambria Math"/>
                                    </a:rPr>
                                    <m:t>𝑛</m:t>
                                  </m:r>
                                </m:den>
                              </m:f>
                              <m:nary>
                                <m:naryPr>
                                  <m:chr m:val="∑"/>
                                  <m:limLoc m:val="undOvr"/>
                                  <m:ctrlPr>
                                    <a:rPr lang="en-US" i="1">
                                      <a:latin typeface="Cambria Math"/>
                                      <a:ea typeface="Cambria Math"/>
                                      <a:cs typeface="Cambria Math"/>
                                    </a:rPr>
                                  </m:ctrlPr>
                                </m:naryPr>
                                <m:sub>
                                  <m:r>
                                    <a:rPr lang="en-US" i="1">
                                      <a:latin typeface="Cambria Math"/>
                                      <a:ea typeface="Cambria Math"/>
                                      <a:cs typeface="Cambria Math"/>
                                    </a:rPr>
                                    <m:t>𝑖</m:t>
                                  </m:r>
                                  <m:r>
                                    <a:rPr lang="en-US" i="0">
                                      <a:latin typeface="Cambria Math"/>
                                      <a:ea typeface="Cambria Math"/>
                                      <a:cs typeface="Cambria Math"/>
                                    </a:rPr>
                                    <m:t>=1</m:t>
                                  </m:r>
                                </m:sub>
                                <m:sup>
                                  <m:r>
                                    <a:rPr lang="en-US" i="1">
                                      <a:latin typeface="Cambria Math"/>
                                      <a:ea typeface="Cambria Math"/>
                                      <a:cs typeface="Cambria Math"/>
                                    </a:rPr>
                                    <m:t>𝑛</m:t>
                                  </m:r>
                                </m:sup>
                                <m:e>
                                  <m:func>
                                    <m:funcPr>
                                      <m:ctrlPr>
                                        <a:rPr lang="en-US" i="0">
                                          <a:latin typeface="Cambria Math"/>
                                          <a:ea typeface="Cambria Math"/>
                                          <a:cs typeface="Cambria Math"/>
                                        </a:rPr>
                                      </m:ctrlPr>
                                    </m:funcPr>
                                    <m:fName>
                                      <m:r>
                                        <a:rPr lang="en-US" i="0">
                                          <a:latin typeface="Cambria Math"/>
                                          <a:ea typeface="Cambria Math"/>
                                          <a:cs typeface="Cambria Math"/>
                                        </a:rPr>
                                        <m:t>𝑙𝑜𝑔</m:t>
                                      </m:r>
                                    </m:fName>
                                    <m:e>
                                      <m:d>
                                        <m:dPr>
                                          <m:ctrlPr>
                                            <a:rPr lang="en-US" i="0">
                                              <a:latin typeface="Cambria Math"/>
                                              <a:ea typeface="Cambria Math"/>
                                              <a:cs typeface="Cambria Math"/>
                                            </a:rPr>
                                          </m:ctrlPr>
                                        </m:dPr>
                                        <m:e>
                                          <m:r>
                                            <a:rPr lang="en-US" i="0">
                                              <a:latin typeface="Cambria Math"/>
                                              <a:ea typeface="Cambria Math"/>
                                              <a:cs typeface="Cambria Math"/>
                                            </a:rPr>
                                            <m:t>1+</m:t>
                                          </m:r>
                                          <m:sSub>
                                            <m:sSubPr>
                                              <m:ctrlPr>
                                                <a:rPr lang="en-US" i="1">
                                                  <a:latin typeface="Cambria Math"/>
                                                  <a:ea typeface="Cambria Math"/>
                                                  <a:cs typeface="Cambria Math"/>
                                                </a:rPr>
                                              </m:ctrlPr>
                                            </m:sSubPr>
                                            <m:e>
                                              <m:r>
                                                <a:rPr lang="en-US" i="1">
                                                  <a:latin typeface="Cambria Math"/>
                                                  <a:ea typeface="Cambria Math"/>
                                                  <a:cs typeface="Cambria Math"/>
                                                </a:rPr>
                                                <m:t>𝑥</m:t>
                                              </m:r>
                                            </m:e>
                                            <m:sub>
                                              <m:r>
                                                <a:rPr lang="en-US" i="1">
                                                  <a:latin typeface="Cambria Math"/>
                                                  <a:ea typeface="Cambria Math"/>
                                                  <a:cs typeface="Cambria Math"/>
                                                </a:rPr>
                                                <m:t>𝑖𝑗</m:t>
                                              </m:r>
                                            </m:sub>
                                          </m:sSub>
                                        </m:e>
                                      </m:d>
                                    </m:e>
                                  </m:func>
                                </m:e>
                              </m:nary>
                            </m:e>
                          </m:d>
                        </m:e>
                      </m:func>
                    </m:oMath>
                  </m:oMathPara>
                </a14:m>
                <a:endParaRPr dirty="0">
                  <a:latin typeface="Arial" panose="020B0604020202020204" pitchFamily="34" charset="0"/>
                  <a:cs typeface="Arial" panose="020B0604020202020204" pitchFamily="34" charset="0"/>
                </a:endParaRPr>
              </a:p>
              <a:p>
                <a:r>
                  <a:rPr dirty="0">
                    <a:latin typeface="Arial" panose="020B0604020202020204" pitchFamily="34" charset="0"/>
                    <a:cs typeface="Arial" panose="020B0604020202020204" pitchFamily="34" charset="0"/>
                  </a:rPr>
                  <a:t>Then transform the abundance at spot </a:t>
                </a:r>
                <a14:m>
                  <m:oMath xmlns:m="http://schemas.openxmlformats.org/officeDocument/2006/math">
                    <m:r>
                      <a:rPr lang="en-US" i="1">
                        <a:latin typeface="Cambria Math"/>
                        <a:ea typeface="Cambria Math"/>
                        <a:cs typeface="Cambria Math"/>
                      </a:rPr>
                      <m:t>𝑖</m:t>
                    </m:r>
                  </m:oMath>
                </a14:m>
                <a:endParaRPr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A286C03B-2570-0C5F-40B3-2A5617E4623F}"/>
                  </a:ext>
                </a:extLst>
              </p:cNvPr>
              <p:cNvSpPr>
                <a:spLocks noGrp="1" noRot="1" noChangeAspect="1" noMove="1" noResize="1" noEditPoints="1" noAdjustHandles="1" noChangeArrowheads="1" noChangeShapeType="1" noTextEdit="1"/>
              </p:cNvSpPr>
              <p:nvPr/>
            </p:nvSpPr>
            <p:spPr>
              <a:xfrm>
                <a:off x="1232589" y="3643722"/>
                <a:ext cx="10309205" cy="1310230"/>
              </a:xfrm>
              <a:prstGeom prst="rect">
                <a:avLst/>
              </a:prstGeom>
              <a:blipFill>
                <a:blip r:embed="rId4"/>
                <a:stretch>
                  <a:fillRect l="-1353" t="-48077" b="-82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050BF70-F190-6A57-464C-D880B771EC9E}"/>
                  </a:ext>
                </a:extLst>
              </p:cNvPr>
              <p:cNvSpPr>
                <a:spLocks noGrp="1"/>
              </p:cNvSpPr>
              <p:nvPr/>
            </p:nvSpPr>
            <p:spPr>
              <a:xfrm>
                <a:off x="5671620" y="4774612"/>
                <a:ext cx="1893788" cy="628314"/>
              </a:xfrm>
              <a:prstGeom prst="rect">
                <a:avLst/>
              </a:prstGeom>
              <a:noFill/>
            </p:spPr>
            <p:txBody>
              <a:bodyPr wrap="none" lIns="0" tIns="0" rIns="0" bIns="0">
                <a:spAutoFit/>
              </a:bodyPr>
              <a:lstStyle/>
              <a:p>
                <a:pPr>
                  <a:buNone/>
                </a:pPr>
                <a14:m>
                  <m:oMathPara xmlns:m="http://schemas.openxmlformats.org/officeDocument/2006/math">
                    <m:oMath>
                      <m:sSub>
                        <m:sSubPr>
                          <m:ctrlPr>
                            <a:rPr lang="en-US" i="1">
                              <a:latin typeface="Cambria Math"/>
                              <a:ea typeface="Cambria Math"/>
                              <a:cs typeface="Cambria Math"/>
                            </a:rPr>
                          </m:ctrlPr>
                        </m:sSubPr>
                        <m:e>
                          <m:r>
                            <a:rPr lang="en-US" i="1">
                              <a:latin typeface="Cambria Math"/>
                              <a:ea typeface="Cambria Math"/>
                              <a:cs typeface="Cambria Math"/>
                            </a:rPr>
                            <m:t>𝑧</m:t>
                          </m:r>
                        </m:e>
                        <m:sub>
                          <m:r>
                            <a:rPr lang="en-US" i="1">
                              <a:latin typeface="Cambria Math"/>
                              <a:ea typeface="Cambria Math"/>
                              <a:cs typeface="Cambria Math"/>
                            </a:rPr>
                            <m:t>𝑖𝑗</m:t>
                          </m:r>
                        </m:sub>
                      </m:sSub>
                      <m:r>
                        <a:rPr lang="en-US" i="0">
                          <a:latin typeface="Cambria Math"/>
                          <a:ea typeface="Cambria Math"/>
                          <a:cs typeface="Cambria Math"/>
                        </a:rPr>
                        <m:t>=</m:t>
                      </m:r>
                      <m:func>
                        <m:funcPr>
                          <m:ctrlPr>
                            <a:rPr lang="en-US" i="0">
                              <a:latin typeface="Cambria Math"/>
                              <a:ea typeface="Cambria Math"/>
                              <a:cs typeface="Cambria Math"/>
                            </a:rPr>
                          </m:ctrlPr>
                        </m:funcPr>
                        <m:fName>
                          <m:r>
                            <a:rPr lang="en-US" i="0">
                              <a:latin typeface="Cambria Math"/>
                              <a:ea typeface="Cambria Math"/>
                              <a:cs typeface="Cambria Math"/>
                            </a:rPr>
                            <m:t>𝑙𝑜𝑔</m:t>
                          </m:r>
                        </m:fName>
                        <m:e>
                          <m:d>
                            <m:dPr>
                              <m:ctrlPr>
                                <a:rPr lang="en-US" i="0">
                                  <a:latin typeface="Cambria Math"/>
                                  <a:ea typeface="Cambria Math"/>
                                  <a:cs typeface="Cambria Math"/>
                                </a:rPr>
                              </m:ctrlPr>
                            </m:dPr>
                            <m:e>
                              <m:r>
                                <a:rPr lang="en-US" i="0">
                                  <a:latin typeface="Cambria Math"/>
                                  <a:ea typeface="Cambria Math"/>
                                  <a:cs typeface="Cambria Math"/>
                                </a:rPr>
                                <m:t>1+</m:t>
                              </m:r>
                              <m:f>
                                <m:fPr>
                                  <m:ctrlPr>
                                    <a:rPr lang="en-US" i="1">
                                      <a:latin typeface="Cambria Math" panose="02040503050406030204" pitchFamily="18" charset="0"/>
                                      <a:ea typeface="Cambria Math"/>
                                      <a:cs typeface="Cambria Math"/>
                                    </a:rPr>
                                  </m:ctrlPr>
                                </m:fPr>
                                <m:num>
                                  <m:sSub>
                                    <m:sSubPr>
                                      <m:ctrlPr>
                                        <a:rPr lang="en-US" i="1">
                                          <a:latin typeface="Cambria Math"/>
                                          <a:ea typeface="Cambria Math"/>
                                          <a:cs typeface="Cambria Math"/>
                                        </a:rPr>
                                      </m:ctrlPr>
                                    </m:sSubPr>
                                    <m:e>
                                      <m:r>
                                        <a:rPr lang="en-US" i="1">
                                          <a:latin typeface="Cambria Math"/>
                                          <a:ea typeface="Cambria Math"/>
                                          <a:cs typeface="Cambria Math"/>
                                        </a:rPr>
                                        <m:t>𝑥</m:t>
                                      </m:r>
                                    </m:e>
                                    <m:sub>
                                      <m:r>
                                        <a:rPr lang="en-US" i="1">
                                          <a:latin typeface="Cambria Math"/>
                                          <a:ea typeface="Cambria Math"/>
                                          <a:cs typeface="Cambria Math"/>
                                        </a:rPr>
                                        <m:t>𝑖𝑗</m:t>
                                      </m:r>
                                    </m:sub>
                                  </m:sSub>
                                </m:num>
                                <m:den>
                                  <m:sSub>
                                    <m:sSubPr>
                                      <m:ctrlPr>
                                        <a:rPr lang="en-US" i="1">
                                          <a:latin typeface="Cambria Math"/>
                                          <a:ea typeface="Cambria Math"/>
                                          <a:cs typeface="Cambria Math"/>
                                        </a:rPr>
                                      </m:ctrlPr>
                                    </m:sSubPr>
                                    <m:e>
                                      <m:r>
                                        <a:rPr lang="en-US" i="1">
                                          <a:latin typeface="Cambria Math"/>
                                          <a:ea typeface="Cambria Math"/>
                                          <a:cs typeface="Cambria Math"/>
                                        </a:rPr>
                                        <m:t>𝑔</m:t>
                                      </m:r>
                                    </m:e>
                                    <m:sub>
                                      <m:r>
                                        <a:rPr lang="en-US" i="1">
                                          <a:latin typeface="Cambria Math"/>
                                          <a:ea typeface="Cambria Math"/>
                                          <a:cs typeface="Cambria Math"/>
                                        </a:rPr>
                                        <m:t>𝑗</m:t>
                                      </m:r>
                                    </m:sub>
                                  </m:sSub>
                                </m:den>
                              </m:f>
                            </m:e>
                          </m:d>
                        </m:e>
                      </m:func>
                    </m:oMath>
                  </m:oMathPara>
                </a14:m>
                <a:endParaRPr dirty="0"/>
              </a:p>
            </p:txBody>
          </p:sp>
        </mc:Choice>
        <mc:Fallback xmlns="">
          <p:sp>
            <p:nvSpPr>
              <p:cNvPr id="4" name="TextBox 3">
                <a:extLst>
                  <a:ext uri="{FF2B5EF4-FFF2-40B4-BE49-F238E27FC236}">
                    <a16:creationId xmlns:a16="http://schemas.microsoft.com/office/drawing/2014/main" id="{A050BF70-F190-6A57-464C-D880B771EC9E}"/>
                  </a:ext>
                </a:extLst>
              </p:cNvPr>
              <p:cNvSpPr>
                <a:spLocks noGrp="1" noRot="1" noChangeAspect="1" noMove="1" noResize="1" noEditPoints="1" noAdjustHandles="1" noChangeArrowheads="1" noChangeShapeType="1" noTextEdit="1"/>
              </p:cNvSpPr>
              <p:nvPr/>
            </p:nvSpPr>
            <p:spPr>
              <a:xfrm>
                <a:off x="5671620" y="4774612"/>
                <a:ext cx="1893788" cy="628314"/>
              </a:xfrm>
              <a:prstGeom prst="rect">
                <a:avLst/>
              </a:prstGeom>
              <a:blipFill>
                <a:blip r:embed="rId5"/>
                <a:stretch>
                  <a:fillRect l="-2000" b="-13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D75D94-CD82-4EE1-FA1A-4F733FEECD92}"/>
                  </a:ext>
                </a:extLst>
              </p:cNvPr>
              <p:cNvSpPr>
                <a:spLocks noGrp="1"/>
              </p:cNvSpPr>
              <p:nvPr/>
            </p:nvSpPr>
            <p:spPr>
              <a:xfrm>
                <a:off x="992026" y="5354272"/>
                <a:ext cx="10956958" cy="1244956"/>
              </a:xfrm>
              <a:prstGeom prst="rect">
                <a:avLst/>
              </a:prstGeom>
              <a:noFill/>
            </p:spPr>
            <p:txBody>
              <a:bodyPr wrap="square">
                <a:spAutoFit/>
              </a:bodyPr>
              <a:lstStyle/>
              <a:p>
                <a:pPr marL="285750" lvl="0" indent="-285750">
                  <a:buFont typeface="Arial"/>
                  <a:buChar char="•"/>
                </a:pPr>
                <a14:m>
                  <m:oMath xmlns:m="http://schemas.openxmlformats.org/officeDocument/2006/math">
                    <m:sSub>
                      <m:sSubPr>
                        <m:ctrlPr>
                          <a:rPr lang="en-US" i="1">
                            <a:latin typeface="Cambria Math"/>
                            <a:ea typeface="Cambria Math"/>
                            <a:cs typeface="Cambria Math"/>
                          </a:rPr>
                        </m:ctrlPr>
                      </m:sSubPr>
                      <m:e>
                        <m:r>
                          <a:rPr lang="en-US" i="1">
                            <a:latin typeface="Cambria Math"/>
                            <a:ea typeface="Cambria Math"/>
                            <a:cs typeface="Cambria Math"/>
                          </a:rPr>
                          <m:t>𝑔</m:t>
                        </m:r>
                      </m:e>
                      <m:sub>
                        <m:r>
                          <a:rPr lang="en-US" i="1">
                            <a:latin typeface="Cambria Math"/>
                            <a:ea typeface="Cambria Math"/>
                            <a:cs typeface="Cambria Math"/>
                          </a:rPr>
                          <m:t>𝑗</m:t>
                        </m:r>
                      </m:sub>
                    </m:sSub>
                  </m:oMath>
                </a14:m>
                <a:r>
                  <a:rPr dirty="0">
                    <a:latin typeface="Arial" panose="020B0604020202020204" pitchFamily="34" charset="0"/>
                    <a:cs typeface="Arial" panose="020B0604020202020204" pitchFamily="34" charset="0"/>
                  </a:rPr>
                  <a:t>represents the typical tissue-wide level of protein </a:t>
                </a:r>
                <a14:m>
                  <m:oMath xmlns:m="http://schemas.openxmlformats.org/officeDocument/2006/math">
                    <m:r>
                      <a:rPr lang="en-US" i="1">
                        <a:latin typeface="Cambria Math"/>
                        <a:ea typeface="Cambria Math"/>
                        <a:cs typeface="Cambria Math"/>
                      </a:rPr>
                      <m:t>𝑗</m:t>
                    </m:r>
                  </m:oMath>
                </a14:m>
                <a:r>
                  <a:rPr dirty="0">
                    <a:latin typeface="Arial" panose="020B0604020202020204" pitchFamily="34" charset="0"/>
                    <a:cs typeface="Arial" panose="020B0604020202020204" pitchFamily="34" charset="0"/>
                  </a:rPr>
                  <a:t>.</a:t>
                </a:r>
              </a:p>
              <a:p>
                <a:pPr marL="285750" lvl="0" indent="-285750">
                  <a:buFont typeface="Arial"/>
                  <a:buChar char="•"/>
                </a:pPr>
                <a:r>
                  <a:rPr dirty="0">
                    <a:latin typeface="Arial" panose="020B0604020202020204" pitchFamily="34" charset="0"/>
                    <a:cs typeface="Arial" panose="020B0604020202020204" pitchFamily="34" charset="0"/>
                  </a:rPr>
                  <a:t>Larger </a:t>
                </a:r>
                <a14:m>
                  <m:oMath xmlns:m="http://schemas.openxmlformats.org/officeDocument/2006/math">
                    <m:sSub>
                      <m:sSubPr>
                        <m:ctrlPr>
                          <a:rPr lang="en-US" i="1">
                            <a:latin typeface="Cambria Math"/>
                            <a:ea typeface="Cambria Math"/>
                            <a:cs typeface="Cambria Math"/>
                          </a:rPr>
                        </m:ctrlPr>
                      </m:sSubPr>
                      <m:e>
                        <m:r>
                          <a:rPr lang="en-US" i="1">
                            <a:latin typeface="Cambria Math"/>
                            <a:ea typeface="Cambria Math"/>
                            <a:cs typeface="Cambria Math"/>
                          </a:rPr>
                          <m:t>𝑧</m:t>
                        </m:r>
                      </m:e>
                      <m:sub>
                        <m:r>
                          <a:rPr lang="en-US" i="1">
                            <a:latin typeface="Cambria Math"/>
                            <a:ea typeface="Cambria Math"/>
                            <a:cs typeface="Cambria Math"/>
                          </a:rPr>
                          <m:t>𝑖𝑗</m:t>
                        </m:r>
                      </m:sub>
                    </m:sSub>
                  </m:oMath>
                </a14:m>
                <a:r>
                  <a:rPr dirty="0">
                    <a:latin typeface="Arial" panose="020B0604020202020204" pitchFamily="34" charset="0"/>
                    <a:cs typeface="Arial" panose="020B0604020202020204" pitchFamily="34" charset="0"/>
                  </a:rPr>
                  <a:t> values indicate stronger protein signal relative to that baseline.</a:t>
                </a:r>
              </a:p>
              <a:p>
                <a:pPr marL="285750" lvl="0" indent="-285750">
                  <a:buFont typeface="Arial"/>
                  <a:buChar char="•"/>
                </a:pPr>
                <a:r>
                  <a:rPr dirty="0">
                    <a:latin typeface="Arial" panose="020B0604020202020204" pitchFamily="34" charset="0"/>
                    <a:cs typeface="Arial" panose="020B0604020202020204" pitchFamily="34" charset="0"/>
                  </a:rPr>
                  <a:t>CLR values describe relative signal, not absolute molecular abundance.</a:t>
                </a:r>
              </a:p>
              <a:p>
                <a:pPr marL="285750" indent="-285750">
                  <a:buFont typeface="Arial"/>
                  <a:buChar char="•"/>
                </a:pPr>
                <a:endParaRPr dirty="0"/>
              </a:p>
            </p:txBody>
          </p:sp>
        </mc:Choice>
        <mc:Fallback xmlns="">
          <p:sp>
            <p:nvSpPr>
              <p:cNvPr id="6" name="TextBox 5">
                <a:extLst>
                  <a:ext uri="{FF2B5EF4-FFF2-40B4-BE49-F238E27FC236}">
                    <a16:creationId xmlns:a16="http://schemas.microsoft.com/office/drawing/2014/main" id="{9FD75D94-CD82-4EE1-FA1A-4F733FEECD92}"/>
                  </a:ext>
                </a:extLst>
              </p:cNvPr>
              <p:cNvSpPr>
                <a:spLocks noGrp="1" noRot="1" noChangeAspect="1" noMove="1" noResize="1" noEditPoints="1" noAdjustHandles="1" noChangeArrowheads="1" noChangeShapeType="1" noTextEdit="1"/>
              </p:cNvSpPr>
              <p:nvPr/>
            </p:nvSpPr>
            <p:spPr>
              <a:xfrm>
                <a:off x="992026" y="5354272"/>
                <a:ext cx="10956958" cy="1244956"/>
              </a:xfrm>
              <a:prstGeom prst="rect">
                <a:avLst/>
              </a:prstGeom>
              <a:blipFill>
                <a:blip r:embed="rId6"/>
                <a:stretch>
                  <a:fillRect l="-463" t="-3030"/>
                </a:stretch>
              </a:blipFill>
            </p:spPr>
            <p:txBody>
              <a:bodyPr/>
              <a:lstStyle/>
              <a:p>
                <a:r>
                  <a:rPr lang="en-US">
                    <a:noFill/>
                  </a:rPr>
                  <a:t> </a:t>
                </a:r>
              </a:p>
            </p:txBody>
          </p:sp>
        </mc:Fallback>
      </mc:AlternateContent>
    </p:spTree>
    <p:extLst>
      <p:ext uri="{BB962C8B-B14F-4D97-AF65-F5344CB8AC3E}">
        <p14:creationId xmlns:p14="http://schemas.microsoft.com/office/powerpoint/2010/main" val="1833089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D3048B-4405-5D72-124B-6E61A76AE9AC}"/>
              </a:ext>
            </a:extLst>
          </p:cNvPr>
          <p:cNvSpPr>
            <a:spLocks noGrp="1"/>
          </p:cNvSpPr>
          <p:nvPr>
            <p:ph type="body" idx="15"/>
          </p:nvPr>
        </p:nvSpPr>
        <p:spPr>
          <a:xfrm>
            <a:off x="992026" y="437441"/>
            <a:ext cx="11470640" cy="714726"/>
          </a:xfrm>
        </p:spPr>
        <p:txBody>
          <a:bodyPr lIns="0" tIns="45720" rIns="0" bIns="45720">
            <a:normAutofit fontScale="99256"/>
          </a:bodyPr>
          <a:lstStyle/>
          <a:p>
            <a:pPr algn="l">
              <a:buNone/>
              <a:defRPr sz="3735" b="1">
                <a:solidFill>
                  <a:schemeClr val="accent1"/>
                </a:solidFill>
                <a:latin typeface="Arial"/>
                <a:ea typeface="Arial"/>
                <a:cs typeface="Arial"/>
              </a:defRPr>
            </a:pPr>
            <a:r>
              <a:rPr sz="2800" b="1">
                <a:solidFill>
                  <a:schemeClr val="accent1"/>
                </a:solidFill>
                <a:latin typeface="Arial"/>
                <a:ea typeface="Arial"/>
                <a:cs typeface="Arial"/>
              </a:rPr>
              <a:t>Three graphs encode three definitions of neighborhood</a:t>
            </a:r>
          </a:p>
        </p:txBody>
      </p:sp>
      <p:sp>
        <p:nvSpPr>
          <p:cNvPr id="3" name="Text Placeholder 2">
            <a:extLst>
              <a:ext uri="{FF2B5EF4-FFF2-40B4-BE49-F238E27FC236}">
                <a16:creationId xmlns:a16="http://schemas.microsoft.com/office/drawing/2014/main" id="{567AE893-6B5D-9F0C-0F6D-8B9E23A371C2}"/>
              </a:ext>
            </a:extLst>
          </p:cNvPr>
          <p:cNvSpPr>
            <a:spLocks noGrp="1"/>
          </p:cNvSpPr>
          <p:nvPr>
            <p:ph type="body" idx="14"/>
          </p:nvPr>
        </p:nvSpPr>
        <p:spPr/>
        <p:txBody>
          <a:bodyPr/>
          <a:lstStyle/>
          <a:p>
            <a:r>
              <a:t>Zeyuan Meng, MS — Intelligent Systems Program </a:t>
            </a:r>
          </a:p>
        </p:txBody>
      </p:sp>
      <p:pic>
        <p:nvPicPr>
          <p:cNvPr id="12" name="Picture 2"/>
          <p:cNvPicPr>
            <a:picLocks noChangeAspect="1"/>
          </p:cNvPicPr>
          <p:nvPr/>
        </p:nvPicPr>
        <p:blipFill>
          <a:blip r:embed="rId3"/>
          <a:srcRect/>
          <a:stretch>
            <a:fillRect/>
          </a:stretch>
        </p:blipFill>
        <p:spPr>
          <a:xfrm>
            <a:off x="1824328" y="1362713"/>
            <a:ext cx="8325522" cy="3174105"/>
          </a:xfrm>
          <a:prstGeom prst="rect">
            <a:avLst/>
          </a:prstGeom>
        </p:spPr>
      </p:pic>
      <p:sp>
        <p:nvSpPr>
          <p:cNvPr id="7" name="TextBox 6">
            <a:extLst>
              <a:ext uri="{FF2B5EF4-FFF2-40B4-BE49-F238E27FC236}">
                <a16:creationId xmlns:a16="http://schemas.microsoft.com/office/drawing/2014/main" id="{C76B3B97-90A8-84A1-3577-D600A72CA120}"/>
              </a:ext>
            </a:extLst>
          </p:cNvPr>
          <p:cNvSpPr>
            <a:spLocks noGrp="1"/>
          </p:cNvSpPr>
          <p:nvPr/>
        </p:nvSpPr>
        <p:spPr>
          <a:xfrm>
            <a:off x="992026" y="4939996"/>
            <a:ext cx="10576519" cy="1246495"/>
          </a:xfrm>
          <a:prstGeom prst="rect">
            <a:avLst/>
          </a:prstGeom>
          <a:noFill/>
        </p:spPr>
        <p:txBody>
          <a:bodyPr wrap="square">
            <a:spAutoFit/>
          </a:bodyPr>
          <a:lstStyle/>
          <a:p>
            <a:pPr marL="285759" indent="-285750">
              <a:spcAft>
                <a:spcPts val="5"/>
              </a:spcAft>
              <a:buFont typeface="Arial"/>
              <a:buChar char="•"/>
              <a:defRPr sz="1500">
                <a:solidFill>
                  <a:schemeClr val="tx1"/>
                </a:solidFill>
                <a:latin typeface="Arial"/>
                <a:ea typeface="Arial"/>
                <a:cs typeface="Arial"/>
              </a:defRPr>
            </a:pPr>
            <a:r>
              <a:rPr dirty="0">
                <a:latin typeface="Arial"/>
                <a:ea typeface="Arial"/>
                <a:cs typeface="Arial"/>
              </a:rPr>
              <a:t>Spatial 6-NN: nearby coordinates encode local tissue adjacency.</a:t>
            </a:r>
          </a:p>
          <a:p>
            <a:pPr marL="285759" indent="-285750">
              <a:spcAft>
                <a:spcPts val="5"/>
              </a:spcAft>
              <a:buFont typeface="Arial"/>
              <a:buChar char="•"/>
              <a:defRPr sz="1500">
                <a:solidFill>
                  <a:schemeClr val="tx1"/>
                </a:solidFill>
                <a:latin typeface="Arial"/>
                <a:ea typeface="Arial"/>
                <a:cs typeface="Arial"/>
              </a:defRPr>
            </a:pPr>
            <a:r>
              <a:rPr dirty="0">
                <a:latin typeface="Arial"/>
                <a:ea typeface="Arial"/>
                <a:cs typeface="Arial"/>
              </a:rPr>
              <a:t>RNA 10-NN: proximity in PCA space encodes transcriptional similarity; PCs retain 85% variance when &gt;1,500 genes are available.</a:t>
            </a:r>
          </a:p>
          <a:p>
            <a:pPr marL="285759" indent="-285750">
              <a:spcAft>
                <a:spcPts val="5"/>
              </a:spcAft>
              <a:buFont typeface="Arial"/>
              <a:buChar char="•"/>
              <a:defRPr sz="1500">
                <a:solidFill>
                  <a:schemeClr val="tx1"/>
                </a:solidFill>
                <a:latin typeface="Arial"/>
                <a:ea typeface="Arial"/>
                <a:cs typeface="Arial"/>
              </a:defRPr>
            </a:pPr>
            <a:r>
              <a:rPr dirty="0">
                <a:latin typeface="Arial"/>
                <a:ea typeface="Arial"/>
                <a:cs typeface="Arial"/>
              </a:rPr>
              <a:t>Protein 10-NN: proximity among 31 normalized ADTs encodes phenotypic similarity.</a:t>
            </a:r>
          </a:p>
          <a:p>
            <a:pPr marL="285759" indent="-285750">
              <a:spcAft>
                <a:spcPts val="5"/>
              </a:spcAft>
              <a:buFont typeface="Arial"/>
              <a:buChar char="•"/>
              <a:defRPr sz="1500">
                <a:solidFill>
                  <a:schemeClr val="tx1"/>
                </a:solidFill>
                <a:latin typeface="Arial"/>
                <a:ea typeface="Arial"/>
                <a:cs typeface="Arial"/>
              </a:defRPr>
            </a:pPr>
            <a:r>
              <a:rPr dirty="0">
                <a:latin typeface="Arial"/>
                <a:ea typeface="Arial"/>
                <a:cs typeface="Arial"/>
              </a:rPr>
              <a:t>Shared nodes: the spot set is identical; only the edge definitions change.</a:t>
            </a:r>
          </a:p>
        </p:txBody>
      </p:sp>
    </p:spTree>
    <p:extLst>
      <p:ext uri="{BB962C8B-B14F-4D97-AF65-F5344CB8AC3E}">
        <p14:creationId xmlns:p14="http://schemas.microsoft.com/office/powerpoint/2010/main" val="3543450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E9BD3E-B78F-5140-6D6E-3889A950C704}"/>
              </a:ext>
            </a:extLst>
          </p:cNvPr>
          <p:cNvSpPr>
            <a:spLocks noGrp="1"/>
          </p:cNvSpPr>
          <p:nvPr>
            <p:ph type="body" idx="15"/>
          </p:nvPr>
        </p:nvSpPr>
        <p:spPr/>
        <p:txBody>
          <a:bodyPr>
            <a:normAutofit/>
          </a:bodyPr>
          <a:lstStyle/>
          <a:p>
            <a:r>
              <a:rPr sz="2800" dirty="0"/>
              <a:t>Session 2 — DGAT architecture and training objective</a:t>
            </a:r>
          </a:p>
        </p:txBody>
      </p:sp>
      <p:sp>
        <p:nvSpPr>
          <p:cNvPr id="3" name="Text Placeholder 2">
            <a:extLst>
              <a:ext uri="{FF2B5EF4-FFF2-40B4-BE49-F238E27FC236}">
                <a16:creationId xmlns:a16="http://schemas.microsoft.com/office/drawing/2014/main" id="{D5BD75E1-1F49-0968-795E-DA2C2E8CF09F}"/>
              </a:ext>
            </a:extLst>
          </p:cNvPr>
          <p:cNvSpPr>
            <a:spLocks noGrp="1"/>
          </p:cNvSpPr>
          <p:nvPr>
            <p:ph type="body" idx="14"/>
          </p:nvPr>
        </p:nvSpPr>
        <p:spPr>
          <a:xfrm>
            <a:off x="992026" y="6487629"/>
            <a:ext cx="7945496" cy="375619"/>
          </a:xfrm>
        </p:spPr>
        <p:txBody>
          <a:bodyPr/>
          <a:lstStyle/>
          <a:p>
            <a:r>
              <a:t>Zeyuan Meng, MS — Intelligent Systems Program </a:t>
            </a:r>
          </a:p>
        </p:txBody>
      </p:sp>
      <p:sp>
        <p:nvSpPr>
          <p:cNvPr id="4" name="Text Placeholder 3">
            <a:extLst>
              <a:ext uri="{FF2B5EF4-FFF2-40B4-BE49-F238E27FC236}">
                <a16:creationId xmlns:a16="http://schemas.microsoft.com/office/drawing/2014/main" id="{78311BF9-7ADE-C059-C0C7-E7BE25630F9B}"/>
              </a:ext>
            </a:extLst>
          </p:cNvPr>
          <p:cNvSpPr>
            <a:spLocks noGrp="1"/>
          </p:cNvSpPr>
          <p:nvPr>
            <p:ph type="body" idx="10"/>
          </p:nvPr>
        </p:nvSpPr>
        <p:spPr>
          <a:xfrm>
            <a:off x="991699" y="1191515"/>
            <a:ext cx="10758375" cy="2099032"/>
          </a:xfrm>
        </p:spPr>
        <p:txBody>
          <a:bodyPr anchor="ctr"/>
          <a:lstStyle/>
          <a:p>
            <a:pPr marL="0" indent="0">
              <a:buNone/>
            </a:pPr>
            <a:r>
              <a:rPr sz="1800" b="1" dirty="0"/>
              <a:t>Two graph-attention encoders summarize paired RNA and protein neighborhoods.</a:t>
            </a:r>
            <a:endParaRPr sz="1800" dirty="0"/>
          </a:p>
          <a:p>
            <a:r>
              <a:rPr sz="1800" dirty="0"/>
              <a:t>Two modality-specific decoders reconstruct or translate those representations.</a:t>
            </a:r>
          </a:p>
          <a:p>
            <a:r>
              <a:rPr sz="1800" dirty="0"/>
              <a:t>A shared latent coordinate system connects measurements from the same spot.</a:t>
            </a:r>
          </a:p>
          <a:p>
            <a:r>
              <a:rPr sz="1800" dirty="0"/>
              <a:t>Five losses preserve information, align modalities, and train both translations.</a:t>
            </a:r>
          </a:p>
          <a:p>
            <a:r>
              <a:rPr sz="1800" dirty="0"/>
              <a:t>Deployment retains only the RNA encoder and protein decoder.</a:t>
            </a:r>
          </a:p>
        </p:txBody>
      </p:sp>
      <p:pic>
        <p:nvPicPr>
          <p:cNvPr id="6" name="Picture 8">
            <a:extLst>
              <a:ext uri="{FF2B5EF4-FFF2-40B4-BE49-F238E27FC236}">
                <a16:creationId xmlns:a16="http://schemas.microsoft.com/office/drawing/2014/main" id="{A196C057-002B-1F3B-A7BE-85CE051E2476}"/>
              </a:ext>
            </a:extLst>
          </p:cNvPr>
          <p:cNvPicPr>
            <a:picLocks noChangeAspect="1"/>
          </p:cNvPicPr>
          <p:nvPr/>
        </p:nvPicPr>
        <p:blipFill>
          <a:blip r:embed="rId3"/>
          <a:srcRect l="3676" r="10212" b="45876"/>
          <a:stretch>
            <a:fillRect/>
          </a:stretch>
        </p:blipFill>
        <p:spPr>
          <a:xfrm>
            <a:off x="1733549" y="3533986"/>
            <a:ext cx="7382653" cy="2710203"/>
          </a:xfrm>
          <a:prstGeom prst="rect">
            <a:avLst/>
          </a:prstGeom>
        </p:spPr>
      </p:pic>
    </p:spTree>
    <p:extLst>
      <p:ext uri="{BB962C8B-B14F-4D97-AF65-F5344CB8AC3E}">
        <p14:creationId xmlns:p14="http://schemas.microsoft.com/office/powerpoint/2010/main" val="3318548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280661-21E4-C8FF-CE0F-6526378FFD2A}"/>
              </a:ext>
            </a:extLst>
          </p:cNvPr>
          <p:cNvSpPr>
            <a:spLocks noGrp="1"/>
          </p:cNvSpPr>
          <p:nvPr>
            <p:ph type="body" idx="15"/>
          </p:nvPr>
        </p:nvSpPr>
        <p:spPr/>
        <p:txBody>
          <a:bodyPr>
            <a:normAutofit/>
          </a:bodyPr>
          <a:lstStyle/>
          <a:p>
            <a:r>
              <a:rPr sz="2800"/>
              <a:t>DGAT learns two views of the same spatial spot</a:t>
            </a:r>
            <a:endParaRPr sz="2600"/>
          </a:p>
        </p:txBody>
      </p:sp>
      <p:sp>
        <p:nvSpPr>
          <p:cNvPr id="3" name="Text Placeholder 2">
            <a:extLst>
              <a:ext uri="{FF2B5EF4-FFF2-40B4-BE49-F238E27FC236}">
                <a16:creationId xmlns:a16="http://schemas.microsoft.com/office/drawing/2014/main" id="{6D43D9BB-9663-4873-EEE7-5E81A8127FC8}"/>
              </a:ext>
            </a:extLst>
          </p:cNvPr>
          <p:cNvSpPr>
            <a:spLocks noGrp="1"/>
          </p:cNvSpPr>
          <p:nvPr>
            <p:ph type="body" idx="14"/>
          </p:nvPr>
        </p:nvSpPr>
        <p:spPr/>
        <p:txBody>
          <a:bodyPr/>
          <a:lstStyle/>
          <a:p>
            <a:r>
              <a:t>Haoyu Wang, Department of Biomedical Informatics</a:t>
            </a:r>
          </a:p>
        </p:txBody>
      </p:sp>
      <p:sp>
        <p:nvSpPr>
          <p:cNvPr id="10" name="Text Placeholder 1">
            <a:extLst>
              <a:ext uri="{FF2B5EF4-FFF2-40B4-BE49-F238E27FC236}">
                <a16:creationId xmlns:a16="http://schemas.microsoft.com/office/drawing/2014/main" id="{DB72DF27-7426-B48D-3354-7952960E1880}"/>
              </a:ext>
            </a:extLst>
          </p:cNvPr>
          <p:cNvSpPr>
            <a:spLocks noGrp="1"/>
          </p:cNvSpPr>
          <p:nvPr/>
        </p:nvSpPr>
        <p:spPr>
          <a:xfrm>
            <a:off x="5772914" y="1554284"/>
            <a:ext cx="5459818" cy="590914"/>
          </a:xfrm>
          <a:prstGeom prst="rect">
            <a:avLst/>
          </a:prstGeom>
        </p:spPr>
        <p:txBody>
          <a:bodyPr vert="horz" lIns="0" tIns="45720" rIns="0" bIns="45720">
            <a:normAutofit/>
          </a:bodyPr>
          <a:lstStyle>
            <a:lvl1pPr marL="0" indent="0" algn="l" defTabSz="914400">
              <a:lnSpc>
                <a:spcPct val="90000"/>
              </a:lnSpc>
              <a:spcBef>
                <a:spcPts val="1000"/>
              </a:spcBef>
              <a:buClr>
                <a:schemeClr val="accent1"/>
              </a:buClr>
              <a:buFontTx/>
              <a:buNone/>
              <a:defRPr sz="4000" b="1" kern="1200">
                <a:solidFill>
                  <a:schemeClr val="accent1"/>
                </a:solidFill>
                <a:latin typeface="Arial"/>
                <a:ea typeface="Arial"/>
                <a:cs typeface="Arial"/>
              </a:defRPr>
            </a:lvl1pPr>
            <a:lvl2pPr marL="457200" indent="0" algn="l" defTabSz="914400">
              <a:lnSpc>
                <a:spcPct val="90000"/>
              </a:lnSpc>
              <a:spcBef>
                <a:spcPts val="500"/>
              </a:spcBef>
              <a:buClr>
                <a:schemeClr val="accent1"/>
              </a:buClr>
              <a:buFontTx/>
              <a:buNone/>
              <a:defRPr sz="2400" kern="1200">
                <a:solidFill>
                  <a:schemeClr val="tx1"/>
                </a:solidFill>
                <a:latin typeface="Arial"/>
                <a:ea typeface="Arial"/>
                <a:cs typeface="Arial"/>
              </a:defRPr>
            </a:lvl2pPr>
            <a:lvl3pPr marL="914400" indent="0" algn="l" defTabSz="914400">
              <a:lnSpc>
                <a:spcPct val="90000"/>
              </a:lnSpc>
              <a:spcBef>
                <a:spcPts val="500"/>
              </a:spcBef>
              <a:buClr>
                <a:schemeClr val="accent1"/>
              </a:buClr>
              <a:buFontTx/>
              <a:buNone/>
              <a:defRPr sz="2000" kern="1200">
                <a:solidFill>
                  <a:schemeClr val="tx1"/>
                </a:solidFill>
                <a:latin typeface="Arial"/>
                <a:ea typeface="Arial"/>
                <a:cs typeface="Arial"/>
              </a:defRPr>
            </a:lvl3pPr>
            <a:lvl4pPr marL="1371600" indent="0" algn="l" defTabSz="914400">
              <a:lnSpc>
                <a:spcPct val="90000"/>
              </a:lnSpc>
              <a:spcBef>
                <a:spcPts val="500"/>
              </a:spcBef>
              <a:buClr>
                <a:schemeClr val="accent1"/>
              </a:buClr>
              <a:buFontTx/>
              <a:buNone/>
              <a:defRPr sz="1800" kern="1200">
                <a:solidFill>
                  <a:schemeClr val="tx1"/>
                </a:solidFill>
                <a:latin typeface="Arial"/>
                <a:ea typeface="Arial"/>
                <a:cs typeface="Arial"/>
              </a:defRPr>
            </a:lvl4pPr>
            <a:lvl5pPr marL="1828800" indent="0" algn="l" defTabSz="914400">
              <a:lnSpc>
                <a:spcPct val="90000"/>
              </a:lnSpc>
              <a:spcBef>
                <a:spcPts val="500"/>
              </a:spcBef>
              <a:buClr>
                <a:schemeClr val="accent1"/>
              </a:buClr>
              <a:buFontTx/>
              <a:buNone/>
              <a:defRPr sz="1800" kern="1200">
                <a:solidFill>
                  <a:schemeClr val="tx1"/>
                </a:solidFill>
                <a:latin typeface="Arial"/>
                <a:ea typeface="Arial"/>
                <a:cs typeface="Arial"/>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endParaRPr sz="2000">
              <a:solidFill>
                <a:schemeClr val="tx1"/>
              </a:solidFill>
            </a:endParaRPr>
          </a:p>
        </p:txBody>
      </p:sp>
      <p:pic>
        <p:nvPicPr>
          <p:cNvPr id="20" name="图片 11"/>
          <p:cNvPicPr>
            <a:picLocks noChangeAspect="1"/>
          </p:cNvPicPr>
          <p:nvPr/>
        </p:nvPicPr>
        <p:blipFill>
          <a:blip r:embed="rId3"/>
          <a:srcRect l="8235" t="11694" r="6823" b="9389"/>
          <a:stretch>
            <a:fillRect/>
          </a:stretch>
        </p:blipFill>
        <p:spPr>
          <a:xfrm>
            <a:off x="2932401" y="1422000"/>
            <a:ext cx="6005121" cy="2789624"/>
          </a:xfrm>
          <a:prstGeom prst="rect">
            <a:avLst/>
          </a:prstGeom>
        </p:spPr>
      </p:pic>
      <mc:AlternateContent xmlns:mc="http://schemas.openxmlformats.org/markup-compatibility/2006" xmlns:a14="http://schemas.microsoft.com/office/drawing/2010/main">
        <mc:Choice Requires="a14">
          <p:sp>
            <p:nvSpPr>
              <p:cNvPr id="14" name="Text Placeholder 3">
                <a:extLst>
                  <a:ext uri="{FF2B5EF4-FFF2-40B4-BE49-F238E27FC236}">
                    <a16:creationId xmlns:a16="http://schemas.microsoft.com/office/drawing/2014/main" id="{0BD5EC2D-D5CE-4126-0063-01EE1F034DB8}"/>
                  </a:ext>
                </a:extLst>
              </p:cNvPr>
              <p:cNvSpPr>
                <a:spLocks noGrp="1"/>
              </p:cNvSpPr>
              <p:nvPr>
                <p:ph type="body" idx="10"/>
              </p:nvPr>
            </p:nvSpPr>
            <p:spPr>
              <a:xfrm>
                <a:off x="638300" y="4442110"/>
                <a:ext cx="11111774" cy="1981210"/>
              </a:xfrm>
            </p:spPr>
            <p:txBody>
              <a:bodyPr anchor="ctr">
                <a:normAutofit/>
              </a:bodyPr>
              <a:lstStyle/>
              <a:p>
                <a:pPr lvl="0">
                  <a:buFont typeface="Arial"/>
                  <a:buChar char="•"/>
                </a:pPr>
                <a14:m>
                  <m:oMath xmlns:m="http://schemas.openxmlformats.org/officeDocument/2006/math">
                    <m:sSup>
                      <m:sSupPr>
                        <m:ctrlPr>
                          <a:rPr lang="en-US" sz="1800">
                            <a:latin typeface="Cambria Math"/>
                            <a:ea typeface="Cambria Math"/>
                            <a:cs typeface="Cambria Math"/>
                          </a:rPr>
                        </m:ctrlPr>
                      </m:sSupPr>
                      <m:e>
                        <m:r>
                          <a:rPr lang="en-US" sz="1800">
                            <a:latin typeface="Cambria Math"/>
                            <a:ea typeface="Cambria Math"/>
                            <a:cs typeface="Cambria Math"/>
                          </a:rPr>
                          <m:t>𝒢</m:t>
                        </m:r>
                      </m:e>
                      <m:sup>
                        <m:r>
                          <a:rPr lang="en-US" sz="1800" i="1">
                            <a:latin typeface="Cambria Math"/>
                            <a:ea typeface="Cambria Math"/>
                            <a:cs typeface="Cambria Math"/>
                          </a:rPr>
                          <m:t>𝑅</m:t>
                        </m:r>
                      </m:sup>
                    </m:sSup>
                    <m:r>
                      <a:rPr lang="en-US" sz="1800" i="0">
                        <a:latin typeface="Cambria Math"/>
                        <a:ea typeface="Cambria Math"/>
                        <a:cs typeface="Cambria Math"/>
                      </a:rPr>
                      <m:t>⟶</m:t>
                    </m:r>
                    <m:func>
                      <m:funcPr>
                        <m:ctrlPr>
                          <a:rPr lang="en-US" sz="1800" i="1">
                            <a:latin typeface="Cambria Math" panose="02040503050406030204" pitchFamily="18" charset="0"/>
                            <a:ea typeface="Cambria Math"/>
                            <a:cs typeface="Cambria Math"/>
                          </a:rPr>
                        </m:ctrlPr>
                      </m:funcPr>
                      <m:fName>
                        <m:sSub>
                          <m:sSubPr>
                            <m:ctrlPr>
                              <a:rPr lang="en-US" sz="1800" i="0">
                                <a:latin typeface="Cambria Math"/>
                                <a:ea typeface="Cambria Math"/>
                                <a:cs typeface="Cambria Math"/>
                              </a:rPr>
                            </m:ctrlPr>
                          </m:sSubPr>
                          <m:e>
                            <m:r>
                              <a:rPr lang="en-US" sz="1800" i="0">
                                <a:latin typeface="Cambria Math"/>
                                <a:ea typeface="Cambria Math"/>
                                <a:cs typeface="Cambria Math"/>
                              </a:rPr>
                              <m:t>𝐸𝑛𝑐𝑜𝑑𝑒𝑟</m:t>
                            </m:r>
                          </m:e>
                          <m:sub>
                            <m:r>
                              <a:rPr lang="en-US" sz="1800" i="1">
                                <a:latin typeface="Cambria Math"/>
                                <a:ea typeface="Cambria Math"/>
                                <a:cs typeface="Cambria Math"/>
                              </a:rPr>
                              <m:t>𝑅</m:t>
                            </m:r>
                          </m:sub>
                        </m:sSub>
                      </m:fName>
                      <m:e>
                        <m:r>
                          <a:rPr lang="en-US" sz="1800" i="0">
                            <a:latin typeface="Cambria Math"/>
                            <a:ea typeface="Cambria Math"/>
                            <a:cs typeface="Cambria Math"/>
                          </a:rPr>
                          <m:t>​</m:t>
                        </m:r>
                      </m:e>
                    </m:func>
                    <m:d>
                      <m:dPr>
                        <m:ctrlPr>
                          <a:rPr lang="en-US" sz="1800" i="1">
                            <a:latin typeface="Cambria Math" panose="02040503050406030204" pitchFamily="18" charset="0"/>
                            <a:ea typeface="Cambria Math"/>
                            <a:cs typeface="Cambria Math"/>
                          </a:rPr>
                        </m:ctrlPr>
                      </m:dPr>
                      <m:e>
                        <m:sSup>
                          <m:sSupPr>
                            <m:ctrlPr>
                              <a:rPr lang="en-US" sz="1800" i="0">
                                <a:latin typeface="Cambria Math"/>
                                <a:ea typeface="Cambria Math"/>
                                <a:cs typeface="Cambria Math"/>
                              </a:rPr>
                            </m:ctrlPr>
                          </m:sSupPr>
                          <m:e>
                            <m:r>
                              <a:rPr lang="en-US" sz="1800" i="0">
                                <a:latin typeface="Cambria Math"/>
                                <a:ea typeface="Cambria Math"/>
                                <a:cs typeface="Cambria Math"/>
                              </a:rPr>
                              <m:t>𝒢</m:t>
                            </m:r>
                          </m:e>
                          <m:sup>
                            <m:r>
                              <a:rPr lang="en-US" sz="1800" i="1">
                                <a:latin typeface="Cambria Math"/>
                                <a:ea typeface="Cambria Math"/>
                                <a:cs typeface="Cambria Math"/>
                              </a:rPr>
                              <m:t>𝑅</m:t>
                            </m:r>
                          </m:sup>
                        </m:sSup>
                      </m:e>
                    </m:d>
                    <m:r>
                      <a:rPr lang="en-US" sz="180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𝑅</m:t>
                        </m:r>
                      </m:sup>
                    </m:sSup>
                  </m:oMath>
                </a14:m>
                <a:endParaRPr sz="1800"/>
              </a:p>
              <a:p>
                <a:pPr lvl="0">
                  <a:buFont typeface="Arial"/>
                  <a:buChar char="•"/>
                </a:pPr>
                <a14:m>
                  <m:oMath xmlns:m="http://schemas.openxmlformats.org/officeDocument/2006/math">
                    <m:sSup>
                      <m:sSupPr>
                        <m:ctrlPr>
                          <a:rPr lang="en-US" sz="1800">
                            <a:latin typeface="Cambria Math"/>
                            <a:ea typeface="Cambria Math"/>
                            <a:cs typeface="Cambria Math"/>
                          </a:rPr>
                        </m:ctrlPr>
                      </m:sSupPr>
                      <m:e>
                        <m:r>
                          <a:rPr lang="en-US" sz="1800">
                            <a:latin typeface="Cambria Math"/>
                            <a:ea typeface="Cambria Math"/>
                            <a:cs typeface="Cambria Math"/>
                          </a:rPr>
                          <m:t>𝒢</m:t>
                        </m:r>
                      </m:e>
                      <m:sup>
                        <m:r>
                          <a:rPr lang="en-US" sz="1800" i="1">
                            <a:latin typeface="Cambria Math"/>
                            <a:ea typeface="Cambria Math"/>
                            <a:cs typeface="Cambria Math"/>
                          </a:rPr>
                          <m:t>𝑃</m:t>
                        </m:r>
                      </m:sup>
                    </m:sSup>
                    <m:r>
                      <a:rPr lang="en-US" sz="1800" i="0">
                        <a:latin typeface="Cambria Math"/>
                        <a:ea typeface="Cambria Math"/>
                        <a:cs typeface="Cambria Math"/>
                      </a:rPr>
                      <m:t>⟶</m:t>
                    </m:r>
                    <m:func>
                      <m:funcPr>
                        <m:ctrlPr>
                          <a:rPr lang="en-US" sz="1800" i="1">
                            <a:latin typeface="Cambria Math" panose="02040503050406030204" pitchFamily="18" charset="0"/>
                            <a:ea typeface="Cambria Math"/>
                            <a:cs typeface="Cambria Math"/>
                          </a:rPr>
                        </m:ctrlPr>
                      </m:funcPr>
                      <m:fName>
                        <m:sSub>
                          <m:sSubPr>
                            <m:ctrlPr>
                              <a:rPr lang="en-US" sz="1800" i="0">
                                <a:latin typeface="Cambria Math"/>
                                <a:ea typeface="Cambria Math"/>
                                <a:cs typeface="Cambria Math"/>
                              </a:rPr>
                            </m:ctrlPr>
                          </m:sSubPr>
                          <m:e>
                            <m:r>
                              <a:rPr lang="en-US" sz="1800" i="0">
                                <a:latin typeface="Cambria Math"/>
                                <a:ea typeface="Cambria Math"/>
                                <a:cs typeface="Cambria Math"/>
                              </a:rPr>
                              <m:t>𝐸𝑛𝑐𝑜𝑑𝑒𝑟</m:t>
                            </m:r>
                          </m:e>
                          <m:sub>
                            <m:r>
                              <a:rPr lang="en-US" sz="1800" i="1">
                                <a:latin typeface="Cambria Math"/>
                                <a:ea typeface="Cambria Math"/>
                                <a:cs typeface="Cambria Math"/>
                              </a:rPr>
                              <m:t>𝑃</m:t>
                            </m:r>
                          </m:sub>
                        </m:sSub>
                      </m:fName>
                      <m:e>
                        <m:r>
                          <a:rPr lang="en-US" sz="1800" i="0">
                            <a:latin typeface="Cambria Math"/>
                            <a:ea typeface="Cambria Math"/>
                            <a:cs typeface="Cambria Math"/>
                          </a:rPr>
                          <m:t>​</m:t>
                        </m:r>
                      </m:e>
                    </m:func>
                    <m:d>
                      <m:dPr>
                        <m:ctrlPr>
                          <a:rPr lang="en-US" sz="1800" i="1">
                            <a:latin typeface="Cambria Math" panose="02040503050406030204" pitchFamily="18" charset="0"/>
                            <a:ea typeface="Cambria Math"/>
                            <a:cs typeface="Cambria Math"/>
                          </a:rPr>
                        </m:ctrlPr>
                      </m:dPr>
                      <m:e>
                        <m:sSup>
                          <m:sSupPr>
                            <m:ctrlPr>
                              <a:rPr lang="en-US" sz="1800" i="0">
                                <a:latin typeface="Cambria Math"/>
                                <a:ea typeface="Cambria Math"/>
                                <a:cs typeface="Cambria Math"/>
                              </a:rPr>
                            </m:ctrlPr>
                          </m:sSupPr>
                          <m:e>
                            <m:r>
                              <a:rPr lang="en-US" sz="1800" i="0">
                                <a:latin typeface="Cambria Math"/>
                                <a:ea typeface="Cambria Math"/>
                                <a:cs typeface="Cambria Math"/>
                              </a:rPr>
                              <m:t>𝒢</m:t>
                            </m:r>
                          </m:e>
                          <m:sup>
                            <m:r>
                              <a:rPr lang="en-US" sz="1800" i="1">
                                <a:latin typeface="Cambria Math"/>
                                <a:ea typeface="Cambria Math"/>
                                <a:cs typeface="Cambria Math"/>
                              </a:rPr>
                              <m:t>𝑃</m:t>
                            </m:r>
                          </m:sup>
                        </m:sSup>
                      </m:e>
                    </m:d>
                    <m:r>
                      <a:rPr lang="en-US" sz="180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𝑃</m:t>
                        </m:r>
                      </m:sup>
                    </m:sSup>
                  </m:oMath>
                </a14:m>
                <a:endParaRPr sz="1800" b="0"/>
              </a:p>
              <a:p>
                <a:pPr lvl="0">
                  <a:buFont typeface="Arial"/>
                  <a:buChar char="•"/>
                </a:pPr>
                <a:r>
                  <a:rPr sz="1800"/>
                  <a:t>Plain language: two specialists summarize the same tissue location.</a:t>
                </a:r>
              </a:p>
              <a:p>
                <a:pPr>
                  <a:buFont typeface="Arial"/>
                  <a:buChar char="•"/>
                </a:pPr>
                <a:r>
                  <a:rPr sz="1800"/>
                  <a:t>Both 1,024-dimensional embeddings can feed both decoders.</a:t>
                </a:r>
              </a:p>
              <a:p>
                <a:pPr>
                  <a:buFont typeface="Arial"/>
                  <a:buChar char="•"/>
                </a:pPr>
                <a:r>
                  <a:rPr sz="1800"/>
                  <a:t>The crossed paths teach RNA representations to predict proteins.</a:t>
                </a:r>
              </a:p>
            </p:txBody>
          </p:sp>
        </mc:Choice>
        <mc:Fallback xmlns="">
          <p:sp>
            <p:nvSpPr>
              <p:cNvPr id="14" name="Text Placeholder 3">
                <a:extLst>
                  <a:ext uri="{FF2B5EF4-FFF2-40B4-BE49-F238E27FC236}">
                    <a16:creationId xmlns:a16="http://schemas.microsoft.com/office/drawing/2014/main" id="{0BD5EC2D-D5CE-4126-0063-01EE1F034DB8}"/>
                  </a:ext>
                </a:extLst>
              </p:cNvPr>
              <p:cNvSpPr>
                <a:spLocks noGrp="1" noRot="1" noChangeAspect="1" noMove="1" noResize="1" noEditPoints="1" noAdjustHandles="1" noChangeArrowheads="1" noChangeShapeType="1" noTextEdit="1"/>
              </p:cNvSpPr>
              <p:nvPr>
                <p:ph type="body" idx="10"/>
              </p:nvPr>
            </p:nvSpPr>
            <p:spPr>
              <a:xfrm>
                <a:off x="638300" y="4442110"/>
                <a:ext cx="11111774" cy="1981210"/>
              </a:xfrm>
              <a:blipFill>
                <a:blip r:embed="rId4"/>
                <a:stretch>
                  <a:fillRect l="-1256" b="-1274"/>
                </a:stretch>
              </a:blipFill>
            </p:spPr>
            <p:txBody>
              <a:bodyPr/>
              <a:lstStyle/>
              <a:p>
                <a:r>
                  <a:rPr lang="en-US">
                    <a:noFill/>
                  </a:rPr>
                  <a:t> </a:t>
                </a:r>
              </a:p>
            </p:txBody>
          </p:sp>
        </mc:Fallback>
      </mc:AlternateContent>
    </p:spTree>
    <p:extLst>
      <p:ext uri="{BB962C8B-B14F-4D97-AF65-F5344CB8AC3E}">
        <p14:creationId xmlns:p14="http://schemas.microsoft.com/office/powerpoint/2010/main" val="1642785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DCC043-EAA3-1C1E-615F-EF4D768D5296}"/>
              </a:ext>
            </a:extLst>
          </p:cNvPr>
          <p:cNvSpPr>
            <a:spLocks noGrp="1"/>
          </p:cNvSpPr>
          <p:nvPr>
            <p:ph type="body" idx="15"/>
          </p:nvPr>
        </p:nvSpPr>
        <p:spPr/>
        <p:txBody>
          <a:bodyPr lIns="0" tIns="45720" rIns="0" bIns="45720">
            <a:normAutofit fontScale="92500" lnSpcReduction="20000"/>
          </a:bodyPr>
          <a:lstStyle/>
          <a:p>
            <a:pPr>
              <a:defRPr sz="3735" b="1">
                <a:solidFill>
                  <a:schemeClr val="accent1"/>
                </a:solidFill>
                <a:latin typeface="Arial"/>
                <a:ea typeface="Arial"/>
                <a:cs typeface="Arial"/>
              </a:defRPr>
            </a:pPr>
            <a:r>
              <a:rPr lang="en-US" sz="2800" dirty="0"/>
              <a:t>Two encoders and two decoders support five complementary loss terms</a:t>
            </a:r>
            <a:endParaRPr sz="2800" b="1" dirty="0">
              <a:solidFill>
                <a:schemeClr val="accent1"/>
              </a:solidFill>
              <a:latin typeface="Arial"/>
              <a:ea typeface="Arial"/>
              <a:cs typeface="Arial"/>
            </a:endParaRPr>
          </a:p>
        </p:txBody>
      </p:sp>
      <p:sp>
        <p:nvSpPr>
          <p:cNvPr id="3" name="Text Placeholder 2">
            <a:extLst>
              <a:ext uri="{FF2B5EF4-FFF2-40B4-BE49-F238E27FC236}">
                <a16:creationId xmlns:a16="http://schemas.microsoft.com/office/drawing/2014/main" id="{DCD607CA-7281-8581-6BD7-4E786461BE6C}"/>
              </a:ext>
            </a:extLst>
          </p:cNvPr>
          <p:cNvSpPr>
            <a:spLocks noGrp="1"/>
          </p:cNvSpPr>
          <p:nvPr>
            <p:ph type="body" idx="14"/>
          </p:nvPr>
        </p:nvSpPr>
        <p:spPr/>
        <p:txBody>
          <a:bodyPr/>
          <a:lstStyle/>
          <a:p>
            <a:r>
              <a:t>Zeyuan Meng, MS — Intelligent Systems Program </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30C52C7-4F6F-40A5-5DBD-FD4090E2DC58}"/>
                  </a:ext>
                </a:extLst>
              </p:cNvPr>
              <p:cNvSpPr>
                <a:spLocks noGrp="1"/>
              </p:cNvSpPr>
              <p:nvPr>
                <p:ph type="body" idx="10"/>
              </p:nvPr>
            </p:nvSpPr>
            <p:spPr>
              <a:xfrm>
                <a:off x="991699" y="1655550"/>
                <a:ext cx="10758375" cy="3807265"/>
              </a:xfrm>
            </p:spPr>
            <p:txBody>
              <a:bodyPr lIns="0" tIns="45720" rIns="0" bIns="45720" anchor="ctr">
                <a:normAutofit/>
              </a:bodyPr>
              <a:lstStyle/>
              <a:p>
                <a:pPr lvl="0">
                  <a:buNone/>
                </a:pPr>
                <a:r>
                  <a:rPr sz="1800" b="1"/>
                  <a:t>Encode:</a:t>
                </a:r>
                <a:r>
                  <a:rPr sz="1800"/>
                  <a:t> </a:t>
                </a:r>
              </a:p>
              <a:p>
                <a:pPr>
                  <a:buNone/>
                </a:pPr>
                <a14:m>
                  <m:oMathPara xmlns:m="http://schemas.openxmlformats.org/officeDocument/2006/math">
                    <m:oMath>
                      <m:sSup>
                        <m:sSupPr>
                          <m:ctrlPr>
                            <a:rPr lang="en-US" sz="1800" b="1">
                              <a:latin typeface="Cambria Math"/>
                              <a:ea typeface="Cambria Math"/>
                              <a:cs typeface="Cambria Math"/>
                            </a:rPr>
                          </m:ctrlPr>
                        </m:sSupPr>
                        <m:e>
                          <m:r>
                            <a:rPr lang="en-US" sz="1800" b="1">
                              <a:latin typeface="Cambria Math"/>
                              <a:ea typeface="Cambria Math"/>
                              <a:cs typeface="Cambria Math"/>
                            </a:rPr>
                            <m:t>𝐳</m:t>
                          </m:r>
                        </m:e>
                        <m:sup>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𝐸</m:t>
                          </m:r>
                        </m:e>
                        <m:sup>
                          <m:r>
                            <a:rPr lang="en-US" sz="1800" b="0" i="1">
                              <a:latin typeface="Cambria Math"/>
                              <a:ea typeface="Cambria Math"/>
                              <a:cs typeface="Cambria Math"/>
                            </a:rPr>
                            <m:t>𝑅</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𝐀</m:t>
                              </m:r>
                            </m:e>
                            <m:sup>
                              <m:r>
                                <a:rPr lang="en-US" sz="1800" b="0" i="1">
                                  <a:latin typeface="Cambria Math"/>
                                  <a:ea typeface="Cambria Math"/>
                                  <a:cs typeface="Cambria Math"/>
                                </a:rPr>
                                <m:t>𝑅</m:t>
                              </m:r>
                            </m:sup>
                          </m:sSup>
                        </m:e>
                      </m:d>
                      <m:r>
                        <a:rPr lang="en-US" sz="1800" b="0" i="0">
                          <a:latin typeface="Cambria Math"/>
                          <a:ea typeface="Cambria Math"/>
                          <a:cs typeface="Cambria Math"/>
                        </a:rPr>
                        <m:t>,  </m:t>
                      </m:r>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𝐸</m:t>
                          </m:r>
                        </m:e>
                        <m:sup>
                          <m:r>
                            <a:rPr lang="en-US" sz="1800" b="0" i="1">
                              <a:latin typeface="Cambria Math"/>
                              <a:ea typeface="Cambria Math"/>
                              <a:cs typeface="Cambria Math"/>
                            </a:rPr>
                            <m:t>𝑃</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𝐀</m:t>
                              </m:r>
                            </m:e>
                            <m:sup>
                              <m:r>
                                <a:rPr lang="en-US" sz="1800" b="0" i="1">
                                  <a:latin typeface="Cambria Math"/>
                                  <a:ea typeface="Cambria Math"/>
                                  <a:cs typeface="Cambria Math"/>
                                </a:rPr>
                                <m:t>𝑃</m:t>
                              </m:r>
                            </m:sup>
                          </m:sSup>
                        </m:e>
                      </m:d>
                    </m:oMath>
                  </m:oMathPara>
                </a14:m>
                <a:endParaRPr sz="1800" b="0"/>
              </a:p>
              <a:p>
                <a:pPr lvl="0">
                  <a:buNone/>
                </a:pPr>
                <a:r>
                  <a:rPr sz="1800" b="1"/>
                  <a:t>Reconstruct:</a:t>
                </a:r>
                <a:r>
                  <a:rPr sz="1800"/>
                  <a:t> </a:t>
                </a:r>
              </a:p>
              <a:p>
                <a:pPr>
                  <a:buNone/>
                </a:pPr>
                <a14:m>
                  <m:oMathPara xmlns:m="http://schemas.openxmlformats.org/officeDocument/2006/math">
                    <m:oMath>
                      <m:sSup>
                        <m:sSupPr>
                          <m:ctrlPr>
                            <a:rPr lang="en-US" sz="1800" b="1" i="1">
                              <a:latin typeface="Cambria Math" panose="02040503050406030204" pitchFamily="18" charset="0"/>
                              <a:ea typeface="Cambria Math"/>
                              <a:cs typeface="Cambria Math"/>
                            </a:rPr>
                          </m:ctrlPr>
                        </m:sSupPr>
                        <m:e>
                          <m:acc>
                            <m:accPr>
                              <m:chr m:val="̂"/>
                              <m:ctrlPr>
                                <a:rPr lang="en-US" sz="1800" b="1">
                                  <a:latin typeface="Cambria Math"/>
                                  <a:ea typeface="Cambria Math"/>
                                  <a:cs typeface="Cambria Math"/>
                                </a:rPr>
                              </m:ctrlPr>
                            </m:accPr>
                            <m:e>
                              <m:r>
                                <a:rPr lang="en-US" sz="1800" b="1">
                                  <a:latin typeface="Cambria Math"/>
                                  <a:ea typeface="Cambria Math"/>
                                  <a:cs typeface="Cambria Math"/>
                                </a:rPr>
                                <m:t>𝐗</m:t>
                              </m:r>
                            </m:e>
                          </m:acc>
                        </m:e>
                        <m:sup>
                          <m:r>
                            <a:rPr lang="en-US" sz="1800" b="0" i="1">
                              <a:latin typeface="Cambria Math"/>
                              <a:ea typeface="Cambria Math"/>
                              <a:cs typeface="Cambria Math"/>
                            </a:rPr>
                            <m:t>𝑅</m:t>
                          </m:r>
                          <m:r>
                            <a:rPr lang="en-US" sz="1800" b="0" i="0">
                              <a:latin typeface="Cambria Math"/>
                              <a:ea typeface="Cambria Math"/>
                              <a:cs typeface="Cambria Math"/>
                            </a:rPr>
                            <m:t>←</m:t>
                          </m:r>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𝐷</m:t>
                          </m:r>
                        </m:e>
                        <m:sup>
                          <m:r>
                            <a:rPr lang="en-US" sz="1800" b="0" i="1">
                              <a:latin typeface="Cambria Math"/>
                              <a:ea typeface="Cambria Math"/>
                              <a:cs typeface="Cambria Math"/>
                            </a:rPr>
                            <m:t>𝑅</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𝑅</m:t>
                              </m:r>
                            </m:sup>
                          </m:sSup>
                        </m:e>
                      </m:d>
                      <m:r>
                        <a:rPr lang="en-US" sz="1800" b="0" i="0">
                          <a:latin typeface="Cambria Math"/>
                          <a:ea typeface="Cambria Math"/>
                          <a:cs typeface="Cambria Math"/>
                        </a:rPr>
                        <m:t>,  </m:t>
                      </m:r>
                      <m:sSup>
                        <m:sSupPr>
                          <m:ctrlPr>
                            <a:rPr lang="en-US" sz="1800" b="1" i="1">
                              <a:latin typeface="Cambria Math" panose="02040503050406030204" pitchFamily="18" charset="0"/>
                              <a:ea typeface="Cambria Math"/>
                              <a:cs typeface="Cambria Math"/>
                            </a:rPr>
                          </m:ctrlPr>
                        </m:sSupPr>
                        <m:e>
                          <m:acc>
                            <m:accPr>
                              <m:chr m:val="̂"/>
                              <m:ctrlPr>
                                <a:rPr lang="en-US" sz="1800" b="1" i="0">
                                  <a:latin typeface="Cambria Math"/>
                                  <a:ea typeface="Cambria Math"/>
                                  <a:cs typeface="Cambria Math"/>
                                </a:rPr>
                              </m:ctrlPr>
                            </m:accPr>
                            <m:e>
                              <m:r>
                                <a:rPr lang="en-US" sz="1800" b="1" i="0">
                                  <a:latin typeface="Cambria Math"/>
                                  <a:ea typeface="Cambria Math"/>
                                  <a:cs typeface="Cambria Math"/>
                                </a:rPr>
                                <m:t>𝐗</m:t>
                              </m:r>
                            </m:e>
                          </m:acc>
                        </m:e>
                        <m:sup>
                          <m:r>
                            <a:rPr lang="en-US" sz="1800" b="0" i="1">
                              <a:latin typeface="Cambria Math"/>
                              <a:ea typeface="Cambria Math"/>
                              <a:cs typeface="Cambria Math"/>
                            </a:rPr>
                            <m:t>𝑃</m:t>
                          </m:r>
                          <m:r>
                            <a:rPr lang="en-US" sz="1800" b="0" i="0">
                              <a:latin typeface="Cambria Math"/>
                              <a:ea typeface="Cambria Math"/>
                              <a:cs typeface="Cambria Math"/>
                            </a:rPr>
                            <m:t>←</m:t>
                          </m:r>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𝐷</m:t>
                          </m:r>
                        </m:e>
                        <m:sup>
                          <m:r>
                            <a:rPr lang="en-US" sz="1800" b="0" i="1">
                              <a:latin typeface="Cambria Math"/>
                              <a:ea typeface="Cambria Math"/>
                              <a:cs typeface="Cambria Math"/>
                            </a:rPr>
                            <m:t>𝑃</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𝑃</m:t>
                              </m:r>
                            </m:sup>
                          </m:sSup>
                        </m:e>
                      </m:d>
                    </m:oMath>
                  </m:oMathPara>
                </a14:m>
                <a:endParaRPr sz="1800" b="0"/>
              </a:p>
              <a:p>
                <a:pPr lvl="0">
                  <a:buNone/>
                </a:pPr>
                <a:r>
                  <a:rPr sz="1800" b="1"/>
                  <a:t>Translate across modalities:</a:t>
                </a:r>
                <a:r>
                  <a:rPr sz="1800"/>
                  <a:t> </a:t>
                </a:r>
              </a:p>
              <a:p>
                <a:pPr>
                  <a:buNone/>
                </a:pPr>
                <a14:m>
                  <m:oMathPara xmlns:m="http://schemas.openxmlformats.org/officeDocument/2006/math">
                    <m:oMath>
                      <m:sSup>
                        <m:sSupPr>
                          <m:ctrlPr>
                            <a:rPr lang="en-US" sz="1800" b="1" i="1">
                              <a:latin typeface="Cambria Math" panose="02040503050406030204" pitchFamily="18" charset="0"/>
                              <a:ea typeface="Cambria Math"/>
                              <a:cs typeface="Cambria Math"/>
                            </a:rPr>
                          </m:ctrlPr>
                        </m:sSupPr>
                        <m:e>
                          <m:acc>
                            <m:accPr>
                              <m:chr m:val="̂"/>
                              <m:ctrlPr>
                                <a:rPr lang="en-US" sz="1800" b="1">
                                  <a:latin typeface="Cambria Math"/>
                                  <a:ea typeface="Cambria Math"/>
                                  <a:cs typeface="Cambria Math"/>
                                </a:rPr>
                              </m:ctrlPr>
                            </m:accPr>
                            <m:e>
                              <m:r>
                                <a:rPr lang="en-US" sz="1800" b="1">
                                  <a:latin typeface="Cambria Math"/>
                                  <a:ea typeface="Cambria Math"/>
                                  <a:cs typeface="Cambria Math"/>
                                </a:rPr>
                                <m:t>𝐗</m:t>
                              </m:r>
                            </m:e>
                          </m:acc>
                        </m:e>
                        <m:sup>
                          <m:r>
                            <a:rPr lang="en-US" sz="1800" b="0" i="1">
                              <a:latin typeface="Cambria Math"/>
                              <a:ea typeface="Cambria Math"/>
                              <a:cs typeface="Cambria Math"/>
                            </a:rPr>
                            <m:t>𝑃</m:t>
                          </m:r>
                          <m:r>
                            <a:rPr lang="en-US" sz="1800" b="0" i="0">
                              <a:latin typeface="Cambria Math"/>
                              <a:ea typeface="Cambria Math"/>
                              <a:cs typeface="Cambria Math"/>
                            </a:rPr>
                            <m:t>←</m:t>
                          </m:r>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𝐷</m:t>
                          </m:r>
                        </m:e>
                        <m:sup>
                          <m:r>
                            <a:rPr lang="en-US" sz="1800" b="0" i="1">
                              <a:latin typeface="Cambria Math"/>
                              <a:ea typeface="Cambria Math"/>
                              <a:cs typeface="Cambria Math"/>
                            </a:rPr>
                            <m:t>𝑃</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𝑅</m:t>
                              </m:r>
                            </m:sup>
                          </m:sSup>
                        </m:e>
                      </m:d>
                      <m:r>
                        <a:rPr lang="en-US" sz="1800" b="0" i="0">
                          <a:latin typeface="Cambria Math"/>
                          <a:ea typeface="Cambria Math"/>
                          <a:cs typeface="Cambria Math"/>
                        </a:rPr>
                        <m:t>,  </m:t>
                      </m:r>
                      <m:sSup>
                        <m:sSupPr>
                          <m:ctrlPr>
                            <a:rPr lang="en-US" sz="1800" b="1" i="1">
                              <a:latin typeface="Cambria Math" panose="02040503050406030204" pitchFamily="18" charset="0"/>
                              <a:ea typeface="Cambria Math"/>
                              <a:cs typeface="Cambria Math"/>
                            </a:rPr>
                          </m:ctrlPr>
                        </m:sSupPr>
                        <m:e>
                          <m:acc>
                            <m:accPr>
                              <m:chr m:val="̂"/>
                              <m:ctrlPr>
                                <a:rPr lang="en-US" sz="1800" b="1" i="0">
                                  <a:latin typeface="Cambria Math"/>
                                  <a:ea typeface="Cambria Math"/>
                                  <a:cs typeface="Cambria Math"/>
                                </a:rPr>
                              </m:ctrlPr>
                            </m:accPr>
                            <m:e>
                              <m:r>
                                <a:rPr lang="en-US" sz="1800" b="1" i="0">
                                  <a:latin typeface="Cambria Math"/>
                                  <a:ea typeface="Cambria Math"/>
                                  <a:cs typeface="Cambria Math"/>
                                </a:rPr>
                                <m:t>𝐗</m:t>
                              </m:r>
                            </m:e>
                          </m:acc>
                        </m:e>
                        <m:sup>
                          <m:r>
                            <a:rPr lang="en-US" sz="1800" b="0" i="1">
                              <a:latin typeface="Cambria Math"/>
                              <a:ea typeface="Cambria Math"/>
                              <a:cs typeface="Cambria Math"/>
                            </a:rPr>
                            <m:t>𝑅</m:t>
                          </m:r>
                          <m:r>
                            <a:rPr lang="en-US" sz="1800" b="0" i="0">
                              <a:latin typeface="Cambria Math"/>
                              <a:ea typeface="Cambria Math"/>
                              <a:cs typeface="Cambria Math"/>
                            </a:rPr>
                            <m:t>←</m:t>
                          </m:r>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𝐷</m:t>
                          </m:r>
                        </m:e>
                        <m:sup>
                          <m:r>
                            <a:rPr lang="en-US" sz="1800" b="0" i="1">
                              <a:latin typeface="Cambria Math"/>
                              <a:ea typeface="Cambria Math"/>
                              <a:cs typeface="Cambria Math"/>
                            </a:rPr>
                            <m:t>𝑅</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𝑃</m:t>
                              </m:r>
                            </m:sup>
                          </m:sSup>
                        </m:e>
                      </m:d>
                    </m:oMath>
                  </m:oMathPara>
                </a14:m>
                <a:endParaRPr sz="1800" b="0"/>
              </a:p>
              <a:p>
                <a:pPr lvl="0">
                  <a:buNone/>
                </a:pPr>
                <a:r>
                  <a:rPr sz="1800" b="1"/>
                  <a:t>Plain language:</a:t>
                </a:r>
                <a:r>
                  <a:rPr sz="1800"/>
                  <a:t> The encoders compress the input data; the decoders either reconstruct the original modality or translate its latent representation into the other modality.</a:t>
                </a:r>
              </a:p>
              <a:p>
                <a:pPr lvl="0">
                  <a:buNone/>
                </a:pPr>
                <a:r>
                  <a:rPr sz="1800" b="1"/>
                  <a:t>Key design:</a:t>
                </a:r>
                <a:r>
                  <a:rPr sz="1800"/>
                  <a:t> The same decoder is reused for both within-modality reconstruction and cross-modal prediction.</a:t>
                </a:r>
              </a:p>
            </p:txBody>
          </p:sp>
        </mc:Choice>
        <mc:Fallback xmlns="">
          <p:sp>
            <p:nvSpPr>
              <p:cNvPr id="4" name="Text Placeholder 3">
                <a:extLst>
                  <a:ext uri="{FF2B5EF4-FFF2-40B4-BE49-F238E27FC236}">
                    <a16:creationId xmlns:a16="http://schemas.microsoft.com/office/drawing/2014/main" id="{130C52C7-4F6F-40A5-5DBD-FD4090E2DC58}"/>
                  </a:ext>
                </a:extLst>
              </p:cNvPr>
              <p:cNvSpPr>
                <a:spLocks noGrp="1" noRot="1" noChangeAspect="1" noMove="1" noResize="1" noEditPoints="1" noAdjustHandles="1" noChangeArrowheads="1" noChangeShapeType="1" noTextEdit="1"/>
              </p:cNvSpPr>
              <p:nvPr>
                <p:ph type="body" idx="10"/>
              </p:nvPr>
            </p:nvSpPr>
            <p:spPr>
              <a:xfrm>
                <a:off x="991699" y="1655550"/>
                <a:ext cx="10758375" cy="3807265"/>
              </a:xfrm>
              <a:blipFill>
                <a:blip r:embed="rId3"/>
                <a:stretch>
                  <a:fillRect l="-1415"/>
                </a:stretch>
              </a:blipFill>
            </p:spPr>
            <p:txBody>
              <a:bodyPr/>
              <a:lstStyle/>
              <a:p>
                <a:r>
                  <a:rPr lang="en-US">
                    <a:noFill/>
                  </a:rPr>
                  <a:t> </a:t>
                </a:r>
              </a:p>
            </p:txBody>
          </p:sp>
        </mc:Fallback>
      </mc:AlternateContent>
    </p:spTree>
    <p:extLst>
      <p:ext uri="{BB962C8B-B14F-4D97-AF65-F5344CB8AC3E}">
        <p14:creationId xmlns:p14="http://schemas.microsoft.com/office/powerpoint/2010/main" val="3785343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DCC043-EAA3-1C1E-615F-EF4D768D5296}"/>
              </a:ext>
            </a:extLst>
          </p:cNvPr>
          <p:cNvSpPr>
            <a:spLocks noGrp="1"/>
          </p:cNvSpPr>
          <p:nvPr>
            <p:ph type="body" idx="15"/>
          </p:nvPr>
        </p:nvSpPr>
        <p:spPr/>
        <p:txBody>
          <a:bodyPr lIns="0" tIns="45720" rIns="0" bIns="45720">
            <a:normAutofit fontScale="95921"/>
          </a:bodyPr>
          <a:lstStyle/>
          <a:p>
            <a:pPr algn="l">
              <a:buNone/>
              <a:defRPr sz="3735" b="1">
                <a:solidFill>
                  <a:schemeClr val="accent1"/>
                </a:solidFill>
                <a:latin typeface="Arial"/>
                <a:ea typeface="Arial"/>
                <a:cs typeface="Arial"/>
              </a:defRPr>
            </a:pPr>
            <a:r>
              <a:rPr sz="2800" b="1" dirty="0">
                <a:solidFill>
                  <a:schemeClr val="accent1"/>
                </a:solidFill>
                <a:latin typeface="Arial"/>
                <a:ea typeface="Arial"/>
                <a:cs typeface="Arial"/>
              </a:rPr>
              <a:t>One </a:t>
            </a:r>
            <a:r>
              <a:rPr sz="2900" b="1" dirty="0">
                <a:solidFill>
                  <a:schemeClr val="accent1"/>
                </a:solidFill>
                <a:latin typeface="Arial"/>
                <a:ea typeface="Arial"/>
                <a:cs typeface="Arial"/>
              </a:rPr>
              <a:t>objective</a:t>
            </a:r>
            <a:r>
              <a:rPr sz="2800" b="1" dirty="0">
                <a:solidFill>
                  <a:schemeClr val="accent1"/>
                </a:solidFill>
                <a:latin typeface="Arial"/>
                <a:ea typeface="Arial"/>
                <a:cs typeface="Arial"/>
              </a:rPr>
              <a:t> asks DGAT to remember, align, and translate</a:t>
            </a:r>
          </a:p>
        </p:txBody>
      </p:sp>
      <p:sp>
        <p:nvSpPr>
          <p:cNvPr id="3" name="Text Placeholder 2">
            <a:extLst>
              <a:ext uri="{FF2B5EF4-FFF2-40B4-BE49-F238E27FC236}">
                <a16:creationId xmlns:a16="http://schemas.microsoft.com/office/drawing/2014/main" id="{DCD607CA-7281-8581-6BD7-4E786461BE6C}"/>
              </a:ext>
            </a:extLst>
          </p:cNvPr>
          <p:cNvSpPr>
            <a:spLocks noGrp="1"/>
          </p:cNvSpPr>
          <p:nvPr>
            <p:ph type="body" idx="14"/>
          </p:nvPr>
        </p:nvSpPr>
        <p:spPr/>
        <p:txBody>
          <a:bodyPr/>
          <a:lstStyle/>
          <a:p>
            <a:r>
              <a:t>Zeyuan Meng, MS — Intelligent Systems Program </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130C52C7-4F6F-40A5-5DBD-FD4090E2DC58}"/>
                  </a:ext>
                </a:extLst>
              </p:cNvPr>
              <p:cNvSpPr>
                <a:spLocks noGrp="1"/>
              </p:cNvSpPr>
              <p:nvPr>
                <p:ph type="body" idx="10"/>
              </p:nvPr>
            </p:nvSpPr>
            <p:spPr>
              <a:xfrm>
                <a:off x="991699" y="1510492"/>
                <a:ext cx="10758375" cy="4266279"/>
              </a:xfrm>
            </p:spPr>
            <p:txBody>
              <a:bodyPr lIns="0" tIns="45720" rIns="0" bIns="45720" anchor="ctr">
                <a:noAutofit/>
              </a:bodyPr>
              <a:lstStyle/>
              <a:p>
                <a:pPr lvl="0"/>
                <a:r>
                  <a:rPr lang="en-US" sz="1800" b="1" dirty="0"/>
                  <a:t>Total training objective:</a:t>
                </a:r>
                <a:r>
                  <a:rPr lang="en-US" sz="1800" dirty="0"/>
                  <a:t> </a:t>
                </a:r>
                <a14:m>
                  <m:oMath xmlns:m="http://schemas.openxmlformats.org/officeDocument/2006/math">
                    <m:r>
                      <a:rPr lang="en-US" sz="1800" i="1" dirty="0" smtClean="0">
                        <a:latin typeface="Cambria Math" panose="02040503050406030204" pitchFamily="18" charset="0"/>
                      </a:rPr>
                      <m:t>𝐿</m:t>
                    </m:r>
                    <m:r>
                      <a:rPr lang="en-US" sz="1800" i="0" dirty="0">
                        <a:latin typeface="Cambria Math" panose="02040503050406030204" pitchFamily="18" charset="0"/>
                      </a:rPr>
                      <m:t>=</m:t>
                    </m:r>
                    <m:r>
                      <a:rPr lang="en-US" sz="1800" i="1" dirty="0">
                        <a:latin typeface="Cambria Math" panose="02040503050406030204" pitchFamily="18" charset="0"/>
                      </a:rPr>
                      <m:t>𝛼</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𝑅</m:t>
                        </m:r>
                        <m:r>
                          <m:rPr>
                            <m:nor/>
                          </m:rPr>
                          <a:rPr lang="en-US" sz="1800" i="0" dirty="0">
                            <a:latin typeface="Cambria Math" panose="02040503050406030204" pitchFamily="18" charset="0"/>
                          </a:rPr>
                          <m:t>−rec</m:t>
                        </m:r>
                      </m:sub>
                    </m:sSub>
                    <m:r>
                      <a:rPr lang="en-US" sz="1800" i="0" dirty="0">
                        <a:latin typeface="Cambria Math" panose="02040503050406030204" pitchFamily="18" charset="0"/>
                      </a:rPr>
                      <m:t>+</m:t>
                    </m:r>
                    <m:r>
                      <a:rPr lang="en-US" sz="1800" i="1" dirty="0">
                        <a:latin typeface="Cambria Math" panose="02040503050406030204" pitchFamily="18" charset="0"/>
                      </a:rPr>
                      <m:t>𝛽</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𝑃</m:t>
                        </m:r>
                        <m:r>
                          <m:rPr>
                            <m:nor/>
                          </m:rPr>
                          <a:rPr lang="en-US" sz="1800" i="0" dirty="0">
                            <a:latin typeface="Cambria Math" panose="02040503050406030204" pitchFamily="18" charset="0"/>
                          </a:rPr>
                          <m:t>−rec</m:t>
                        </m:r>
                      </m:sub>
                    </m:sSub>
                    <m:r>
                      <a:rPr lang="en-US" sz="1800" i="0" dirty="0">
                        <a:latin typeface="Cambria Math" panose="02040503050406030204" pitchFamily="18" charset="0"/>
                      </a:rPr>
                      <m:t>+</m:t>
                    </m:r>
                    <m:r>
                      <a:rPr lang="en-US" sz="1800" i="1" dirty="0">
                        <a:latin typeface="Cambria Math" panose="02040503050406030204" pitchFamily="18" charset="0"/>
                      </a:rPr>
                      <m:t>𝛾</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m:rPr>
                            <m:nor/>
                          </m:rPr>
                          <a:rPr lang="en-US" sz="1800" i="0" dirty="0">
                            <a:latin typeface="Cambria Math" panose="02040503050406030204" pitchFamily="18" charset="0"/>
                          </a:rPr>
                          <m:t>align</m:t>
                        </m:r>
                      </m:sub>
                    </m:sSub>
                    <m:r>
                      <a:rPr lang="en-US" sz="1800" i="0" dirty="0">
                        <a:latin typeface="Cambria Math" panose="02040503050406030204" pitchFamily="18" charset="0"/>
                      </a:rPr>
                      <m:t>+</m:t>
                    </m:r>
                    <m:r>
                      <a:rPr lang="en-US" sz="1800" i="1" dirty="0">
                        <a:latin typeface="Cambria Math" panose="02040503050406030204" pitchFamily="18" charset="0"/>
                      </a:rPr>
                      <m:t>𝛿</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𝑅</m:t>
                        </m:r>
                        <m:r>
                          <a:rPr lang="en-US" sz="1800" i="0" dirty="0">
                            <a:latin typeface="Cambria Math" panose="02040503050406030204" pitchFamily="18" charset="0"/>
                          </a:rPr>
                          <m:t>→</m:t>
                        </m:r>
                        <m:r>
                          <a:rPr lang="en-US" sz="1800" i="1" dirty="0">
                            <a:latin typeface="Cambria Math" panose="02040503050406030204" pitchFamily="18" charset="0"/>
                          </a:rPr>
                          <m:t>𝑃</m:t>
                        </m:r>
                      </m:sub>
                    </m:sSub>
                    <m:r>
                      <a:rPr lang="en-US" sz="1800" i="0" dirty="0">
                        <a:latin typeface="Cambria Math" panose="02040503050406030204" pitchFamily="18" charset="0"/>
                      </a:rPr>
                      <m:t>+</m:t>
                    </m:r>
                    <m:r>
                      <a:rPr lang="en-US" sz="1800" i="1" dirty="0">
                        <a:latin typeface="Cambria Math" panose="02040503050406030204" pitchFamily="18" charset="0"/>
                      </a:rPr>
                      <m:t>𝜀</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𝑃</m:t>
                        </m:r>
                        <m:r>
                          <a:rPr lang="en-US" sz="1800" i="0" dirty="0">
                            <a:latin typeface="Cambria Math" panose="02040503050406030204" pitchFamily="18" charset="0"/>
                          </a:rPr>
                          <m:t>→</m:t>
                        </m:r>
                        <m:r>
                          <a:rPr lang="en-US" sz="1800" i="1" dirty="0">
                            <a:latin typeface="Cambria Math" panose="02040503050406030204" pitchFamily="18" charset="0"/>
                          </a:rPr>
                          <m:t>𝑅</m:t>
                        </m:r>
                      </m:sub>
                    </m:sSub>
                    <m:r>
                      <a:rPr lang="en-US" sz="1800" i="0" dirty="0">
                        <a:latin typeface="Cambria Math" panose="02040503050406030204" pitchFamily="18" charset="0"/>
                      </a:rPr>
                      <m:t>.</m:t>
                    </m:r>
                  </m:oMath>
                </a14:m>
                <a:endParaRPr lang="en-US" sz="1800" dirty="0"/>
              </a:p>
              <a:p>
                <a:pPr lvl="0"/>
                <a:r>
                  <a:rPr lang="en-US" sz="1800" b="1" dirty="0"/>
                  <a:t>Remember each modality:</a:t>
                </a:r>
                <a:r>
                  <a:rPr lang="en-US" sz="1800" dirty="0"/>
                  <a:t>  </a:t>
                </a:r>
                <a14:m>
                  <m:oMath xmlns:m="http://schemas.openxmlformats.org/officeDocument/2006/math">
                    <m:r>
                      <a:rPr lang="en-US" sz="1800" i="1" dirty="0" smtClean="0">
                        <a:latin typeface="Cambria Math" panose="02040503050406030204" pitchFamily="18" charset="0"/>
                      </a:rPr>
                      <m:t>𝛼</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𝑅</m:t>
                        </m:r>
                        <m:r>
                          <m:rPr>
                            <m:nor/>
                          </m:rPr>
                          <a:rPr lang="en-US" sz="1800" i="0" dirty="0">
                            <a:latin typeface="Cambria Math" panose="02040503050406030204" pitchFamily="18" charset="0"/>
                          </a:rPr>
                          <m:t>−rec</m:t>
                        </m:r>
                      </m:sub>
                    </m:sSub>
                    <m:r>
                      <a:rPr lang="en-US" sz="1800" i="0" dirty="0">
                        <a:latin typeface="Cambria Math" panose="02040503050406030204" pitchFamily="18" charset="0"/>
                      </a:rPr>
                      <m:t>+</m:t>
                    </m:r>
                    <m:r>
                      <a:rPr lang="en-US" sz="1800" i="1" dirty="0">
                        <a:latin typeface="Cambria Math" panose="02040503050406030204" pitchFamily="18" charset="0"/>
                      </a:rPr>
                      <m:t>𝛽</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𝑃</m:t>
                        </m:r>
                        <m:r>
                          <m:rPr>
                            <m:nor/>
                          </m:rPr>
                          <a:rPr lang="en-US" sz="1800" i="0" dirty="0">
                            <a:latin typeface="Cambria Math" panose="02040503050406030204" pitchFamily="18" charset="0"/>
                          </a:rPr>
                          <m:t>−rec</m:t>
                        </m:r>
                      </m:sub>
                    </m:sSub>
                  </m:oMath>
                </a14:m>
                <a:r>
                  <a:rPr lang="en-US" sz="1800" dirty="0"/>
                  <a:t> are the weighted within-modality reconstruction terms.</a:t>
                </a:r>
              </a:p>
              <a:p>
                <a:pPr lvl="0"/>
                <a:r>
                  <a:rPr lang="en-US" sz="1800" b="1" dirty="0"/>
                  <a:t>Keep paired spots close:</a:t>
                </a:r>
                <a:r>
                  <a:rPr lang="en-US" sz="1800" dirty="0"/>
                  <a:t>  </a:t>
                </a:r>
                <a14:m>
                  <m:oMath xmlns:m="http://schemas.openxmlformats.org/officeDocument/2006/math">
                    <m:r>
                      <a:rPr lang="en-US" sz="1800" i="1" dirty="0" smtClean="0">
                        <a:latin typeface="Cambria Math" panose="02040503050406030204" pitchFamily="18" charset="0"/>
                      </a:rPr>
                      <m:t>𝛾</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m:rPr>
                            <m:nor/>
                          </m:rPr>
                          <a:rPr lang="en-US" sz="1800" i="0" dirty="0">
                            <a:latin typeface="Cambria Math" panose="02040503050406030204" pitchFamily="18" charset="0"/>
                          </a:rPr>
                          <m:t>align</m:t>
                        </m:r>
                      </m:sub>
                    </m:sSub>
                  </m:oMath>
                </a14:m>
                <a:r>
                  <a:rPr lang="en-US" sz="1800" dirty="0"/>
                  <a:t> aligns the RNA and protein latent representations of corresponding spots.</a:t>
                </a:r>
              </a:p>
              <a:p>
                <a:pPr lvl="0"/>
                <a:r>
                  <a:rPr lang="en-US" sz="1800" b="1" dirty="0"/>
                  <a:t>Translate in both directions:</a:t>
                </a:r>
                <a:r>
                  <a:rPr lang="en-US" sz="1800" dirty="0"/>
                  <a:t> </a:t>
                </a:r>
                <a14:m>
                  <m:oMath xmlns:m="http://schemas.openxmlformats.org/officeDocument/2006/math">
                    <m:r>
                      <a:rPr lang="en-US" sz="1800" i="1" dirty="0" smtClean="0">
                        <a:latin typeface="Cambria Math" panose="02040503050406030204" pitchFamily="18" charset="0"/>
                      </a:rPr>
                      <m:t>𝛿</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𝑅</m:t>
                        </m:r>
                        <m:r>
                          <a:rPr lang="en-US" sz="1800" i="0" dirty="0">
                            <a:latin typeface="Cambria Math" panose="02040503050406030204" pitchFamily="18" charset="0"/>
                          </a:rPr>
                          <m:t>→</m:t>
                        </m:r>
                        <m:r>
                          <a:rPr lang="en-US" sz="1800" i="1" dirty="0">
                            <a:latin typeface="Cambria Math" panose="02040503050406030204" pitchFamily="18" charset="0"/>
                          </a:rPr>
                          <m:t>𝑃</m:t>
                        </m:r>
                      </m:sub>
                    </m:sSub>
                    <m:r>
                      <a:rPr lang="en-US" sz="1800" i="0" dirty="0">
                        <a:latin typeface="Cambria Math" panose="02040503050406030204" pitchFamily="18" charset="0"/>
                      </a:rPr>
                      <m:t>+</m:t>
                    </m:r>
                    <m:r>
                      <a:rPr lang="en-US" sz="1800" i="1" dirty="0">
                        <a:latin typeface="Cambria Math" panose="02040503050406030204" pitchFamily="18" charset="0"/>
                      </a:rPr>
                      <m:t>𝜀</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𝑃</m:t>
                        </m:r>
                        <m:r>
                          <a:rPr lang="en-US" sz="1800" i="0" dirty="0">
                            <a:latin typeface="Cambria Math" panose="02040503050406030204" pitchFamily="18" charset="0"/>
                          </a:rPr>
                          <m:t>→</m:t>
                        </m:r>
                        <m:r>
                          <a:rPr lang="en-US" sz="1800" i="1" dirty="0">
                            <a:latin typeface="Cambria Math" panose="02040503050406030204" pitchFamily="18" charset="0"/>
                          </a:rPr>
                          <m:t>𝑅</m:t>
                        </m:r>
                      </m:sub>
                    </m:sSub>
                  </m:oMath>
                </a14:m>
                <a:r>
                  <a:rPr lang="en-US" sz="1800" dirty="0"/>
                  <a:t> measures weighted cross-modal prediction from RNA to protein and from protein to RNA.</a:t>
                </a:r>
              </a:p>
            </p:txBody>
          </p:sp>
        </mc:Choice>
        <mc:Fallback>
          <p:sp>
            <p:nvSpPr>
              <p:cNvPr id="4" name="Text Placeholder 3">
                <a:extLst>
                  <a:ext uri="{FF2B5EF4-FFF2-40B4-BE49-F238E27FC236}">
                    <a16:creationId xmlns:a16="http://schemas.microsoft.com/office/drawing/2014/main" id="{130C52C7-4F6F-40A5-5DBD-FD4090E2DC58}"/>
                  </a:ext>
                </a:extLst>
              </p:cNvPr>
              <p:cNvSpPr>
                <a:spLocks noGrp="1" noRot="1" noChangeAspect="1" noMove="1" noResize="1" noEditPoints="1" noAdjustHandles="1" noChangeArrowheads="1" noChangeShapeType="1" noTextEdit="1"/>
              </p:cNvSpPr>
              <p:nvPr>
                <p:ph type="body" idx="10"/>
              </p:nvPr>
            </p:nvSpPr>
            <p:spPr>
              <a:xfrm>
                <a:off x="991699" y="1510492"/>
                <a:ext cx="10758375" cy="4266279"/>
              </a:xfrm>
              <a:blipFill>
                <a:blip r:embed="rId3"/>
                <a:stretch>
                  <a:fillRect l="-1415"/>
                </a:stretch>
              </a:blipFill>
            </p:spPr>
            <p:txBody>
              <a:bodyPr/>
              <a:lstStyle/>
              <a:p>
                <a:r>
                  <a:rPr lang="en-US">
                    <a:noFill/>
                  </a:rPr>
                  <a:t> </a:t>
                </a:r>
              </a:p>
            </p:txBody>
          </p:sp>
        </mc:Fallback>
      </mc:AlternateContent>
    </p:spTree>
    <p:extLst>
      <p:ext uri="{BB962C8B-B14F-4D97-AF65-F5344CB8AC3E}">
        <p14:creationId xmlns:p14="http://schemas.microsoft.com/office/powerpoint/2010/main" val="3785343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DCC043-EAA3-1C1E-615F-EF4D768D5296}"/>
              </a:ext>
            </a:extLst>
          </p:cNvPr>
          <p:cNvSpPr>
            <a:spLocks noGrp="1"/>
          </p:cNvSpPr>
          <p:nvPr>
            <p:ph type="body" idx="15"/>
          </p:nvPr>
        </p:nvSpPr>
        <p:spPr/>
        <p:txBody>
          <a:bodyPr lIns="0" tIns="45720" rIns="0" bIns="45720">
            <a:normAutofit fontScale="94121"/>
          </a:bodyPr>
          <a:lstStyle/>
          <a:p>
            <a:pPr algn="l">
              <a:buNone/>
              <a:defRPr sz="3735" b="1">
                <a:solidFill>
                  <a:schemeClr val="accent1"/>
                </a:solidFill>
                <a:latin typeface="Arial"/>
                <a:ea typeface="Arial"/>
                <a:cs typeface="Arial"/>
              </a:defRPr>
            </a:pPr>
            <a:r>
              <a:rPr sz="2800" b="1" dirty="0">
                <a:solidFill>
                  <a:schemeClr val="accent1"/>
                </a:solidFill>
                <a:latin typeface="Arial"/>
                <a:ea typeface="Arial"/>
                <a:cs typeface="Arial"/>
              </a:rPr>
              <a:t>Reconstruction </a:t>
            </a:r>
            <a:r>
              <a:rPr lang="en-US" sz="2800" b="1" dirty="0">
                <a:solidFill>
                  <a:schemeClr val="accent1"/>
                </a:solidFill>
                <a:latin typeface="Arial"/>
                <a:ea typeface="Arial"/>
                <a:cs typeface="Arial"/>
              </a:rPr>
              <a:t>losses</a:t>
            </a:r>
            <a:r>
              <a:rPr sz="2800" b="1" dirty="0">
                <a:solidFill>
                  <a:schemeClr val="accent1"/>
                </a:solidFill>
                <a:latin typeface="Arial"/>
                <a:ea typeface="Arial"/>
                <a:cs typeface="Arial"/>
              </a:rPr>
              <a:t>: can each latent code rebuild its input?</a:t>
            </a:r>
          </a:p>
        </p:txBody>
      </p:sp>
      <p:sp>
        <p:nvSpPr>
          <p:cNvPr id="3" name="Text Placeholder 2">
            <a:extLst>
              <a:ext uri="{FF2B5EF4-FFF2-40B4-BE49-F238E27FC236}">
                <a16:creationId xmlns:a16="http://schemas.microsoft.com/office/drawing/2014/main" id="{DCD607CA-7281-8581-6BD7-4E786461BE6C}"/>
              </a:ext>
            </a:extLst>
          </p:cNvPr>
          <p:cNvSpPr>
            <a:spLocks noGrp="1"/>
          </p:cNvSpPr>
          <p:nvPr>
            <p:ph type="body" idx="14"/>
          </p:nvPr>
        </p:nvSpPr>
        <p:spPr/>
        <p:txBody>
          <a:bodyPr/>
          <a:lstStyle/>
          <a:p>
            <a:r>
              <a:t>Zeyuan Meng, MS — Intelligent Systems Program </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30C52C7-4F6F-40A5-5DBD-FD4090E2DC58}"/>
                  </a:ext>
                </a:extLst>
              </p:cNvPr>
              <p:cNvSpPr>
                <a:spLocks noGrp="1"/>
              </p:cNvSpPr>
              <p:nvPr>
                <p:ph type="body" idx="10"/>
              </p:nvPr>
            </p:nvSpPr>
            <p:spPr>
              <a:xfrm>
                <a:off x="991043" y="1546693"/>
                <a:ext cx="10758375" cy="4342479"/>
              </a:xfrm>
            </p:spPr>
            <p:txBody>
              <a:bodyPr lIns="0" tIns="45720" rIns="0" bIns="45720" anchor="ctr">
                <a:noAutofit/>
              </a:bodyPr>
              <a:lstStyle/>
              <a:p>
                <a:pPr lvl="0">
                  <a:buNone/>
                </a:pPr>
                <a:r>
                  <a:rPr sz="1800" b="1"/>
                  <a:t>Root mean squared error:</a:t>
                </a:r>
                <a:endParaRPr sz="1800"/>
              </a:p>
              <a:p>
                <a:pPr>
                  <a:buNone/>
                </a:pPr>
                <a14:m>
                  <m:oMathPara xmlns:m="http://schemas.openxmlformats.org/officeDocument/2006/math">
                    <m:oMath>
                      <m:func>
                        <m:funcPr>
                          <m:ctrlPr>
                            <a:rPr lang="en-US" sz="1800" i="0">
                              <a:latin typeface="Cambria Math"/>
                              <a:ea typeface="Cambria Math"/>
                              <a:cs typeface="Cambria Math"/>
                            </a:rPr>
                          </m:ctrlPr>
                        </m:funcPr>
                        <m:fName>
                          <m:r>
                            <a:rPr lang="en-US" sz="1800" i="0">
                              <a:latin typeface="Cambria Math"/>
                              <a:ea typeface="Cambria Math"/>
                              <a:cs typeface="Cambria Math"/>
                            </a:rPr>
                            <m:t>𝑅𝑀𝑆𝐸</m:t>
                          </m:r>
                        </m:fName>
                        <m:e>
                          <m:r>
                            <a:rPr lang="en-US" sz="1800" i="0">
                              <a:latin typeface="Cambria Math"/>
                              <a:ea typeface="Cambria Math"/>
                              <a:cs typeface="Cambria Math"/>
                            </a:rPr>
                            <m:t>​</m:t>
                          </m:r>
                        </m:e>
                      </m:func>
                      <m:d>
                        <m:dPr>
                          <m:ctrlPr>
                            <a:rPr lang="en-US" sz="1800" b="1" i="1">
                              <a:latin typeface="Cambria Math" panose="02040503050406030204" pitchFamily="18" charset="0"/>
                              <a:ea typeface="Cambria Math"/>
                              <a:cs typeface="Cambria Math"/>
                            </a:rPr>
                          </m:ctrlPr>
                        </m:dPr>
                        <m:e>
                          <m:acc>
                            <m:accPr>
                              <m:chr m:val="̂"/>
                              <m:ctrlPr>
                                <a:rPr lang="en-US" sz="1800" b="1" i="0">
                                  <a:latin typeface="Cambria Math"/>
                                  <a:ea typeface="Cambria Math"/>
                                  <a:cs typeface="Cambria Math"/>
                                </a:rPr>
                              </m:ctrlPr>
                            </m:accPr>
                            <m:e>
                              <m:r>
                                <a:rPr lang="en-US" sz="1800" b="1" i="0">
                                  <a:latin typeface="Cambria Math"/>
                                  <a:ea typeface="Cambria Math"/>
                                  <a:cs typeface="Cambria Math"/>
                                </a:rPr>
                                <m:t>𝐘</m:t>
                              </m:r>
                            </m:e>
                          </m:acc>
                          <m:r>
                            <a:rPr lang="en-US" sz="1800" b="0" i="0">
                              <a:latin typeface="Cambria Math"/>
                              <a:ea typeface="Cambria Math"/>
                              <a:cs typeface="Cambria Math"/>
                            </a:rPr>
                            <m:t>,</m:t>
                          </m:r>
                          <m:r>
                            <a:rPr lang="en-US" sz="1800" b="1" i="0">
                              <a:latin typeface="Cambria Math"/>
                              <a:ea typeface="Cambria Math"/>
                              <a:cs typeface="Cambria Math"/>
                            </a:rPr>
                            <m:t>𝐘</m:t>
                          </m:r>
                        </m:e>
                      </m:d>
                      <m:r>
                        <a:rPr lang="en-US" sz="1800" b="0" i="0">
                          <a:latin typeface="Cambria Math"/>
                          <a:ea typeface="Cambria Math"/>
                          <a:cs typeface="Cambria Math"/>
                        </a:rPr>
                        <m:t>=</m:t>
                      </m:r>
                      <m:rad>
                        <m:radPr>
                          <m:ctrlPr>
                            <a:rPr lang="en-US" sz="1800" b="0" i="1">
                              <a:latin typeface="Cambria Math" panose="02040503050406030204" pitchFamily="18" charset="0"/>
                              <a:ea typeface="Cambria Math"/>
                              <a:cs typeface="Cambria Math"/>
                            </a:rPr>
                          </m:ctrlPr>
                        </m:radPr>
                        <m:e>
                          <m:f>
                            <m:fPr>
                              <m:ctrlPr>
                                <a:rPr lang="en-US" sz="1800" b="0" i="0">
                                  <a:latin typeface="Cambria Math"/>
                                  <a:ea typeface="Cambria Math"/>
                                  <a:cs typeface="Cambria Math"/>
                                </a:rPr>
                              </m:ctrlPr>
                            </m:fPr>
                            <m:num>
                              <m:r>
                                <a:rPr lang="en-US" sz="1800" b="0" i="0">
                                  <a:latin typeface="Cambria Math"/>
                                  <a:ea typeface="Cambria Math"/>
                                  <a:cs typeface="Cambria Math"/>
                                </a:rPr>
                                <m:t>1</m:t>
                              </m:r>
                            </m:num>
                            <m:den>
                              <m:r>
                                <a:rPr lang="en-US" sz="1800" b="0" i="1">
                                  <a:latin typeface="Cambria Math"/>
                                  <a:ea typeface="Cambria Math"/>
                                  <a:cs typeface="Cambria Math"/>
                                </a:rPr>
                                <m:t>𝑚</m:t>
                              </m:r>
                            </m:den>
                          </m:f>
                          <m:nary>
                            <m:naryPr>
                              <m:chr m:val="∑"/>
                              <m:limLoc m:val="undOvr"/>
                              <m:ctrlPr>
                                <a:rPr lang="en-US" sz="1800" b="0" i="1">
                                  <a:latin typeface="Cambria Math"/>
                                  <a:ea typeface="Cambria Math"/>
                                  <a:cs typeface="Cambria Math"/>
                                </a:rPr>
                              </m:ctrlPr>
                            </m:naryPr>
                            <m:sub>
                              <m:r>
                                <a:rPr lang="en-US" sz="1800" b="0" i="1">
                                  <a:latin typeface="Cambria Math"/>
                                  <a:ea typeface="Cambria Math"/>
                                  <a:cs typeface="Cambria Math"/>
                                </a:rPr>
                                <m:t>𝑗</m:t>
                              </m:r>
                              <m:r>
                                <a:rPr lang="en-US" sz="1800" b="0" i="0">
                                  <a:latin typeface="Cambria Math"/>
                                  <a:ea typeface="Cambria Math"/>
                                  <a:cs typeface="Cambria Math"/>
                                </a:rPr>
                                <m:t>=1</m:t>
                              </m:r>
                            </m:sub>
                            <m:sup>
                              <m:r>
                                <a:rPr lang="en-US" sz="1800" b="0" i="1">
                                  <a:latin typeface="Cambria Math"/>
                                  <a:ea typeface="Cambria Math"/>
                                  <a:cs typeface="Cambria Math"/>
                                </a:rPr>
                                <m:t>𝑚</m:t>
                              </m:r>
                            </m:sup>
                            <m:e>
                              <m:sSup>
                                <m:sSupPr>
                                  <m:ctrlPr>
                                    <a:rPr lang="en-US" sz="1800" b="0" i="1">
                                      <a:latin typeface="Cambria Math" panose="02040503050406030204" pitchFamily="18" charset="0"/>
                                      <a:ea typeface="Cambria Math"/>
                                      <a:cs typeface="Cambria Math"/>
                                    </a:rPr>
                                  </m:ctrlPr>
                                </m:sSupPr>
                                <m:e>
                                  <m:d>
                                    <m:dPr>
                                      <m:ctrlPr>
                                        <a:rPr lang="en-US" sz="1800" b="0" i="1">
                                          <a:latin typeface="Cambria Math" panose="02040503050406030204" pitchFamily="18" charset="0"/>
                                          <a:ea typeface="Cambria Math"/>
                                          <a:cs typeface="Cambria Math"/>
                                        </a:rPr>
                                      </m:ctrlPr>
                                    </m:dPr>
                                    <m:e>
                                      <m:sSub>
                                        <m:sSubPr>
                                          <m:ctrlPr>
                                            <a:rPr lang="en-US" sz="1800" b="0" i="1">
                                              <a:latin typeface="Cambria Math" panose="02040503050406030204" pitchFamily="18" charset="0"/>
                                              <a:ea typeface="Cambria Math"/>
                                              <a:cs typeface="Cambria Math"/>
                                            </a:rPr>
                                          </m:ctrlPr>
                                        </m:sSubPr>
                                        <m:e>
                                          <m:acc>
                                            <m:accPr>
                                              <m:chr m:val="̂"/>
                                              <m:ctrlPr>
                                                <a:rPr lang="en-US" sz="1800" b="0" i="1">
                                                  <a:latin typeface="Cambria Math"/>
                                                  <a:ea typeface="Cambria Math"/>
                                                  <a:cs typeface="Cambria Math"/>
                                                </a:rPr>
                                              </m:ctrlPr>
                                            </m:accPr>
                                            <m:e>
                                              <m:r>
                                                <a:rPr lang="en-US" sz="1800" b="0" i="1">
                                                  <a:latin typeface="Cambria Math"/>
                                                  <a:ea typeface="Cambria Math"/>
                                                  <a:cs typeface="Cambria Math"/>
                                                </a:rPr>
                                                <m:t>𝑦</m:t>
                                              </m:r>
                                            </m:e>
                                          </m:acc>
                                        </m:e>
                                        <m:sub>
                                          <m:r>
                                            <a:rPr lang="en-US" sz="1800" b="0" i="1">
                                              <a:latin typeface="Cambria Math"/>
                                              <a:ea typeface="Cambria Math"/>
                                              <a:cs typeface="Cambria Math"/>
                                            </a:rPr>
                                            <m:t>𝑗</m:t>
                                          </m:r>
                                        </m:sub>
                                      </m:sSub>
                                      <m:r>
                                        <a:rPr lang="en-US" sz="1800" b="0" i="0">
                                          <a:latin typeface="Cambria Math"/>
                                          <a:ea typeface="Cambria Math"/>
                                          <a:cs typeface="Cambria Math"/>
                                        </a:rPr>
                                        <m:t>−</m:t>
                                      </m:r>
                                      <m:sSub>
                                        <m:sSubPr>
                                          <m:ctrlPr>
                                            <a:rPr lang="en-US" sz="1800" b="0" i="1">
                                              <a:latin typeface="Cambria Math"/>
                                              <a:ea typeface="Cambria Math"/>
                                              <a:cs typeface="Cambria Math"/>
                                            </a:rPr>
                                          </m:ctrlPr>
                                        </m:sSubPr>
                                        <m:e>
                                          <m:r>
                                            <a:rPr lang="en-US" sz="1800" b="0" i="1">
                                              <a:latin typeface="Cambria Math"/>
                                              <a:ea typeface="Cambria Math"/>
                                              <a:cs typeface="Cambria Math"/>
                                            </a:rPr>
                                            <m:t>𝑦</m:t>
                                          </m:r>
                                        </m:e>
                                        <m:sub>
                                          <m:r>
                                            <a:rPr lang="en-US" sz="1800" b="0" i="1">
                                              <a:latin typeface="Cambria Math"/>
                                              <a:ea typeface="Cambria Math"/>
                                              <a:cs typeface="Cambria Math"/>
                                            </a:rPr>
                                            <m:t>𝑗</m:t>
                                          </m:r>
                                        </m:sub>
                                      </m:sSub>
                                    </m:e>
                                  </m:d>
                                </m:e>
                                <m:sup>
                                  <m:r>
                                    <a:rPr lang="en-US" sz="1800" b="0" i="0">
                                      <a:latin typeface="Cambria Math"/>
                                      <a:ea typeface="Cambria Math"/>
                                      <a:cs typeface="Cambria Math"/>
                                    </a:rPr>
                                    <m:t>2</m:t>
                                  </m:r>
                                </m:sup>
                              </m:sSup>
                            </m:e>
                          </m:nary>
                        </m:e>
                      </m:rad>
                    </m:oMath>
                  </m:oMathPara>
                </a14:m>
                <a:endParaRPr sz="1800" b="0"/>
              </a:p>
              <a:p>
                <a:pPr lvl="0">
                  <a:buNone/>
                </a:pPr>
                <a:r>
                  <a:rPr sz="1800" b="1"/>
                  <a:t>RNA reconstruction loss:</a:t>
                </a:r>
                <a:endParaRPr sz="1800"/>
              </a:p>
              <a:p>
                <a:pPr>
                  <a:buNone/>
                </a:pPr>
                <a14:m>
                  <m:oMathPara xmlns:m="http://schemas.openxmlformats.org/officeDocument/2006/math">
                    <m:oMath>
                      <m:sSub>
                        <m:sSubPr>
                          <m:ctrlPr>
                            <a:rPr lang="en-US" sz="1800">
                              <a:latin typeface="Cambria Math"/>
                              <a:ea typeface="Cambria Math"/>
                              <a:cs typeface="Cambria Math"/>
                            </a:rPr>
                          </m:ctrlPr>
                        </m:sSubPr>
                        <m:e>
                          <m:r>
                            <a:rPr lang="en-US" sz="1800">
                              <a:latin typeface="Cambria Math"/>
                              <a:ea typeface="Cambria Math"/>
                              <a:cs typeface="Cambria Math"/>
                            </a:rPr>
                            <m:t>ℒ</m:t>
                          </m:r>
                        </m:e>
                        <m:sub>
                          <m:r>
                            <a:rPr lang="en-US" sz="1800" i="1">
                              <a:latin typeface="Cambria Math"/>
                              <a:ea typeface="Cambria Math"/>
                              <a:cs typeface="Cambria Math"/>
                            </a:rPr>
                            <m:t>𝑅</m:t>
                          </m:r>
                          <m:r>
                            <a:rPr lang="en-US" sz="1800" i="0">
                              <a:latin typeface="Cambria Math"/>
                              <a:ea typeface="Cambria Math"/>
                              <a:cs typeface="Cambria Math"/>
                            </a:rPr>
                            <m:t>−</m:t>
                          </m:r>
                          <m:r>
                            <a:rPr lang="en-US" sz="1800" i="0">
                              <a:latin typeface="Cambria Math"/>
                              <a:ea typeface="Cambria Math"/>
                              <a:cs typeface="Cambria Math"/>
                            </a:rPr>
                            <m:t>𝑟𝑒𝑐</m:t>
                          </m:r>
                        </m:sub>
                      </m:sSub>
                      <m:r>
                        <a:rPr lang="en-US" sz="1800" i="0">
                          <a:latin typeface="Cambria Math"/>
                          <a:ea typeface="Cambria Math"/>
                          <a:cs typeface="Cambria Math"/>
                        </a:rPr>
                        <m:t>=</m:t>
                      </m:r>
                      <m:func>
                        <m:funcPr>
                          <m:ctrlPr>
                            <a:rPr lang="en-US" sz="1800" i="0">
                              <a:latin typeface="Cambria Math"/>
                              <a:ea typeface="Cambria Math"/>
                              <a:cs typeface="Cambria Math"/>
                            </a:rPr>
                          </m:ctrlPr>
                        </m:funcPr>
                        <m:fName>
                          <m:r>
                            <a:rPr lang="en-US" sz="1800" i="0">
                              <a:latin typeface="Cambria Math"/>
                              <a:ea typeface="Cambria Math"/>
                              <a:cs typeface="Cambria Math"/>
                            </a:rPr>
                            <m:t>𝑅𝑀𝑆𝐸</m:t>
                          </m:r>
                        </m:fName>
                        <m:e>
                          <m:r>
                            <a:rPr lang="en-US" sz="1800" i="0">
                              <a:latin typeface="Cambria Math"/>
                              <a:ea typeface="Cambria Math"/>
                              <a:cs typeface="Cambria Math"/>
                            </a:rPr>
                            <m:t>​</m:t>
                          </m:r>
                        </m:e>
                      </m:func>
                      <m:d>
                        <m:dPr>
                          <m:ctrlPr>
                            <a:rPr lang="en-US" sz="1800" i="1">
                              <a:latin typeface="Cambria Math" panose="02040503050406030204" pitchFamily="18" charset="0"/>
                              <a:ea typeface="Cambria Math"/>
                              <a:cs typeface="Cambria Math"/>
                            </a:rPr>
                          </m:ctrlPr>
                        </m:dPr>
                        <m:e>
                          <m:sSup>
                            <m:sSupPr>
                              <m:ctrlPr>
                                <a:rPr lang="en-US" sz="1800" i="1">
                                  <a:latin typeface="Cambria Math"/>
                                  <a:ea typeface="Cambria Math"/>
                                  <a:cs typeface="Cambria Math"/>
                                </a:rPr>
                              </m:ctrlPr>
                            </m:sSupPr>
                            <m:e>
                              <m:r>
                                <a:rPr lang="en-US" sz="1800" i="1">
                                  <a:latin typeface="Cambria Math"/>
                                  <a:ea typeface="Cambria Math"/>
                                  <a:cs typeface="Cambria Math"/>
                                </a:rPr>
                                <m:t>𝐷</m:t>
                              </m:r>
                            </m:e>
                            <m:sup>
                              <m:r>
                                <a:rPr lang="en-US" sz="1800" i="1">
                                  <a:latin typeface="Cambria Math"/>
                                  <a:ea typeface="Cambria Math"/>
                                  <a:cs typeface="Cambria Math"/>
                                </a:rPr>
                                <m:t>𝑅</m:t>
                              </m:r>
                            </m:sup>
                          </m:sSup>
                          <m:r>
                            <a:rPr lang="en-US" sz="1800" i="0">
                              <a:latin typeface="Cambria Math"/>
                              <a:ea typeface="Cambria Math"/>
                              <a:cs typeface="Cambria Math"/>
                            </a:rPr>
                            <m:t>​</m:t>
                          </m:r>
                          <m:d>
                            <m:dPr>
                              <m:ctrlPr>
                                <a:rPr lang="en-US" sz="1800" i="1">
                                  <a:latin typeface="Cambria Math" panose="02040503050406030204" pitchFamily="18" charset="0"/>
                                  <a:ea typeface="Cambria Math"/>
                                  <a:cs typeface="Cambria Math"/>
                                </a:rPr>
                              </m:ctrlPr>
                            </m:dPr>
                            <m:e>
                              <m:sSup>
                                <m:sSupPr>
                                  <m:ctrlPr>
                                    <a:rPr lang="en-US" sz="1800" i="1">
                                      <a:latin typeface="Cambria Math"/>
                                      <a:ea typeface="Cambria Math"/>
                                      <a:cs typeface="Cambria Math"/>
                                    </a:rPr>
                                  </m:ctrlPr>
                                </m:sSupPr>
                                <m:e>
                                  <m:r>
                                    <a:rPr lang="en-US" sz="1800" i="1">
                                      <a:latin typeface="Cambria Math"/>
                                      <a:ea typeface="Cambria Math"/>
                                      <a:cs typeface="Cambria Math"/>
                                    </a:rPr>
                                    <m:t>𝐸</m:t>
                                  </m:r>
                                </m:e>
                                <m:sup>
                                  <m:r>
                                    <a:rPr lang="en-US" sz="1800" i="1">
                                      <a:latin typeface="Cambria Math"/>
                                      <a:ea typeface="Cambria Math"/>
                                      <a:cs typeface="Cambria Math"/>
                                    </a:rPr>
                                    <m:t>𝑅</m:t>
                                  </m:r>
                                </m:sup>
                              </m:sSup>
                              <m:r>
                                <a:rPr lang="en-US" sz="180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𝐀</m:t>
                                      </m:r>
                                    </m:e>
                                    <m:sup>
                                      <m:r>
                                        <a:rPr lang="en-US" sz="1800" b="0" i="1">
                                          <a:latin typeface="Cambria Math"/>
                                          <a:ea typeface="Cambria Math"/>
                                          <a:cs typeface="Cambria Math"/>
                                        </a:rPr>
                                        <m:t>𝑅</m:t>
                                      </m:r>
                                    </m:sup>
                                  </m:sSup>
                                </m:e>
                              </m:d>
                            </m:e>
                          </m:d>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𝑅</m:t>
                              </m:r>
                            </m:sup>
                          </m:sSup>
                        </m:e>
                      </m:d>
                    </m:oMath>
                  </m:oMathPara>
                </a14:m>
                <a:endParaRPr sz="1800" b="0"/>
              </a:p>
              <a:p>
                <a:pPr lvl="0">
                  <a:lnSpc>
                    <a:spcPct val="100000"/>
                  </a:lnSpc>
                  <a:buNone/>
                </a:pPr>
                <a:r>
                  <a:rPr sz="1800" b="1"/>
                  <a:t>Plain language:</a:t>
                </a:r>
                <a:r>
                  <a:rPr sz="1800"/>
                  <a:t> RNA completes a round trip:</a:t>
                </a:r>
              </a:p>
              <a:p>
                <a:pPr>
                  <a:lnSpc>
                    <a:spcPct val="100000"/>
                  </a:lnSpc>
                  <a:buNone/>
                </a:pPr>
                <a14:m>
                  <m:oMathPara xmlns:m="http://schemas.openxmlformats.org/officeDocument/2006/math">
                    <m:oMath>
                      <m:r>
                        <a:rPr lang="en-US" sz="1800" i="0">
                          <a:latin typeface="Cambria Math"/>
                          <a:ea typeface="Cambria Math"/>
                          <a:cs typeface="Cambria Math"/>
                        </a:rPr>
                        <m:t>𝑅𝑁𝐴</m:t>
                      </m:r>
                      <m:r>
                        <a:rPr lang="en-US" sz="1800" i="0">
                          <a:latin typeface="Cambria Math"/>
                          <a:ea typeface="Cambria Math"/>
                          <a:cs typeface="Cambria Math"/>
                        </a:rPr>
                        <m:t>⟶</m:t>
                      </m:r>
                      <m:r>
                        <a:rPr lang="en-US" sz="1800" i="0">
                          <a:latin typeface="Cambria Math"/>
                          <a:ea typeface="Cambria Math"/>
                          <a:cs typeface="Cambria Math"/>
                        </a:rPr>
                        <m:t>𝑙𝑎𝑡𝑒𝑛𝑡</m:t>
                      </m:r>
                      <m:r>
                        <a:rPr lang="en-US" sz="1800" i="0">
                          <a:latin typeface="Cambria Math"/>
                          <a:ea typeface="Cambria Math"/>
                          <a:cs typeface="Cambria Math"/>
                        </a:rPr>
                        <m:t> </m:t>
                      </m:r>
                      <m:r>
                        <a:rPr lang="en-US" sz="1800" i="0">
                          <a:latin typeface="Cambria Math"/>
                          <a:ea typeface="Cambria Math"/>
                          <a:cs typeface="Cambria Math"/>
                        </a:rPr>
                        <m:t>𝑟𝑒𝑝𝑟𝑒𝑠𝑒𝑛𝑡𝑎𝑡𝑖𝑜𝑛</m:t>
                      </m:r>
                      <m:r>
                        <a:rPr lang="en-US" sz="1800" i="0">
                          <a:latin typeface="Cambria Math"/>
                          <a:ea typeface="Cambria Math"/>
                          <a:cs typeface="Cambria Math"/>
                        </a:rPr>
                        <m:t>⟶</m:t>
                      </m:r>
                      <m:r>
                        <a:rPr lang="en-US" sz="1800" i="0">
                          <a:latin typeface="Cambria Math"/>
                          <a:ea typeface="Cambria Math"/>
                          <a:cs typeface="Cambria Math"/>
                        </a:rPr>
                        <m:t>𝑟𝑒𝑐𝑜𝑛𝑠𝑡𝑟𝑢𝑐𝑡𝑒𝑑</m:t>
                      </m:r>
                      <m:r>
                        <a:rPr lang="en-US" sz="1800" i="0">
                          <a:latin typeface="Cambria Math"/>
                          <a:ea typeface="Cambria Math"/>
                          <a:cs typeface="Cambria Math"/>
                        </a:rPr>
                        <m:t> </m:t>
                      </m:r>
                      <m:r>
                        <a:rPr lang="en-US" sz="1800" i="0">
                          <a:latin typeface="Cambria Math"/>
                          <a:ea typeface="Cambria Math"/>
                          <a:cs typeface="Cambria Math"/>
                        </a:rPr>
                        <m:t>𝑅𝑁𝐴</m:t>
                      </m:r>
                      <m:r>
                        <a:rPr lang="en-US" sz="1800" i="0">
                          <a:latin typeface="Cambria Math"/>
                          <a:ea typeface="Cambria Math"/>
                          <a:cs typeface="Cambria Math"/>
                        </a:rPr>
                        <m:t>.</m:t>
                      </m:r>
                    </m:oMath>
                  </m:oMathPara>
                </a14:m>
                <a:endParaRPr sz="1800"/>
              </a:p>
              <a:p>
                <a:pPr lvl="0">
                  <a:lnSpc>
                    <a:spcPct val="100000"/>
                  </a:lnSpc>
                  <a:buNone/>
                </a:pPr>
                <a:r>
                  <a:rPr sz="1800" b="1"/>
                  <a:t>Protein reconstruction loss:</a:t>
                </a:r>
                <a:endParaRPr sz="1800"/>
              </a:p>
              <a:p>
                <a:pPr>
                  <a:buNone/>
                </a:pPr>
                <a14:m>
                  <m:oMathPara xmlns:m="http://schemas.openxmlformats.org/officeDocument/2006/math">
                    <m:oMath>
                      <m:sSub>
                        <m:sSubPr>
                          <m:ctrlPr>
                            <a:rPr lang="en-US" sz="1800">
                              <a:latin typeface="Cambria Math"/>
                              <a:ea typeface="Cambria Math"/>
                              <a:cs typeface="Cambria Math"/>
                            </a:rPr>
                          </m:ctrlPr>
                        </m:sSubPr>
                        <m:e>
                          <m:r>
                            <a:rPr lang="en-US" sz="1800">
                              <a:latin typeface="Cambria Math"/>
                              <a:ea typeface="Cambria Math"/>
                              <a:cs typeface="Cambria Math"/>
                            </a:rPr>
                            <m:t>ℒ</m:t>
                          </m:r>
                        </m:e>
                        <m:sub>
                          <m:r>
                            <a:rPr lang="en-US" sz="1800" i="1">
                              <a:latin typeface="Cambria Math"/>
                              <a:ea typeface="Cambria Math"/>
                              <a:cs typeface="Cambria Math"/>
                            </a:rPr>
                            <m:t>𝑃</m:t>
                          </m:r>
                          <m:r>
                            <a:rPr lang="en-US" sz="1800" i="0">
                              <a:latin typeface="Cambria Math"/>
                              <a:ea typeface="Cambria Math"/>
                              <a:cs typeface="Cambria Math"/>
                            </a:rPr>
                            <m:t>−</m:t>
                          </m:r>
                          <m:r>
                            <a:rPr lang="en-US" sz="1800" i="0">
                              <a:latin typeface="Cambria Math"/>
                              <a:ea typeface="Cambria Math"/>
                              <a:cs typeface="Cambria Math"/>
                            </a:rPr>
                            <m:t>𝑟𝑒𝑐</m:t>
                          </m:r>
                        </m:sub>
                      </m:sSub>
                      <m:r>
                        <a:rPr lang="en-US" sz="1800" i="0">
                          <a:latin typeface="Cambria Math"/>
                          <a:ea typeface="Cambria Math"/>
                          <a:cs typeface="Cambria Math"/>
                        </a:rPr>
                        <m:t>=</m:t>
                      </m:r>
                      <m:func>
                        <m:funcPr>
                          <m:ctrlPr>
                            <a:rPr lang="en-US" sz="1800" i="0">
                              <a:latin typeface="Cambria Math"/>
                              <a:ea typeface="Cambria Math"/>
                              <a:cs typeface="Cambria Math"/>
                            </a:rPr>
                          </m:ctrlPr>
                        </m:funcPr>
                        <m:fName>
                          <m:r>
                            <a:rPr lang="en-US" sz="1800" i="0">
                              <a:latin typeface="Cambria Math"/>
                              <a:ea typeface="Cambria Math"/>
                              <a:cs typeface="Cambria Math"/>
                            </a:rPr>
                            <m:t>𝑅𝑀𝑆𝐸</m:t>
                          </m:r>
                        </m:fName>
                        <m:e>
                          <m:r>
                            <a:rPr lang="en-US" sz="1800" i="0">
                              <a:latin typeface="Cambria Math"/>
                              <a:ea typeface="Cambria Math"/>
                              <a:cs typeface="Cambria Math"/>
                            </a:rPr>
                            <m:t>​</m:t>
                          </m:r>
                        </m:e>
                      </m:func>
                      <m:d>
                        <m:dPr>
                          <m:ctrlPr>
                            <a:rPr lang="en-US" sz="1800" i="1">
                              <a:latin typeface="Cambria Math" panose="02040503050406030204" pitchFamily="18" charset="0"/>
                              <a:ea typeface="Cambria Math"/>
                              <a:cs typeface="Cambria Math"/>
                            </a:rPr>
                          </m:ctrlPr>
                        </m:dPr>
                        <m:e>
                          <m:sSup>
                            <m:sSupPr>
                              <m:ctrlPr>
                                <a:rPr lang="en-US" sz="1800" i="1">
                                  <a:latin typeface="Cambria Math"/>
                                  <a:ea typeface="Cambria Math"/>
                                  <a:cs typeface="Cambria Math"/>
                                </a:rPr>
                              </m:ctrlPr>
                            </m:sSupPr>
                            <m:e>
                              <m:r>
                                <a:rPr lang="en-US" sz="1800" i="1">
                                  <a:latin typeface="Cambria Math"/>
                                  <a:ea typeface="Cambria Math"/>
                                  <a:cs typeface="Cambria Math"/>
                                </a:rPr>
                                <m:t>𝐷</m:t>
                              </m:r>
                            </m:e>
                            <m:sup>
                              <m:r>
                                <a:rPr lang="en-US" sz="1800" i="1">
                                  <a:latin typeface="Cambria Math"/>
                                  <a:ea typeface="Cambria Math"/>
                                  <a:cs typeface="Cambria Math"/>
                                </a:rPr>
                                <m:t>𝑃</m:t>
                              </m:r>
                            </m:sup>
                          </m:sSup>
                          <m:r>
                            <a:rPr lang="en-US" sz="1800" i="0">
                              <a:latin typeface="Cambria Math"/>
                              <a:ea typeface="Cambria Math"/>
                              <a:cs typeface="Cambria Math"/>
                            </a:rPr>
                            <m:t>​</m:t>
                          </m:r>
                          <m:d>
                            <m:dPr>
                              <m:ctrlPr>
                                <a:rPr lang="en-US" sz="1800" i="1">
                                  <a:latin typeface="Cambria Math" panose="02040503050406030204" pitchFamily="18" charset="0"/>
                                  <a:ea typeface="Cambria Math"/>
                                  <a:cs typeface="Cambria Math"/>
                                </a:rPr>
                              </m:ctrlPr>
                            </m:dPr>
                            <m:e>
                              <m:sSup>
                                <m:sSupPr>
                                  <m:ctrlPr>
                                    <a:rPr lang="en-US" sz="1800" i="1">
                                      <a:latin typeface="Cambria Math"/>
                                      <a:ea typeface="Cambria Math"/>
                                      <a:cs typeface="Cambria Math"/>
                                    </a:rPr>
                                  </m:ctrlPr>
                                </m:sSupPr>
                                <m:e>
                                  <m:r>
                                    <a:rPr lang="en-US" sz="1800" i="1">
                                      <a:latin typeface="Cambria Math"/>
                                      <a:ea typeface="Cambria Math"/>
                                      <a:cs typeface="Cambria Math"/>
                                    </a:rPr>
                                    <m:t>𝐸</m:t>
                                  </m:r>
                                </m:e>
                                <m:sup>
                                  <m:r>
                                    <a:rPr lang="en-US" sz="1800" i="1">
                                      <a:latin typeface="Cambria Math"/>
                                      <a:ea typeface="Cambria Math"/>
                                      <a:cs typeface="Cambria Math"/>
                                    </a:rPr>
                                    <m:t>𝑃</m:t>
                                  </m:r>
                                </m:sup>
                              </m:sSup>
                              <m:r>
                                <a:rPr lang="en-US" sz="180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𝐀</m:t>
                                      </m:r>
                                    </m:e>
                                    <m:sup>
                                      <m:r>
                                        <a:rPr lang="en-US" sz="1800" b="0" i="1">
                                          <a:latin typeface="Cambria Math"/>
                                          <a:ea typeface="Cambria Math"/>
                                          <a:cs typeface="Cambria Math"/>
                                        </a:rPr>
                                        <m:t>𝑃</m:t>
                                      </m:r>
                                    </m:sup>
                                  </m:sSup>
                                </m:e>
                              </m:d>
                            </m:e>
                          </m:d>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𝑃</m:t>
                              </m:r>
                            </m:sup>
                          </m:sSup>
                        </m:e>
                      </m:d>
                    </m:oMath>
                  </m:oMathPara>
                </a14:m>
                <a:endParaRPr sz="1800" b="0"/>
              </a:p>
              <a:p>
                <a:pPr lvl="0">
                  <a:lnSpc>
                    <a:spcPct val="100000"/>
                  </a:lnSpc>
                  <a:buNone/>
                </a:pPr>
                <a:r>
                  <a:rPr sz="1800" b="1"/>
                  <a:t>Plain language:</a:t>
                </a:r>
                <a:r>
                  <a:rPr sz="1800"/>
                  <a:t> Protein completes the corresponding round trip:</a:t>
                </a:r>
              </a:p>
              <a:p>
                <a:pPr>
                  <a:lnSpc>
                    <a:spcPct val="100000"/>
                  </a:lnSpc>
                  <a:buNone/>
                </a:pPr>
                <a14:m>
                  <m:oMathPara xmlns:m="http://schemas.openxmlformats.org/officeDocument/2006/math">
                    <m:oMath>
                      <m:r>
                        <a:rPr lang="en-US" sz="1800" i="0">
                          <a:latin typeface="Cambria Math"/>
                          <a:ea typeface="Cambria Math"/>
                          <a:cs typeface="Cambria Math"/>
                        </a:rPr>
                        <m:t>𝑝𝑟𝑜𝑡𝑒𝑖𝑛</m:t>
                      </m:r>
                      <m:r>
                        <a:rPr lang="en-US" sz="1800" i="0">
                          <a:latin typeface="Cambria Math"/>
                          <a:ea typeface="Cambria Math"/>
                          <a:cs typeface="Cambria Math"/>
                        </a:rPr>
                        <m:t>⟶</m:t>
                      </m:r>
                      <m:r>
                        <a:rPr lang="en-US" sz="1800" i="0">
                          <a:latin typeface="Cambria Math"/>
                          <a:ea typeface="Cambria Math"/>
                          <a:cs typeface="Cambria Math"/>
                        </a:rPr>
                        <m:t>𝑙𝑎𝑡𝑒𝑛𝑡</m:t>
                      </m:r>
                      <m:r>
                        <a:rPr lang="en-US" sz="1800" i="0">
                          <a:latin typeface="Cambria Math"/>
                          <a:ea typeface="Cambria Math"/>
                          <a:cs typeface="Cambria Math"/>
                        </a:rPr>
                        <m:t> </m:t>
                      </m:r>
                      <m:r>
                        <a:rPr lang="en-US" sz="1800" i="0">
                          <a:latin typeface="Cambria Math"/>
                          <a:ea typeface="Cambria Math"/>
                          <a:cs typeface="Cambria Math"/>
                        </a:rPr>
                        <m:t>𝑟𝑒𝑝𝑟𝑒𝑠𝑒𝑛𝑡𝑎𝑡𝑖𝑜𝑛</m:t>
                      </m:r>
                      <m:r>
                        <a:rPr lang="en-US" sz="1800" i="0">
                          <a:latin typeface="Cambria Math"/>
                          <a:ea typeface="Cambria Math"/>
                          <a:cs typeface="Cambria Math"/>
                        </a:rPr>
                        <m:t>⟶</m:t>
                      </m:r>
                      <m:r>
                        <a:rPr lang="en-US" sz="1800" i="0">
                          <a:latin typeface="Cambria Math"/>
                          <a:ea typeface="Cambria Math"/>
                          <a:cs typeface="Cambria Math"/>
                        </a:rPr>
                        <m:t>𝑟𝑒𝑐𝑜𝑛𝑠𝑡𝑟𝑢𝑐𝑡𝑒𝑑</m:t>
                      </m:r>
                      <m:r>
                        <a:rPr lang="en-US" sz="1800" i="0">
                          <a:latin typeface="Cambria Math"/>
                          <a:ea typeface="Cambria Math"/>
                          <a:cs typeface="Cambria Math"/>
                        </a:rPr>
                        <m:t> </m:t>
                      </m:r>
                      <m:r>
                        <a:rPr lang="en-US" sz="1800" i="0">
                          <a:latin typeface="Cambria Math"/>
                          <a:ea typeface="Cambria Math"/>
                          <a:cs typeface="Cambria Math"/>
                        </a:rPr>
                        <m:t>𝑝𝑟𝑜𝑡𝑒𝑖𝑛</m:t>
                      </m:r>
                      <m:r>
                        <a:rPr lang="en-US" sz="1800" i="0">
                          <a:latin typeface="Cambria Math"/>
                          <a:ea typeface="Cambria Math"/>
                          <a:cs typeface="Cambria Math"/>
                        </a:rPr>
                        <m:t>.</m:t>
                      </m:r>
                    </m:oMath>
                  </m:oMathPara>
                </a14:m>
                <a:endParaRPr sz="1800"/>
              </a:p>
              <a:p>
                <a:pPr lvl="0">
                  <a:lnSpc>
                    <a:spcPct val="100000"/>
                  </a:lnSpc>
                  <a:buNone/>
                </a:pPr>
                <a:r>
                  <a:rPr sz="1800" b="1"/>
                  <a:t>Interpretation:</a:t>
                </a:r>
                <a:r>
                  <a:rPr sz="1800"/>
                  <a:t> A low reconstruction error indicates that each encoder retained information needed to recover its own modality.</a:t>
                </a:r>
              </a:p>
            </p:txBody>
          </p:sp>
        </mc:Choice>
        <mc:Fallback xmlns="">
          <p:sp>
            <p:nvSpPr>
              <p:cNvPr id="4" name="Text Placeholder 3">
                <a:extLst>
                  <a:ext uri="{FF2B5EF4-FFF2-40B4-BE49-F238E27FC236}">
                    <a16:creationId xmlns:a16="http://schemas.microsoft.com/office/drawing/2014/main" id="{130C52C7-4F6F-40A5-5DBD-FD4090E2DC58}"/>
                  </a:ext>
                </a:extLst>
              </p:cNvPr>
              <p:cNvSpPr>
                <a:spLocks noGrp="1" noRot="1" noChangeAspect="1" noMove="1" noResize="1" noEditPoints="1" noAdjustHandles="1" noChangeArrowheads="1" noChangeShapeType="1" noTextEdit="1"/>
              </p:cNvSpPr>
              <p:nvPr>
                <p:ph type="body" idx="10"/>
              </p:nvPr>
            </p:nvSpPr>
            <p:spPr>
              <a:xfrm>
                <a:off x="991043" y="1546693"/>
                <a:ext cx="10758375" cy="4342479"/>
              </a:xfrm>
              <a:blipFill>
                <a:blip r:embed="rId3"/>
                <a:stretch>
                  <a:fillRect l="-1417" t="-14869" b="-4956"/>
                </a:stretch>
              </a:blipFill>
            </p:spPr>
            <p:txBody>
              <a:bodyPr/>
              <a:lstStyle/>
              <a:p>
                <a:r>
                  <a:rPr lang="en-US">
                    <a:noFill/>
                  </a:rPr>
                  <a:t> </a:t>
                </a:r>
              </a:p>
            </p:txBody>
          </p:sp>
        </mc:Fallback>
      </mc:AlternateContent>
    </p:spTree>
    <p:extLst>
      <p:ext uri="{BB962C8B-B14F-4D97-AF65-F5344CB8AC3E}">
        <p14:creationId xmlns:p14="http://schemas.microsoft.com/office/powerpoint/2010/main" val="3785343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DCC043-EAA3-1C1E-615F-EF4D768D5296}"/>
              </a:ext>
            </a:extLst>
          </p:cNvPr>
          <p:cNvSpPr>
            <a:spLocks noGrp="1"/>
          </p:cNvSpPr>
          <p:nvPr>
            <p:ph type="body" idx="15"/>
          </p:nvPr>
        </p:nvSpPr>
        <p:spPr/>
        <p:txBody>
          <a:bodyPr lIns="0" tIns="45720" rIns="0" bIns="45720">
            <a:normAutofit fontScale="94326"/>
          </a:bodyPr>
          <a:lstStyle/>
          <a:p>
            <a:pPr algn="l">
              <a:buNone/>
              <a:defRPr sz="3735" b="1">
                <a:solidFill>
                  <a:schemeClr val="accent1"/>
                </a:solidFill>
                <a:latin typeface="Arial"/>
                <a:ea typeface="Arial"/>
                <a:cs typeface="Arial"/>
              </a:defRPr>
            </a:pPr>
            <a:r>
              <a:rPr sz="3000" b="1">
                <a:solidFill>
                  <a:schemeClr val="accent1"/>
                </a:solidFill>
                <a:latin typeface="Arial"/>
                <a:ea typeface="Arial"/>
                <a:cs typeface="Arial"/>
              </a:rPr>
              <a:t>Alignment</a:t>
            </a:r>
            <a:r>
              <a:rPr sz="2800" b="1">
                <a:solidFill>
                  <a:schemeClr val="accent1"/>
                </a:solidFill>
                <a:latin typeface="Arial"/>
                <a:ea typeface="Arial"/>
                <a:cs typeface="Arial"/>
              </a:rPr>
              <a:t> and cross-prediction connect the modalities</a:t>
            </a:r>
          </a:p>
        </p:txBody>
      </p:sp>
      <p:sp>
        <p:nvSpPr>
          <p:cNvPr id="3" name="Text Placeholder 2">
            <a:extLst>
              <a:ext uri="{FF2B5EF4-FFF2-40B4-BE49-F238E27FC236}">
                <a16:creationId xmlns:a16="http://schemas.microsoft.com/office/drawing/2014/main" id="{DCD607CA-7281-8581-6BD7-4E786461BE6C}"/>
              </a:ext>
            </a:extLst>
          </p:cNvPr>
          <p:cNvSpPr>
            <a:spLocks noGrp="1"/>
          </p:cNvSpPr>
          <p:nvPr>
            <p:ph type="body" idx="14"/>
          </p:nvPr>
        </p:nvSpPr>
        <p:spPr/>
        <p:txBody>
          <a:bodyPr/>
          <a:lstStyle/>
          <a:p>
            <a:r>
              <a:t>Zeyuan Meng, MS — Intelligent Systems Program </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30C52C7-4F6F-40A5-5DBD-FD4090E2DC58}"/>
                  </a:ext>
                </a:extLst>
              </p:cNvPr>
              <p:cNvSpPr>
                <a:spLocks noGrp="1"/>
              </p:cNvSpPr>
              <p:nvPr>
                <p:ph type="body" idx="10"/>
              </p:nvPr>
            </p:nvSpPr>
            <p:spPr>
              <a:xfrm>
                <a:off x="716812" y="1420115"/>
                <a:ext cx="10758375" cy="4741199"/>
              </a:xfrm>
            </p:spPr>
            <p:txBody>
              <a:bodyPr lIns="0" tIns="45720" rIns="0" bIns="45720" anchor="ctr">
                <a:noAutofit/>
              </a:bodyPr>
              <a:lstStyle/>
              <a:p>
                <a:pPr lvl="0">
                  <a:buNone/>
                </a:pPr>
                <a:r>
                  <a:rPr sz="1800" b="1" dirty="0"/>
                  <a:t>Latent-alignment loss:</a:t>
                </a:r>
                <a:endParaRPr sz="1800" dirty="0"/>
              </a:p>
              <a:p>
                <a:pPr>
                  <a:buNone/>
                </a:pPr>
                <a14:m>
                  <m:oMathPara xmlns:m="http://schemas.openxmlformats.org/officeDocument/2006/math">
                    <m:oMath>
                      <m:sSub>
                        <m:sSubPr>
                          <m:ctrlPr>
                            <a:rPr lang="en-US" sz="1800">
                              <a:latin typeface="Cambria Math"/>
                              <a:ea typeface="Cambria Math"/>
                              <a:cs typeface="Cambria Math"/>
                            </a:rPr>
                          </m:ctrlPr>
                        </m:sSubPr>
                        <m:e>
                          <m:r>
                            <a:rPr lang="en-US" sz="1800">
                              <a:latin typeface="Cambria Math"/>
                              <a:ea typeface="Cambria Math"/>
                              <a:cs typeface="Cambria Math"/>
                            </a:rPr>
                            <m:t>ℒ</m:t>
                          </m:r>
                        </m:e>
                        <m:sub>
                          <m:r>
                            <a:rPr lang="en-US" sz="1800" i="0">
                              <a:latin typeface="Cambria Math"/>
                              <a:ea typeface="Cambria Math"/>
                              <a:cs typeface="Cambria Math"/>
                            </a:rPr>
                            <m:t>𝑎𝑙𝑖𝑔𝑛</m:t>
                          </m:r>
                        </m:sub>
                      </m:sSub>
                      <m:r>
                        <a:rPr lang="en-US" sz="1800" i="0">
                          <a:latin typeface="Cambria Math"/>
                          <a:ea typeface="Cambria Math"/>
                          <a:cs typeface="Cambria Math"/>
                        </a:rPr>
                        <m:t>=</m:t>
                      </m:r>
                      <m:f>
                        <m:fPr>
                          <m:ctrlPr>
                            <a:rPr lang="en-US" sz="1800" i="0">
                              <a:latin typeface="Cambria Math"/>
                              <a:ea typeface="Cambria Math"/>
                              <a:cs typeface="Cambria Math"/>
                            </a:rPr>
                          </m:ctrlPr>
                        </m:fPr>
                        <m:num>
                          <m:r>
                            <a:rPr lang="en-US" sz="1800" i="0">
                              <a:latin typeface="Cambria Math"/>
                              <a:ea typeface="Cambria Math"/>
                              <a:cs typeface="Cambria Math"/>
                            </a:rPr>
                            <m:t>1</m:t>
                          </m:r>
                        </m:num>
                        <m:den>
                          <m:r>
                            <a:rPr lang="en-US" sz="1800" i="1">
                              <a:latin typeface="Cambria Math"/>
                              <a:ea typeface="Cambria Math"/>
                              <a:cs typeface="Cambria Math"/>
                            </a:rPr>
                            <m:t>𝑁𝑑</m:t>
                          </m:r>
                        </m:den>
                      </m:f>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𝑖</m:t>
                          </m:r>
                          <m:r>
                            <a:rPr lang="en-US" sz="1800" i="0">
                              <a:latin typeface="Cambria Math"/>
                              <a:ea typeface="Cambria Math"/>
                              <a:cs typeface="Cambria Math"/>
                            </a:rPr>
                            <m:t>=1</m:t>
                          </m:r>
                        </m:sub>
                        <m:sup>
                          <m:r>
                            <a:rPr lang="en-US" sz="1800" i="1">
                              <a:latin typeface="Cambria Math"/>
                              <a:ea typeface="Cambria Math"/>
                              <a:cs typeface="Cambria Math"/>
                            </a:rPr>
                            <m:t>𝑁</m:t>
                          </m:r>
                        </m:sup>
                        <m:e>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𝑘</m:t>
                              </m:r>
                              <m:r>
                                <a:rPr lang="en-US" sz="1800" i="0">
                                  <a:latin typeface="Cambria Math"/>
                                  <a:ea typeface="Cambria Math"/>
                                  <a:cs typeface="Cambria Math"/>
                                </a:rPr>
                                <m:t>=1</m:t>
                              </m:r>
                            </m:sub>
                            <m:sup>
                              <m:r>
                                <a:rPr lang="en-US" sz="1800" i="1">
                                  <a:latin typeface="Cambria Math"/>
                                  <a:ea typeface="Cambria Math"/>
                                  <a:cs typeface="Cambria Math"/>
                                </a:rPr>
                                <m:t>𝑑</m:t>
                              </m:r>
                            </m:sup>
                            <m:e>
                              <m:sSup>
                                <m:sSupPr>
                                  <m:ctrlPr>
                                    <a:rPr lang="en-US" sz="1800" i="1">
                                      <a:latin typeface="Cambria Math" panose="02040503050406030204" pitchFamily="18" charset="0"/>
                                      <a:ea typeface="Cambria Math"/>
                                      <a:cs typeface="Cambria Math"/>
                                    </a:rPr>
                                  </m:ctrlPr>
                                </m:sSupPr>
                                <m:e>
                                  <m:d>
                                    <m:dPr>
                                      <m:ctrlPr>
                                        <a:rPr lang="en-US" sz="1800" i="1">
                                          <a:latin typeface="Cambria Math" panose="02040503050406030204" pitchFamily="18" charset="0"/>
                                          <a:ea typeface="Cambria Math"/>
                                          <a:cs typeface="Cambria Math"/>
                                        </a:rPr>
                                      </m:ctrlPr>
                                    </m:dPr>
                                    <m:e>
                                      <m:sSubSup>
                                        <m:sSubSupPr>
                                          <m:ctrlPr>
                                            <a:rPr lang="en-US" sz="1800" i="1">
                                              <a:latin typeface="Cambria Math"/>
                                              <a:ea typeface="Cambria Math"/>
                                              <a:cs typeface="Cambria Math"/>
                                            </a:rPr>
                                          </m:ctrlPr>
                                        </m:sSubSupPr>
                                        <m:e>
                                          <m:r>
                                            <a:rPr lang="en-US" sz="1800" i="1">
                                              <a:latin typeface="Cambria Math"/>
                                              <a:ea typeface="Cambria Math"/>
                                              <a:cs typeface="Cambria Math"/>
                                            </a:rPr>
                                            <m:t>𝑧</m:t>
                                          </m:r>
                                        </m:e>
                                        <m:sub>
                                          <m:r>
                                            <a:rPr lang="en-US" sz="1800" i="1">
                                              <a:latin typeface="Cambria Math"/>
                                              <a:ea typeface="Cambria Math"/>
                                              <a:cs typeface="Cambria Math"/>
                                            </a:rPr>
                                            <m:t>𝑖𝑘</m:t>
                                          </m:r>
                                        </m:sub>
                                        <m:sup>
                                          <m:r>
                                            <a:rPr lang="en-US" sz="1800" i="1">
                                              <a:latin typeface="Cambria Math"/>
                                              <a:ea typeface="Cambria Math"/>
                                              <a:cs typeface="Cambria Math"/>
                                            </a:rPr>
                                            <m:t>𝑅</m:t>
                                          </m:r>
                                        </m:sup>
                                      </m:sSubSup>
                                      <m:r>
                                        <a:rPr lang="en-US" sz="1800" i="0">
                                          <a:latin typeface="Cambria Math"/>
                                          <a:ea typeface="Cambria Math"/>
                                          <a:cs typeface="Cambria Math"/>
                                        </a:rPr>
                                        <m:t>−</m:t>
                                      </m:r>
                                      <m:sSubSup>
                                        <m:sSubSupPr>
                                          <m:ctrlPr>
                                            <a:rPr lang="en-US" sz="1800" i="1">
                                              <a:latin typeface="Cambria Math"/>
                                              <a:ea typeface="Cambria Math"/>
                                              <a:cs typeface="Cambria Math"/>
                                            </a:rPr>
                                          </m:ctrlPr>
                                        </m:sSubSupPr>
                                        <m:e>
                                          <m:r>
                                            <a:rPr lang="en-US" sz="1800" i="1">
                                              <a:latin typeface="Cambria Math"/>
                                              <a:ea typeface="Cambria Math"/>
                                              <a:cs typeface="Cambria Math"/>
                                            </a:rPr>
                                            <m:t>𝑧</m:t>
                                          </m:r>
                                        </m:e>
                                        <m:sub>
                                          <m:r>
                                            <a:rPr lang="en-US" sz="1800" i="1">
                                              <a:latin typeface="Cambria Math"/>
                                              <a:ea typeface="Cambria Math"/>
                                              <a:cs typeface="Cambria Math"/>
                                            </a:rPr>
                                            <m:t>𝑖𝑘</m:t>
                                          </m:r>
                                        </m:sub>
                                        <m:sup>
                                          <m:r>
                                            <a:rPr lang="en-US" sz="1800" i="1">
                                              <a:latin typeface="Cambria Math"/>
                                              <a:ea typeface="Cambria Math"/>
                                              <a:cs typeface="Cambria Math"/>
                                            </a:rPr>
                                            <m:t>𝑃</m:t>
                                          </m:r>
                                        </m:sup>
                                      </m:sSubSup>
                                    </m:e>
                                  </m:d>
                                </m:e>
                                <m:sup>
                                  <m:r>
                                    <a:rPr lang="en-US" sz="1800" i="0">
                                      <a:latin typeface="Cambria Math"/>
                                      <a:ea typeface="Cambria Math"/>
                                      <a:cs typeface="Cambria Math"/>
                                    </a:rPr>
                                    <m:t>2</m:t>
                                  </m:r>
                                </m:sup>
                              </m:sSup>
                            </m:e>
                          </m:nary>
                        </m:e>
                      </m:nary>
                    </m:oMath>
                  </m:oMathPara>
                </a14:m>
                <a:endParaRPr sz="1800" dirty="0"/>
              </a:p>
              <a:p>
                <a:pPr lvl="0">
                  <a:buNone/>
                </a:pPr>
                <a:r>
                  <a:rPr sz="1800" b="1" dirty="0"/>
                  <a:t>Plain language:</a:t>
                </a:r>
                <a:r>
                  <a:rPr sz="1800" dirty="0"/>
                  <a:t> The paired RNA and protein measurements from spot \(</a:t>
                </a:r>
                <a:r>
                  <a:rPr sz="1800" dirty="0" err="1"/>
                  <a:t>i</a:t>
                </a:r>
                <a:r>
                  <a:rPr sz="1800" dirty="0"/>
                  <a:t>\) should receive nearby representations in the shared latent space.</a:t>
                </a:r>
              </a:p>
              <a:p>
                <a:pPr lvl="0">
                  <a:lnSpc>
                    <a:spcPct val="160000"/>
                  </a:lnSpc>
                  <a:buNone/>
                </a:pPr>
                <a:r>
                  <a:rPr sz="1800" b="1" dirty="0"/>
                  <a:t>RNA-to-protein prediction loss—the deployment pathway:</a:t>
                </a:r>
                <a:endParaRPr sz="1800" dirty="0"/>
              </a:p>
              <a:p>
                <a:pPr>
                  <a:lnSpc>
                    <a:spcPct val="160000"/>
                  </a:lnSpc>
                  <a:buNone/>
                </a:pPr>
                <a14:m>
                  <m:oMathPara xmlns:m="http://schemas.openxmlformats.org/officeDocument/2006/math">
                    <m:oMath>
                      <m:sSub>
                        <m:sSubPr>
                          <m:ctrlPr>
                            <a:rPr lang="en-US" sz="1800">
                              <a:latin typeface="Cambria Math"/>
                              <a:ea typeface="Cambria Math"/>
                              <a:cs typeface="Cambria Math"/>
                            </a:rPr>
                          </m:ctrlPr>
                        </m:sSubPr>
                        <m:e>
                          <m:r>
                            <a:rPr lang="en-US" sz="1800">
                              <a:latin typeface="Cambria Math"/>
                              <a:ea typeface="Cambria Math"/>
                              <a:cs typeface="Cambria Math"/>
                            </a:rPr>
                            <m:t>ℒ</m:t>
                          </m:r>
                        </m:e>
                        <m:sub>
                          <m:r>
                            <a:rPr lang="en-US" sz="1800" i="1">
                              <a:latin typeface="Cambria Math"/>
                              <a:ea typeface="Cambria Math"/>
                              <a:cs typeface="Cambria Math"/>
                            </a:rPr>
                            <m:t>𝑅</m:t>
                          </m:r>
                          <m:r>
                            <a:rPr lang="en-US" sz="1800" i="0">
                              <a:latin typeface="Cambria Math"/>
                              <a:ea typeface="Cambria Math"/>
                              <a:cs typeface="Cambria Math"/>
                            </a:rPr>
                            <m:t>→</m:t>
                          </m:r>
                          <m:r>
                            <a:rPr lang="en-US" sz="1800" i="1">
                              <a:latin typeface="Cambria Math"/>
                              <a:ea typeface="Cambria Math"/>
                              <a:cs typeface="Cambria Math"/>
                            </a:rPr>
                            <m:t>𝑃</m:t>
                          </m:r>
                        </m:sub>
                      </m:sSub>
                      <m:r>
                        <a:rPr lang="en-US" sz="1800" i="0">
                          <a:latin typeface="Cambria Math"/>
                          <a:ea typeface="Cambria Math"/>
                          <a:cs typeface="Cambria Math"/>
                        </a:rPr>
                        <m:t>=</m:t>
                      </m:r>
                      <m:func>
                        <m:funcPr>
                          <m:ctrlPr>
                            <a:rPr lang="en-US" sz="1800" i="0">
                              <a:latin typeface="Cambria Math"/>
                              <a:ea typeface="Cambria Math"/>
                              <a:cs typeface="Cambria Math"/>
                            </a:rPr>
                          </m:ctrlPr>
                        </m:funcPr>
                        <m:fName>
                          <m:r>
                            <a:rPr lang="en-US" sz="1800" i="0">
                              <a:latin typeface="Cambria Math"/>
                              <a:ea typeface="Cambria Math"/>
                              <a:cs typeface="Cambria Math"/>
                            </a:rPr>
                            <m:t>𝑅𝑀𝑆𝐸</m:t>
                          </m:r>
                        </m:fName>
                        <m:e>
                          <m:r>
                            <a:rPr lang="en-US" sz="1800" i="0">
                              <a:latin typeface="Cambria Math"/>
                              <a:ea typeface="Cambria Math"/>
                              <a:cs typeface="Cambria Math"/>
                            </a:rPr>
                            <m:t>​</m:t>
                          </m:r>
                        </m:e>
                      </m:func>
                      <m:d>
                        <m:dPr>
                          <m:ctrlPr>
                            <a:rPr lang="en-US" sz="1800" i="1">
                              <a:latin typeface="Cambria Math" panose="02040503050406030204" pitchFamily="18" charset="0"/>
                              <a:ea typeface="Cambria Math"/>
                              <a:cs typeface="Cambria Math"/>
                            </a:rPr>
                          </m:ctrlPr>
                        </m:dPr>
                        <m:e>
                          <m:sSup>
                            <m:sSupPr>
                              <m:ctrlPr>
                                <a:rPr lang="en-US" sz="1800" i="1">
                                  <a:latin typeface="Cambria Math"/>
                                  <a:ea typeface="Cambria Math"/>
                                  <a:cs typeface="Cambria Math"/>
                                </a:rPr>
                              </m:ctrlPr>
                            </m:sSupPr>
                            <m:e>
                              <m:r>
                                <a:rPr lang="en-US" sz="1800" i="1">
                                  <a:latin typeface="Cambria Math"/>
                                  <a:ea typeface="Cambria Math"/>
                                  <a:cs typeface="Cambria Math"/>
                                </a:rPr>
                                <m:t>𝐷</m:t>
                              </m:r>
                            </m:e>
                            <m:sup>
                              <m:r>
                                <a:rPr lang="en-US" sz="1800" i="1">
                                  <a:latin typeface="Cambria Math"/>
                                  <a:ea typeface="Cambria Math"/>
                                  <a:cs typeface="Cambria Math"/>
                                </a:rPr>
                                <m:t>𝑃</m:t>
                              </m:r>
                            </m:sup>
                          </m:sSup>
                          <m:r>
                            <a:rPr lang="en-US" sz="180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𝑅</m:t>
                                  </m:r>
                                </m:sup>
                              </m:sSup>
                            </m:e>
                          </m:d>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𝑃</m:t>
                              </m:r>
                            </m:sup>
                          </m:sSup>
                        </m:e>
                      </m:d>
                    </m:oMath>
                  </m:oMathPara>
                </a14:m>
                <a:endParaRPr sz="1800" b="0" dirty="0"/>
              </a:p>
              <a:p>
                <a:pPr lvl="0">
                  <a:lnSpc>
                    <a:spcPct val="150000"/>
                  </a:lnSpc>
                  <a:buNone/>
                </a:pPr>
                <a:r>
                  <a:rPr sz="1800" b="1" dirty="0"/>
                  <a:t>Protein-to-RNA prediction loss—the reverse </a:t>
                </a:r>
                <a:r>
                  <a:rPr sz="1800" b="1" dirty="0" err="1"/>
                  <a:t>regularizer</a:t>
                </a:r>
                <a:r>
                  <a:rPr sz="1800" b="1" dirty="0"/>
                  <a:t>:</a:t>
                </a:r>
                <a:endParaRPr sz="1800" dirty="0"/>
              </a:p>
              <a:p>
                <a:pPr>
                  <a:lnSpc>
                    <a:spcPct val="150000"/>
                  </a:lnSpc>
                  <a:buNone/>
                </a:pPr>
                <a14:m>
                  <m:oMathPara xmlns:m="http://schemas.openxmlformats.org/officeDocument/2006/math">
                    <m:oMath>
                      <m:sSub>
                        <m:sSubPr>
                          <m:ctrlPr>
                            <a:rPr lang="en-US" sz="1800">
                              <a:latin typeface="Cambria Math"/>
                              <a:ea typeface="Cambria Math"/>
                              <a:cs typeface="Cambria Math"/>
                            </a:rPr>
                          </m:ctrlPr>
                        </m:sSubPr>
                        <m:e>
                          <m:r>
                            <a:rPr lang="en-US" sz="1800">
                              <a:latin typeface="Cambria Math"/>
                              <a:ea typeface="Cambria Math"/>
                              <a:cs typeface="Cambria Math"/>
                            </a:rPr>
                            <m:t>ℒ</m:t>
                          </m:r>
                        </m:e>
                        <m:sub>
                          <m:r>
                            <a:rPr lang="en-US" sz="1800" i="1">
                              <a:latin typeface="Cambria Math"/>
                              <a:ea typeface="Cambria Math"/>
                              <a:cs typeface="Cambria Math"/>
                            </a:rPr>
                            <m:t>𝑃</m:t>
                          </m:r>
                          <m:r>
                            <a:rPr lang="en-US" sz="1800" i="0">
                              <a:latin typeface="Cambria Math"/>
                              <a:ea typeface="Cambria Math"/>
                              <a:cs typeface="Cambria Math"/>
                            </a:rPr>
                            <m:t>→</m:t>
                          </m:r>
                          <m:r>
                            <a:rPr lang="en-US" sz="1800" i="1">
                              <a:latin typeface="Cambria Math"/>
                              <a:ea typeface="Cambria Math"/>
                              <a:cs typeface="Cambria Math"/>
                            </a:rPr>
                            <m:t>𝑅</m:t>
                          </m:r>
                        </m:sub>
                      </m:sSub>
                      <m:r>
                        <a:rPr lang="en-US" sz="1800" i="0">
                          <a:latin typeface="Cambria Math"/>
                          <a:ea typeface="Cambria Math"/>
                          <a:cs typeface="Cambria Math"/>
                        </a:rPr>
                        <m:t>=</m:t>
                      </m:r>
                      <m:func>
                        <m:funcPr>
                          <m:ctrlPr>
                            <a:rPr lang="en-US" sz="1800" i="0">
                              <a:latin typeface="Cambria Math"/>
                              <a:ea typeface="Cambria Math"/>
                              <a:cs typeface="Cambria Math"/>
                            </a:rPr>
                          </m:ctrlPr>
                        </m:funcPr>
                        <m:fName>
                          <m:r>
                            <a:rPr lang="en-US" sz="1800" i="0">
                              <a:latin typeface="Cambria Math"/>
                              <a:ea typeface="Cambria Math"/>
                              <a:cs typeface="Cambria Math"/>
                            </a:rPr>
                            <m:t>𝑅𝑀𝑆𝐸</m:t>
                          </m:r>
                        </m:fName>
                        <m:e>
                          <m:r>
                            <a:rPr lang="en-US" sz="1800" i="0">
                              <a:latin typeface="Cambria Math"/>
                              <a:ea typeface="Cambria Math"/>
                              <a:cs typeface="Cambria Math"/>
                            </a:rPr>
                            <m:t>​</m:t>
                          </m:r>
                        </m:e>
                      </m:func>
                      <m:d>
                        <m:dPr>
                          <m:ctrlPr>
                            <a:rPr lang="en-US" sz="1800" i="1">
                              <a:latin typeface="Cambria Math" panose="02040503050406030204" pitchFamily="18" charset="0"/>
                              <a:ea typeface="Cambria Math"/>
                              <a:cs typeface="Cambria Math"/>
                            </a:rPr>
                          </m:ctrlPr>
                        </m:dPr>
                        <m:e>
                          <m:sSup>
                            <m:sSupPr>
                              <m:ctrlPr>
                                <a:rPr lang="en-US" sz="1800" i="1">
                                  <a:latin typeface="Cambria Math"/>
                                  <a:ea typeface="Cambria Math"/>
                                  <a:cs typeface="Cambria Math"/>
                                </a:rPr>
                              </m:ctrlPr>
                            </m:sSupPr>
                            <m:e>
                              <m:r>
                                <a:rPr lang="en-US" sz="1800" i="1">
                                  <a:latin typeface="Cambria Math"/>
                                  <a:ea typeface="Cambria Math"/>
                                  <a:cs typeface="Cambria Math"/>
                                </a:rPr>
                                <m:t>𝐷</m:t>
                              </m:r>
                            </m:e>
                            <m:sup>
                              <m:r>
                                <a:rPr lang="en-US" sz="1800" i="1">
                                  <a:latin typeface="Cambria Math"/>
                                  <a:ea typeface="Cambria Math"/>
                                  <a:cs typeface="Cambria Math"/>
                                </a:rPr>
                                <m:t>𝑅</m:t>
                              </m:r>
                            </m:sup>
                          </m:sSup>
                          <m:r>
                            <a:rPr lang="en-US" sz="180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𝑃</m:t>
                                  </m:r>
                                </m:sup>
                              </m:sSup>
                            </m:e>
                          </m:d>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𝑅</m:t>
                              </m:r>
                            </m:sup>
                          </m:sSup>
                        </m:e>
                      </m:d>
                    </m:oMath>
                  </m:oMathPara>
                </a14:m>
                <a:endParaRPr sz="1800" b="0" dirty="0"/>
              </a:p>
              <a:p>
                <a:pPr lvl="0"/>
                <a:r>
                  <a:rPr lang="en-US" sz="1800" dirty="0"/>
                  <a:t>Alignment connects the latent spaces; cross-prediction makes that alignment biologically informative.</a:t>
                </a:r>
                <a:endParaRPr sz="1800" dirty="0"/>
              </a:p>
            </p:txBody>
          </p:sp>
        </mc:Choice>
        <mc:Fallback xmlns="">
          <p:sp>
            <p:nvSpPr>
              <p:cNvPr id="4" name="Text Placeholder 3">
                <a:extLst>
                  <a:ext uri="{FF2B5EF4-FFF2-40B4-BE49-F238E27FC236}">
                    <a16:creationId xmlns:a16="http://schemas.microsoft.com/office/drawing/2014/main" id="{130C52C7-4F6F-40A5-5DBD-FD4090E2DC58}"/>
                  </a:ext>
                </a:extLst>
              </p:cNvPr>
              <p:cNvSpPr>
                <a:spLocks noGrp="1" noRot="1" noChangeAspect="1" noMove="1" noResize="1" noEditPoints="1" noAdjustHandles="1" noChangeArrowheads="1" noChangeShapeType="1" noTextEdit="1"/>
              </p:cNvSpPr>
              <p:nvPr>
                <p:ph type="body" idx="10"/>
              </p:nvPr>
            </p:nvSpPr>
            <p:spPr>
              <a:xfrm>
                <a:off x="716812" y="1420115"/>
                <a:ext cx="10758375" cy="4741199"/>
              </a:xfrm>
              <a:blipFill>
                <a:blip r:embed="rId3"/>
                <a:stretch>
                  <a:fillRect l="-1297" t="-5600"/>
                </a:stretch>
              </a:blipFill>
            </p:spPr>
            <p:txBody>
              <a:bodyPr/>
              <a:lstStyle/>
              <a:p>
                <a:r>
                  <a:rPr lang="en-US">
                    <a:noFill/>
                  </a:rPr>
                  <a:t> </a:t>
                </a:r>
              </a:p>
            </p:txBody>
          </p:sp>
        </mc:Fallback>
      </mc:AlternateContent>
    </p:spTree>
    <p:extLst>
      <p:ext uri="{BB962C8B-B14F-4D97-AF65-F5344CB8AC3E}">
        <p14:creationId xmlns:p14="http://schemas.microsoft.com/office/powerpoint/2010/main" val="3785343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E7FA95-A3E7-0B5E-AB73-44108F287092}"/>
              </a:ext>
            </a:extLst>
          </p:cNvPr>
          <p:cNvSpPr>
            <a:spLocks noGrp="1"/>
          </p:cNvSpPr>
          <p:nvPr>
            <p:ph type="body" idx="15"/>
          </p:nvPr>
        </p:nvSpPr>
        <p:spPr/>
        <p:txBody>
          <a:bodyPr>
            <a:normAutofit fontScale="92500" lnSpcReduction="20000"/>
          </a:bodyPr>
          <a:lstStyle/>
          <a:p>
            <a:r>
              <a:rPr lang="en-US" sz="2800" dirty="0"/>
              <a:t>Inference requires only transcriptomics, spatial coordinates, and the trained RNA-to-protein model weights</a:t>
            </a:r>
            <a:endParaRPr lang="en-US" sz="2600" dirty="0"/>
          </a:p>
        </p:txBody>
      </p:sp>
      <p:sp>
        <p:nvSpPr>
          <p:cNvPr id="3" name="Text Placeholder 2">
            <a:extLst>
              <a:ext uri="{FF2B5EF4-FFF2-40B4-BE49-F238E27FC236}">
                <a16:creationId xmlns:a16="http://schemas.microsoft.com/office/drawing/2014/main" id="{757246CD-A394-1015-0029-AFBC1BD5A5F1}"/>
              </a:ext>
            </a:extLst>
          </p:cNvPr>
          <p:cNvSpPr>
            <a:spLocks noGrp="1"/>
          </p:cNvSpPr>
          <p:nvPr>
            <p:ph type="body" idx="14"/>
          </p:nvPr>
        </p:nvSpPr>
        <p:spPr/>
        <p:txBody>
          <a:bodyPr/>
          <a:lstStyle/>
          <a:p>
            <a:r>
              <a:t>Haoyu Wang, Department of Biomedical Informatics</a:t>
            </a:r>
          </a:p>
        </p:txBody>
      </p:sp>
      <p:sp>
        <p:nvSpPr>
          <p:cNvPr id="10" name="Text Placeholder 1">
            <a:extLst>
              <a:ext uri="{FF2B5EF4-FFF2-40B4-BE49-F238E27FC236}">
                <a16:creationId xmlns:a16="http://schemas.microsoft.com/office/drawing/2014/main" id="{81A7C3B8-8E4A-1798-CD03-5359E46AF3EA}"/>
              </a:ext>
            </a:extLst>
          </p:cNvPr>
          <p:cNvSpPr>
            <a:spLocks noGrp="1"/>
          </p:cNvSpPr>
          <p:nvPr/>
        </p:nvSpPr>
        <p:spPr>
          <a:xfrm>
            <a:off x="5772914" y="1554284"/>
            <a:ext cx="5459818" cy="590914"/>
          </a:xfrm>
          <a:prstGeom prst="rect">
            <a:avLst/>
          </a:prstGeom>
        </p:spPr>
        <p:txBody>
          <a:bodyPr vert="horz" lIns="0" tIns="45720" rIns="0" bIns="45720">
            <a:normAutofit/>
          </a:bodyPr>
          <a:lstStyle>
            <a:lvl1pPr marL="0" indent="0" algn="l" defTabSz="914400">
              <a:lnSpc>
                <a:spcPct val="90000"/>
              </a:lnSpc>
              <a:spcBef>
                <a:spcPts val="1000"/>
              </a:spcBef>
              <a:buClr>
                <a:schemeClr val="accent1"/>
              </a:buClr>
              <a:buFontTx/>
              <a:buNone/>
              <a:defRPr sz="4000" b="1" kern="1200">
                <a:solidFill>
                  <a:schemeClr val="accent1"/>
                </a:solidFill>
                <a:latin typeface="Arial"/>
                <a:ea typeface="Arial"/>
                <a:cs typeface="Arial"/>
              </a:defRPr>
            </a:lvl1pPr>
            <a:lvl2pPr marL="457200" indent="0" algn="l" defTabSz="914400">
              <a:lnSpc>
                <a:spcPct val="90000"/>
              </a:lnSpc>
              <a:spcBef>
                <a:spcPts val="500"/>
              </a:spcBef>
              <a:buClr>
                <a:schemeClr val="accent1"/>
              </a:buClr>
              <a:buFontTx/>
              <a:buNone/>
              <a:defRPr sz="2400" kern="1200">
                <a:solidFill>
                  <a:schemeClr val="tx1"/>
                </a:solidFill>
                <a:latin typeface="Arial"/>
                <a:ea typeface="Arial"/>
                <a:cs typeface="Arial"/>
              </a:defRPr>
            </a:lvl2pPr>
            <a:lvl3pPr marL="914400" indent="0" algn="l" defTabSz="914400">
              <a:lnSpc>
                <a:spcPct val="90000"/>
              </a:lnSpc>
              <a:spcBef>
                <a:spcPts val="500"/>
              </a:spcBef>
              <a:buClr>
                <a:schemeClr val="accent1"/>
              </a:buClr>
              <a:buFontTx/>
              <a:buNone/>
              <a:defRPr sz="2000" kern="1200">
                <a:solidFill>
                  <a:schemeClr val="tx1"/>
                </a:solidFill>
                <a:latin typeface="Arial"/>
                <a:ea typeface="Arial"/>
                <a:cs typeface="Arial"/>
              </a:defRPr>
            </a:lvl3pPr>
            <a:lvl4pPr marL="1371600" indent="0" algn="l" defTabSz="914400">
              <a:lnSpc>
                <a:spcPct val="90000"/>
              </a:lnSpc>
              <a:spcBef>
                <a:spcPts val="500"/>
              </a:spcBef>
              <a:buClr>
                <a:schemeClr val="accent1"/>
              </a:buClr>
              <a:buFontTx/>
              <a:buNone/>
              <a:defRPr sz="1800" kern="1200">
                <a:solidFill>
                  <a:schemeClr val="tx1"/>
                </a:solidFill>
                <a:latin typeface="Arial"/>
                <a:ea typeface="Arial"/>
                <a:cs typeface="Arial"/>
              </a:defRPr>
            </a:lvl4pPr>
            <a:lvl5pPr marL="1828800" indent="0" algn="l" defTabSz="914400">
              <a:lnSpc>
                <a:spcPct val="90000"/>
              </a:lnSpc>
              <a:spcBef>
                <a:spcPts val="500"/>
              </a:spcBef>
              <a:buClr>
                <a:schemeClr val="accent1"/>
              </a:buClr>
              <a:buFontTx/>
              <a:buNone/>
              <a:defRPr sz="1800" kern="1200">
                <a:solidFill>
                  <a:schemeClr val="tx1"/>
                </a:solidFill>
                <a:latin typeface="Arial"/>
                <a:ea typeface="Arial"/>
                <a:cs typeface="Arial"/>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endParaRPr sz="2000">
              <a:solidFill>
                <a:schemeClr val="tx1"/>
              </a:solidFill>
            </a:endParaRPr>
          </a:p>
        </p:txBody>
      </p:sp>
      <mc:AlternateContent xmlns:mc="http://schemas.openxmlformats.org/markup-compatibility/2006" xmlns:a14="http://schemas.microsoft.com/office/drawing/2010/main">
        <mc:Choice Requires="a14">
          <p:sp>
            <p:nvSpPr>
              <p:cNvPr id="14" name="Text Placeholder 3">
                <a:extLst>
                  <a:ext uri="{FF2B5EF4-FFF2-40B4-BE49-F238E27FC236}">
                    <a16:creationId xmlns:a16="http://schemas.microsoft.com/office/drawing/2014/main" id="{D0FE66F6-D892-0E4F-CD65-78EDA0878DD2}"/>
                  </a:ext>
                </a:extLst>
              </p:cNvPr>
              <p:cNvSpPr>
                <a:spLocks noGrp="1"/>
              </p:cNvSpPr>
              <p:nvPr>
                <p:ph type="body" idx="10"/>
              </p:nvPr>
            </p:nvSpPr>
            <p:spPr>
              <a:xfrm>
                <a:off x="869744" y="4437718"/>
                <a:ext cx="10452512" cy="714726"/>
              </a:xfrm>
            </p:spPr>
            <p:txBody>
              <a:bodyPr>
                <a:noAutofit/>
              </a:bodyPr>
              <a:lstStyle/>
              <a:p>
                <a:pPr lvl="0">
                  <a:buNone/>
                </a:pPr>
                <a:r>
                  <a:rPr sz="1800" b="1"/>
                  <a:t>RNA-to-protein prediction:</a:t>
                </a:r>
                <a:endParaRPr sz="1800"/>
              </a:p>
              <a:p>
                <a:pPr>
                  <a:buNone/>
                </a:pPr>
                <a14:m>
                  <m:oMathPara xmlns:m="http://schemas.openxmlformats.org/officeDocument/2006/math">
                    <m:oMath>
                      <m:sSup>
                        <m:sSupPr>
                          <m:ctrlPr>
                            <a:rPr lang="en-US" sz="1800">
                              <a:latin typeface="Cambria Math"/>
                              <a:ea typeface="Cambria Math"/>
                              <a:cs typeface="Cambria Math"/>
                            </a:rPr>
                          </m:ctrlPr>
                        </m:sSupPr>
                        <m:e>
                          <m:r>
                            <a:rPr lang="en-US" sz="1800">
                              <a:latin typeface="Cambria Math"/>
                              <a:ea typeface="Cambria Math"/>
                              <a:cs typeface="Cambria Math"/>
                            </a:rPr>
                            <m:t>𝒢</m:t>
                          </m:r>
                        </m:e>
                        <m:sup>
                          <m:r>
                            <a:rPr lang="en-US" sz="1800" i="1">
                              <a:latin typeface="Cambria Math"/>
                              <a:ea typeface="Cambria Math"/>
                              <a:cs typeface="Cambria Math"/>
                            </a:rPr>
                            <m:t>𝑅</m:t>
                          </m:r>
                        </m:sup>
                      </m:sSup>
                      <m:r>
                        <a:rPr lang="en-US" sz="180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𝐸</m:t>
                          </m:r>
                        </m:e>
                        <m:sup>
                          <m:r>
                            <a:rPr lang="en-US" sz="1800" b="0" i="1">
                              <a:latin typeface="Cambria Math"/>
                              <a:ea typeface="Cambria Math"/>
                              <a:cs typeface="Cambria Math"/>
                            </a:rPr>
                            <m:t>𝑅</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𝐀</m:t>
                              </m:r>
                            </m:e>
                            <m:sup>
                              <m:r>
                                <a:rPr lang="en-US" sz="1800" b="0" i="1">
                                  <a:latin typeface="Cambria Math"/>
                                  <a:ea typeface="Cambria Math"/>
                                  <a:cs typeface="Cambria Math"/>
                                </a:rPr>
                                <m:t>𝑅</m:t>
                              </m:r>
                            </m:sup>
                          </m:sSup>
                        </m:e>
                      </m:d>
                      <m:r>
                        <a:rPr lang="en-US" sz="1800" b="0" i="0">
                          <a:latin typeface="Cambria Math"/>
                          <a:ea typeface="Cambria Math"/>
                          <a:cs typeface="Cambria Math"/>
                        </a:rPr>
                        <m:t>⟶</m:t>
                      </m:r>
                      <m:sSup>
                        <m:sSupPr>
                          <m:ctrlPr>
                            <a:rPr lang="en-US" sz="1800" b="1" i="1">
                              <a:latin typeface="Cambria Math" panose="02040503050406030204" pitchFamily="18" charset="0"/>
                              <a:ea typeface="Cambria Math"/>
                              <a:cs typeface="Cambria Math"/>
                            </a:rPr>
                          </m:ctrlPr>
                        </m:sSupPr>
                        <m:e>
                          <m:acc>
                            <m:accPr>
                              <m:chr m:val="̂"/>
                              <m:ctrlPr>
                                <a:rPr lang="en-US" sz="1800" b="1" i="0">
                                  <a:latin typeface="Cambria Math"/>
                                  <a:ea typeface="Cambria Math"/>
                                  <a:cs typeface="Cambria Math"/>
                                </a:rPr>
                              </m:ctrlPr>
                            </m:accPr>
                            <m:e>
                              <m:r>
                                <a:rPr lang="en-US" sz="1800" b="1" i="0">
                                  <a:latin typeface="Cambria Math"/>
                                  <a:ea typeface="Cambria Math"/>
                                  <a:cs typeface="Cambria Math"/>
                                </a:rPr>
                                <m:t>𝐗</m:t>
                              </m:r>
                            </m:e>
                          </m:acc>
                        </m:e>
                        <m:sup>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𝐷</m:t>
                          </m:r>
                        </m:e>
                        <m:sup>
                          <m:r>
                            <a:rPr lang="en-US" sz="1800" b="0" i="1">
                              <a:latin typeface="Cambria Math"/>
                              <a:ea typeface="Cambria Math"/>
                              <a:cs typeface="Cambria Math"/>
                            </a:rPr>
                            <m:t>𝑃</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𝑅</m:t>
                              </m:r>
                            </m:sup>
                          </m:sSup>
                        </m:e>
                      </m:d>
                    </m:oMath>
                  </m:oMathPara>
                </a14:m>
                <a:endParaRPr sz="1800" b="0"/>
              </a:p>
              <a:p>
                <a:pPr lvl="0">
                  <a:buNone/>
                </a:pPr>
                <a:r>
                  <a:rPr sz="1800" b="1"/>
                  <a:t>Plain language:</a:t>
                </a:r>
                <a:r>
                  <a:rPr sz="1800"/>
                  <a:t> The RNA encoder summarizes each spot’s RNA neighborhood, and the protein decoder translates that summary into predicted abundances for 31 proteins.</a:t>
                </a:r>
              </a:p>
              <a:p>
                <a:pPr lvl="0">
                  <a:buNone/>
                </a:pPr>
                <a:r>
                  <a:rPr sz="1800" b="1"/>
                  <a:t>Deployment:</a:t>
                </a:r>
                <a:r>
                  <a:rPr sz="1800"/>
                  <a:t> Only </a:t>
                </a:r>
                <a14:m>
                  <m:oMath xmlns:m="http://schemas.openxmlformats.org/officeDocument/2006/math">
                    <m:sSup>
                      <m:sSupPr>
                        <m:ctrlPr>
                          <a:rPr lang="en-US" sz="1800" i="1">
                            <a:latin typeface="Cambria Math"/>
                            <a:ea typeface="Cambria Math"/>
                            <a:cs typeface="Cambria Math"/>
                          </a:rPr>
                        </m:ctrlPr>
                      </m:sSupPr>
                      <m:e>
                        <m:r>
                          <a:rPr lang="en-US" sz="1800" i="1">
                            <a:latin typeface="Cambria Math"/>
                            <a:ea typeface="Cambria Math"/>
                            <a:cs typeface="Cambria Math"/>
                          </a:rPr>
                          <m:t>𝐸</m:t>
                        </m:r>
                      </m:e>
                      <m:sup>
                        <m:r>
                          <a:rPr lang="en-US" sz="1800" i="1">
                            <a:latin typeface="Cambria Math"/>
                            <a:ea typeface="Cambria Math"/>
                            <a:cs typeface="Cambria Math"/>
                          </a:rPr>
                          <m:t>𝑅</m:t>
                        </m:r>
                      </m:sup>
                    </m:sSup>
                  </m:oMath>
                </a14:m>
                <a:r>
                  <a:rPr sz="1800"/>
                  <a:t> and </a:t>
                </a:r>
                <a14:m>
                  <m:oMath xmlns:m="http://schemas.openxmlformats.org/officeDocument/2006/math">
                    <m:sSup>
                      <m:sSupPr>
                        <m:ctrlPr>
                          <a:rPr lang="en-US" sz="1800" i="1">
                            <a:latin typeface="Cambria Math"/>
                            <a:ea typeface="Cambria Math"/>
                            <a:cs typeface="Cambria Math"/>
                          </a:rPr>
                        </m:ctrlPr>
                      </m:sSupPr>
                      <m:e>
                        <m:r>
                          <a:rPr lang="en-US" sz="1800" i="1">
                            <a:latin typeface="Cambria Math"/>
                            <a:ea typeface="Cambria Math"/>
                            <a:cs typeface="Cambria Math"/>
                          </a:rPr>
                          <m:t>𝐷</m:t>
                        </m:r>
                      </m:e>
                      <m:sup>
                        <m:r>
                          <a:rPr lang="en-US" sz="1800" i="1">
                            <a:latin typeface="Cambria Math"/>
                            <a:ea typeface="Cambria Math"/>
                            <a:cs typeface="Cambria Math"/>
                          </a:rPr>
                          <m:t>𝑃</m:t>
                        </m:r>
                      </m:sup>
                    </m:sSup>
                  </m:oMath>
                </a14:m>
                <a:r>
                  <a:rPr sz="1800"/>
                  <a:t> are used for RNA-to-protein prediction. The protein encoder </a:t>
                </a:r>
                <a14:m>
                  <m:oMath xmlns:m="http://schemas.openxmlformats.org/officeDocument/2006/math">
                    <m:sSup>
                      <m:sSupPr>
                        <m:ctrlPr>
                          <a:rPr lang="en-US" sz="1800" i="1">
                            <a:latin typeface="Cambria Math"/>
                            <a:ea typeface="Cambria Math"/>
                            <a:cs typeface="Cambria Math"/>
                          </a:rPr>
                        </m:ctrlPr>
                      </m:sSupPr>
                      <m:e>
                        <m:r>
                          <a:rPr lang="en-US" sz="1800" i="1">
                            <a:latin typeface="Cambria Math"/>
                            <a:ea typeface="Cambria Math"/>
                            <a:cs typeface="Cambria Math"/>
                          </a:rPr>
                          <m:t>𝐸</m:t>
                        </m:r>
                      </m:e>
                      <m:sup>
                        <m:r>
                          <a:rPr lang="en-US" sz="1800" i="1">
                            <a:latin typeface="Cambria Math"/>
                            <a:ea typeface="Cambria Math"/>
                            <a:cs typeface="Cambria Math"/>
                          </a:rPr>
                          <m:t>𝑃</m:t>
                        </m:r>
                      </m:sup>
                    </m:sSup>
                  </m:oMath>
                </a14:m>
                <a:r>
                  <a:rPr sz="1800"/>
                  <a:t> and RNA decoder </a:t>
                </a:r>
                <a14:m>
                  <m:oMath xmlns:m="http://schemas.openxmlformats.org/officeDocument/2006/math">
                    <m:sSup>
                      <m:sSupPr>
                        <m:ctrlPr>
                          <a:rPr lang="en-US" sz="1800" i="1">
                            <a:latin typeface="Cambria Math"/>
                            <a:ea typeface="Cambria Math"/>
                            <a:cs typeface="Cambria Math"/>
                          </a:rPr>
                        </m:ctrlPr>
                      </m:sSupPr>
                      <m:e>
                        <m:r>
                          <a:rPr lang="en-US" sz="1800" i="1">
                            <a:latin typeface="Cambria Math"/>
                            <a:ea typeface="Cambria Math"/>
                            <a:cs typeface="Cambria Math"/>
                          </a:rPr>
                          <m:t>𝐷</m:t>
                        </m:r>
                      </m:e>
                      <m:sup>
                        <m:r>
                          <a:rPr lang="en-US" sz="1800" i="1">
                            <a:latin typeface="Cambria Math"/>
                            <a:ea typeface="Cambria Math"/>
                            <a:cs typeface="Cambria Math"/>
                          </a:rPr>
                          <m:t>𝑅</m:t>
                        </m:r>
                      </m:sup>
                    </m:sSup>
                  </m:oMath>
                </a14:m>
                <a:r>
                  <a:rPr sz="1800"/>
                  <a:t> support training but are not required during deployment.</a:t>
                </a:r>
              </a:p>
            </p:txBody>
          </p:sp>
        </mc:Choice>
        <mc:Fallback xmlns="">
          <p:sp>
            <p:nvSpPr>
              <p:cNvPr id="14" name="Text Placeholder 3">
                <a:extLst>
                  <a:ext uri="{FF2B5EF4-FFF2-40B4-BE49-F238E27FC236}">
                    <a16:creationId xmlns:a16="http://schemas.microsoft.com/office/drawing/2014/main" id="{D0FE66F6-D892-0E4F-CD65-78EDA0878DD2}"/>
                  </a:ext>
                </a:extLst>
              </p:cNvPr>
              <p:cNvSpPr>
                <a:spLocks noGrp="1" noRot="1" noChangeAspect="1" noMove="1" noResize="1" noEditPoints="1" noAdjustHandles="1" noChangeArrowheads="1" noChangeShapeType="1" noTextEdit="1"/>
              </p:cNvSpPr>
              <p:nvPr>
                <p:ph type="body" idx="10"/>
              </p:nvPr>
            </p:nvSpPr>
            <p:spPr>
              <a:xfrm>
                <a:off x="869744" y="4437718"/>
                <a:ext cx="10452512" cy="714726"/>
              </a:xfrm>
              <a:blipFill>
                <a:blip r:embed="rId3"/>
                <a:stretch>
                  <a:fillRect l="-1335" t="-8772" b="-168421"/>
                </a:stretch>
              </a:blipFill>
            </p:spPr>
            <p:txBody>
              <a:bodyPr/>
              <a:lstStyle/>
              <a:p>
                <a:r>
                  <a:rPr lang="en-US">
                    <a:noFill/>
                  </a:rPr>
                  <a:t> </a:t>
                </a:r>
              </a:p>
            </p:txBody>
          </p:sp>
        </mc:Fallback>
      </mc:AlternateContent>
      <p:pic>
        <p:nvPicPr>
          <p:cNvPr id="23" name="图片 39"/>
          <p:cNvPicPr>
            <a:picLocks noChangeAspect="1"/>
          </p:cNvPicPr>
          <p:nvPr/>
        </p:nvPicPr>
        <p:blipFill>
          <a:blip r:embed="rId4"/>
          <a:srcRect t="17471" r="5699" b="25005"/>
          <a:stretch>
            <a:fillRect/>
          </a:stretch>
        </p:blipFill>
        <p:spPr>
          <a:xfrm>
            <a:off x="1034684" y="1715845"/>
            <a:ext cx="10715390" cy="2197543"/>
          </a:xfrm>
          <a:prstGeom prst="rect">
            <a:avLst/>
          </a:prstGeom>
        </p:spPr>
      </p:pic>
      <p:sp>
        <p:nvSpPr>
          <p:cNvPr id="16" name="文本框 15">
            <a:extLst>
              <a:ext uri="{FF2B5EF4-FFF2-40B4-BE49-F238E27FC236}">
                <a16:creationId xmlns:a16="http://schemas.microsoft.com/office/drawing/2014/main" id="{C3B96711-091F-5384-4943-F0569D226C5E}"/>
              </a:ext>
            </a:extLst>
          </p:cNvPr>
          <p:cNvSpPr>
            <a:spLocks noGrp="1"/>
          </p:cNvSpPr>
          <p:nvPr/>
        </p:nvSpPr>
        <p:spPr>
          <a:xfrm>
            <a:off x="5772914" y="1235436"/>
            <a:ext cx="1699696" cy="369332"/>
          </a:xfrm>
          <a:prstGeom prst="rect">
            <a:avLst/>
          </a:prstGeom>
          <a:noFill/>
        </p:spPr>
        <p:txBody>
          <a:bodyPr wrap="none">
            <a:spAutoFit/>
          </a:bodyPr>
          <a:lstStyle/>
          <a:p>
            <a:r>
              <a:rPr b="1"/>
              <a:t>Inference Mode</a:t>
            </a:r>
          </a:p>
        </p:txBody>
      </p:sp>
    </p:spTree>
    <p:extLst>
      <p:ext uri="{BB962C8B-B14F-4D97-AF65-F5344CB8AC3E}">
        <p14:creationId xmlns:p14="http://schemas.microsoft.com/office/powerpoint/2010/main" val="1501593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DCC043-EAA3-1C1E-615F-EF4D768D5296}"/>
              </a:ext>
            </a:extLst>
          </p:cNvPr>
          <p:cNvSpPr>
            <a:spLocks noGrp="1"/>
          </p:cNvSpPr>
          <p:nvPr>
            <p:ph type="body" idx="15"/>
          </p:nvPr>
        </p:nvSpPr>
        <p:spPr/>
        <p:txBody>
          <a:bodyPr lIns="0" tIns="45720" rIns="0" bIns="45720">
            <a:normAutofit fontScale="95812"/>
          </a:bodyPr>
          <a:lstStyle/>
          <a:p>
            <a:pPr algn="l">
              <a:buNone/>
              <a:defRPr sz="3735" b="1">
                <a:solidFill>
                  <a:schemeClr val="accent1"/>
                </a:solidFill>
                <a:latin typeface="Arial"/>
                <a:ea typeface="Arial"/>
                <a:cs typeface="Arial"/>
              </a:defRPr>
            </a:pPr>
            <a:r>
              <a:rPr sz="2900" b="1">
                <a:solidFill>
                  <a:schemeClr val="accent1"/>
                </a:solidFill>
                <a:latin typeface="Arial"/>
                <a:ea typeface="Arial"/>
                <a:cs typeface="Arial"/>
              </a:rPr>
              <a:t>Backpropagation</a:t>
            </a:r>
            <a:r>
              <a:rPr sz="2800" b="1">
                <a:solidFill>
                  <a:schemeClr val="accent1"/>
                </a:solidFill>
                <a:latin typeface="Arial"/>
                <a:ea typeface="Arial"/>
                <a:cs typeface="Arial"/>
              </a:rPr>
              <a:t> turns the weighted sum into four updates</a:t>
            </a:r>
          </a:p>
        </p:txBody>
      </p:sp>
      <p:sp>
        <p:nvSpPr>
          <p:cNvPr id="3" name="Text Placeholder 2">
            <a:extLst>
              <a:ext uri="{FF2B5EF4-FFF2-40B4-BE49-F238E27FC236}">
                <a16:creationId xmlns:a16="http://schemas.microsoft.com/office/drawing/2014/main" id="{DCD607CA-7281-8581-6BD7-4E786461BE6C}"/>
              </a:ext>
            </a:extLst>
          </p:cNvPr>
          <p:cNvSpPr>
            <a:spLocks noGrp="1"/>
          </p:cNvSpPr>
          <p:nvPr>
            <p:ph type="body" idx="14"/>
          </p:nvPr>
        </p:nvSpPr>
        <p:spPr/>
        <p:txBody>
          <a:bodyPr/>
          <a:lstStyle/>
          <a:p>
            <a:r>
              <a:t>Zeyuan Meng, MS — Intelligent Systems Program </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30C52C7-4F6F-40A5-5DBD-FD4090E2DC58}"/>
                  </a:ext>
                </a:extLst>
              </p:cNvPr>
              <p:cNvSpPr>
                <a:spLocks noGrp="1"/>
              </p:cNvSpPr>
              <p:nvPr>
                <p:ph type="body" idx="10"/>
              </p:nvPr>
            </p:nvSpPr>
            <p:spPr>
              <a:xfrm>
                <a:off x="991699" y="1655550"/>
                <a:ext cx="10758375" cy="3807265"/>
              </a:xfrm>
            </p:spPr>
            <p:txBody>
              <a:bodyPr lIns="0" tIns="45720" rIns="0" bIns="45720" anchor="ctr">
                <a:noAutofit/>
              </a:bodyPr>
              <a:lstStyle/>
              <a:p>
                <a:pPr lvl="0">
                  <a:lnSpc>
                    <a:spcPct val="100000"/>
                  </a:lnSpc>
                  <a:buNone/>
                </a:pPr>
                <a:r>
                  <a:rPr sz="1800" b="1" dirty="0">
                    <a:latin typeface="Arial"/>
                    <a:ea typeface="Arial"/>
                    <a:cs typeface="Arial"/>
                  </a:rPr>
                  <a:t>Forward pass:</a:t>
                </a:r>
                <a:r>
                  <a:rPr sz="1800" dirty="0">
                    <a:latin typeface="Arial"/>
                    <a:ea typeface="Arial"/>
                    <a:cs typeface="Arial"/>
                  </a:rPr>
                  <a:t> Compute both latent representations: </a:t>
                </a:r>
                <a14:m>
                  <m:oMath xmlns:m="http://schemas.openxmlformats.org/officeDocument/2006/math">
                    <m:sSup>
                      <m:sSupPr>
                        <m:ctrlPr>
                          <a:rPr lang="en-US" sz="1800" b="1">
                            <a:latin typeface="Cambria Math"/>
                            <a:ea typeface="Cambria Math"/>
                            <a:cs typeface="Cambria Math"/>
                          </a:rPr>
                        </m:ctrlPr>
                      </m:sSupPr>
                      <m:e>
                        <m:r>
                          <a:rPr lang="en-US" sz="1800" b="1">
                            <a:latin typeface="Cambria Math"/>
                            <a:ea typeface="Cambria Math"/>
                            <a:cs typeface="Cambria Math"/>
                          </a:rPr>
                          <m:t>𝐳</m:t>
                        </m:r>
                      </m:e>
                      <m:sup>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𝐸</m:t>
                        </m:r>
                      </m:e>
                      <m:sup>
                        <m:r>
                          <a:rPr lang="en-US" sz="1800" b="0" i="1">
                            <a:latin typeface="Cambria Math"/>
                            <a:ea typeface="Cambria Math"/>
                            <a:cs typeface="Cambria Math"/>
                          </a:rPr>
                          <m:t>𝑅</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𝐀</m:t>
                            </m:r>
                          </m:e>
                          <m:sup>
                            <m:r>
                              <a:rPr lang="en-US" sz="1800" b="0" i="1">
                                <a:latin typeface="Cambria Math"/>
                                <a:ea typeface="Cambria Math"/>
                                <a:cs typeface="Cambria Math"/>
                              </a:rPr>
                              <m:t>𝑅</m:t>
                            </m:r>
                          </m:sup>
                        </m:sSup>
                      </m:e>
                    </m:d>
                    <m:r>
                      <a:rPr lang="en-US" sz="1800" b="0" i="0">
                        <a:latin typeface="Cambria Math"/>
                        <a:ea typeface="Cambria Math"/>
                        <a:cs typeface="Cambria Math"/>
                      </a:rPr>
                      <m:t>,</m:t>
                    </m:r>
                    <m:r>
                      <a:rPr lang="en-US" sz="1800" b="0" i="1">
                        <a:latin typeface="Cambria Math"/>
                        <a:ea typeface="Cambria Math"/>
                        <a:cs typeface="Cambria Math"/>
                      </a:rPr>
                      <m:t>  </m:t>
                    </m:r>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𝐸</m:t>
                        </m:r>
                      </m:e>
                      <m:sup>
                        <m:r>
                          <a:rPr lang="en-US" sz="1800" b="0" i="1">
                            <a:latin typeface="Cambria Math"/>
                            <a:ea typeface="Cambria Math"/>
                            <a:cs typeface="Cambria Math"/>
                          </a:rPr>
                          <m:t>𝑃</m:t>
                        </m:r>
                      </m:sup>
                    </m:sSup>
                    <m:r>
                      <a:rPr lang="en-US" sz="1800" b="0" i="0">
                        <a:latin typeface="Cambria Math"/>
                        <a:ea typeface="Cambria Math"/>
                        <a:cs typeface="Cambria Math"/>
                      </a:rPr>
                      <m:t>​</m:t>
                    </m:r>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𝐗</m:t>
                            </m:r>
                          </m:e>
                          <m:sup>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1" i="0">
                                <a:latin typeface="Cambria Math"/>
                                <a:ea typeface="Cambria Math"/>
                                <a:cs typeface="Cambria Math"/>
                              </a:rPr>
                            </m:ctrlPr>
                          </m:sSupPr>
                          <m:e>
                            <m:r>
                              <a:rPr lang="en-US" sz="1800" b="1" i="0">
                                <a:latin typeface="Cambria Math"/>
                                <a:ea typeface="Cambria Math"/>
                                <a:cs typeface="Cambria Math"/>
                              </a:rPr>
                              <m:t>𝐀</m:t>
                            </m:r>
                          </m:e>
                          <m:sup>
                            <m:r>
                              <a:rPr lang="en-US" sz="1800" b="0" i="1">
                                <a:latin typeface="Cambria Math"/>
                                <a:ea typeface="Cambria Math"/>
                                <a:cs typeface="Cambria Math"/>
                              </a:rPr>
                              <m:t>𝑃</m:t>
                            </m:r>
                          </m:sup>
                        </m:sSup>
                      </m:e>
                    </m:d>
                    <m:r>
                      <a:rPr lang="en-US" sz="1800" b="0" i="0">
                        <a:latin typeface="Cambria Math"/>
                        <a:ea typeface="Cambria Math"/>
                        <a:cs typeface="Cambria Math"/>
                      </a:rPr>
                      <m:t>,</m:t>
                    </m:r>
                  </m:oMath>
                </a14:m>
                <a:endParaRPr sz="1800" b="0" dirty="0">
                  <a:latin typeface="Arial"/>
                  <a:ea typeface="Arial"/>
                  <a:cs typeface="Arial"/>
                </a:endParaRPr>
              </a:p>
              <a:p>
                <a:pPr lvl="0">
                  <a:lnSpc>
                    <a:spcPct val="100000"/>
                  </a:lnSpc>
                  <a:buNone/>
                </a:pPr>
                <a:r>
                  <a:rPr sz="1800" dirty="0">
                    <a:latin typeface="Arial"/>
                    <a:ea typeface="Arial"/>
                    <a:cs typeface="Arial"/>
                  </a:rPr>
                  <a:t>followed by four decoded outputs: </a:t>
                </a:r>
                <a14:m>
                  <m:oMath xmlns:m="http://schemas.openxmlformats.org/officeDocument/2006/math">
                    <m:sSup>
                      <m:sSupPr>
                        <m:ctrlPr>
                          <a:rPr lang="en-US" sz="1800" b="1" i="1">
                            <a:latin typeface="Cambria Math" panose="02040503050406030204" pitchFamily="18" charset="0"/>
                            <a:ea typeface="Cambria Math"/>
                            <a:cs typeface="Cambria Math"/>
                          </a:rPr>
                        </m:ctrlPr>
                      </m:sSupPr>
                      <m:e>
                        <m:acc>
                          <m:accPr>
                            <m:chr m:val="̂"/>
                            <m:ctrlPr>
                              <a:rPr lang="en-US" sz="1800" b="1">
                                <a:latin typeface="Cambria Math"/>
                                <a:ea typeface="Cambria Math"/>
                                <a:cs typeface="Cambria Math"/>
                              </a:rPr>
                            </m:ctrlPr>
                          </m:accPr>
                          <m:e>
                            <m:r>
                              <a:rPr lang="en-US" sz="1800" b="1">
                                <a:latin typeface="Cambria Math"/>
                                <a:ea typeface="Cambria Math"/>
                                <a:cs typeface="Cambria Math"/>
                              </a:rPr>
                              <m:t>𝐗</m:t>
                            </m:r>
                          </m:e>
                        </m:acc>
                      </m:e>
                      <m:sup>
                        <m:r>
                          <a:rPr lang="en-US" sz="1800" b="0" i="1">
                            <a:latin typeface="Cambria Math"/>
                            <a:ea typeface="Cambria Math"/>
                            <a:cs typeface="Cambria Math"/>
                          </a:rPr>
                          <m:t>𝑅</m:t>
                        </m:r>
                        <m:r>
                          <a:rPr lang="en-US" sz="1800" b="0" i="0">
                            <a:latin typeface="Cambria Math"/>
                            <a:ea typeface="Cambria Math"/>
                            <a:cs typeface="Cambria Math"/>
                          </a:rPr>
                          <m:t>←</m:t>
                        </m:r>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𝐷</m:t>
                        </m:r>
                      </m:e>
                      <m:sup>
                        <m:r>
                          <a:rPr lang="en-US" sz="1800" b="0" i="1">
                            <a:latin typeface="Cambria Math"/>
                            <a:ea typeface="Cambria Math"/>
                            <a:cs typeface="Cambria Math"/>
                          </a:rPr>
                          <m:t>𝑅</m:t>
                        </m:r>
                      </m:sup>
                    </m:sSup>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𝑅</m:t>
                            </m:r>
                          </m:sup>
                        </m:sSup>
                      </m:e>
                    </m:d>
                    <m:r>
                      <a:rPr lang="en-US" sz="1800" b="0" i="0">
                        <a:latin typeface="Cambria Math"/>
                        <a:ea typeface="Cambria Math"/>
                        <a:cs typeface="Cambria Math"/>
                      </a:rPr>
                      <m:t>,</m:t>
                    </m:r>
                    <m:r>
                      <a:rPr lang="en-US" sz="1800" b="0" i="1">
                        <a:latin typeface="Cambria Math"/>
                        <a:ea typeface="Cambria Math"/>
                        <a:cs typeface="Cambria Math"/>
                      </a:rPr>
                      <m:t>  </m:t>
                    </m:r>
                    <m:sSup>
                      <m:sSupPr>
                        <m:ctrlPr>
                          <a:rPr lang="en-US" sz="1800" b="1" i="1">
                            <a:latin typeface="Cambria Math" panose="02040503050406030204" pitchFamily="18" charset="0"/>
                            <a:ea typeface="Cambria Math"/>
                            <a:cs typeface="Cambria Math"/>
                          </a:rPr>
                        </m:ctrlPr>
                      </m:sSupPr>
                      <m:e>
                        <m:acc>
                          <m:accPr>
                            <m:chr m:val="̂"/>
                            <m:ctrlPr>
                              <a:rPr lang="en-US" sz="1800" b="1" i="0">
                                <a:latin typeface="Cambria Math"/>
                                <a:ea typeface="Cambria Math"/>
                                <a:cs typeface="Cambria Math"/>
                              </a:rPr>
                            </m:ctrlPr>
                          </m:accPr>
                          <m:e>
                            <m:r>
                              <a:rPr lang="en-US" sz="1800" b="1" i="0">
                                <a:latin typeface="Cambria Math"/>
                                <a:ea typeface="Cambria Math"/>
                                <a:cs typeface="Cambria Math"/>
                              </a:rPr>
                              <m:t>𝐗</m:t>
                            </m:r>
                          </m:e>
                        </m:acc>
                      </m:e>
                      <m:sup>
                        <m:r>
                          <a:rPr lang="en-US" sz="1800" b="0" i="1">
                            <a:latin typeface="Cambria Math"/>
                            <a:ea typeface="Cambria Math"/>
                            <a:cs typeface="Cambria Math"/>
                          </a:rPr>
                          <m:t>𝑃</m:t>
                        </m:r>
                        <m:r>
                          <a:rPr lang="en-US" sz="1800" b="0" i="0">
                            <a:latin typeface="Cambria Math"/>
                            <a:ea typeface="Cambria Math"/>
                            <a:cs typeface="Cambria Math"/>
                          </a:rPr>
                          <m:t>←</m:t>
                        </m:r>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𝐷</m:t>
                        </m:r>
                      </m:e>
                      <m:sup>
                        <m:r>
                          <a:rPr lang="en-US" sz="1800" b="0" i="1">
                            <a:latin typeface="Cambria Math"/>
                            <a:ea typeface="Cambria Math"/>
                            <a:cs typeface="Cambria Math"/>
                          </a:rPr>
                          <m:t>𝑃</m:t>
                        </m:r>
                      </m:sup>
                    </m:sSup>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𝑃</m:t>
                            </m:r>
                          </m:sup>
                        </m:sSup>
                      </m:e>
                    </m:d>
                    <m:r>
                      <a:rPr lang="en-US" sz="1800" b="0" i="0">
                        <a:latin typeface="Cambria Math"/>
                        <a:ea typeface="Cambria Math"/>
                        <a:cs typeface="Cambria Math"/>
                      </a:rPr>
                      <m:t>,  </m:t>
                    </m:r>
                    <m:sSup>
                      <m:sSupPr>
                        <m:ctrlPr>
                          <a:rPr lang="en-US" sz="1800" b="1" i="1">
                            <a:latin typeface="Cambria Math" panose="02040503050406030204" pitchFamily="18" charset="0"/>
                            <a:ea typeface="Cambria Math"/>
                            <a:cs typeface="Cambria Math"/>
                          </a:rPr>
                        </m:ctrlPr>
                      </m:sSupPr>
                      <m:e>
                        <m:acc>
                          <m:accPr>
                            <m:chr m:val="̂"/>
                            <m:ctrlPr>
                              <a:rPr lang="en-US" sz="1800" b="1">
                                <a:latin typeface="Cambria Math"/>
                                <a:ea typeface="Cambria Math"/>
                                <a:cs typeface="Cambria Math"/>
                              </a:rPr>
                            </m:ctrlPr>
                          </m:accPr>
                          <m:e>
                            <m:r>
                              <a:rPr lang="en-US" sz="1800" b="1">
                                <a:latin typeface="Cambria Math"/>
                                <a:ea typeface="Cambria Math"/>
                                <a:cs typeface="Cambria Math"/>
                              </a:rPr>
                              <m:t>𝐗</m:t>
                            </m:r>
                          </m:e>
                        </m:acc>
                      </m:e>
                      <m:sup>
                        <m:r>
                          <a:rPr lang="en-US" sz="1800" b="0" i="1">
                            <a:latin typeface="Cambria Math"/>
                            <a:ea typeface="Cambria Math"/>
                            <a:cs typeface="Cambria Math"/>
                          </a:rPr>
                          <m:t>𝑃</m:t>
                        </m:r>
                        <m:r>
                          <a:rPr lang="en-US" sz="1800" b="0" i="0">
                            <a:latin typeface="Cambria Math"/>
                            <a:ea typeface="Cambria Math"/>
                            <a:cs typeface="Cambria Math"/>
                          </a:rPr>
                          <m:t>←</m:t>
                        </m:r>
                        <m:r>
                          <a:rPr lang="en-US" sz="1800" b="0" i="1">
                            <a:latin typeface="Cambria Math"/>
                            <a:ea typeface="Cambria Math"/>
                            <a:cs typeface="Cambria Math"/>
                          </a:rPr>
                          <m:t>𝑅</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𝐷</m:t>
                        </m:r>
                      </m:e>
                      <m:sup>
                        <m:r>
                          <a:rPr lang="en-US" sz="1800" b="0" i="1">
                            <a:latin typeface="Cambria Math"/>
                            <a:ea typeface="Cambria Math"/>
                            <a:cs typeface="Cambria Math"/>
                          </a:rPr>
                          <m:t>𝑃</m:t>
                        </m:r>
                      </m:sup>
                    </m:sSup>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𝑅</m:t>
                            </m:r>
                          </m:sup>
                        </m:sSup>
                      </m:e>
                    </m:d>
                    <m:r>
                      <a:rPr lang="en-US" sz="1800" b="0" i="0">
                        <a:latin typeface="Cambria Math"/>
                        <a:ea typeface="Cambria Math"/>
                        <a:cs typeface="Cambria Math"/>
                      </a:rPr>
                      <m:t>,</m:t>
                    </m:r>
                    <m:r>
                      <a:rPr lang="en-US" sz="1800" b="0" i="1">
                        <a:latin typeface="Cambria Math"/>
                        <a:ea typeface="Cambria Math"/>
                        <a:cs typeface="Cambria Math"/>
                      </a:rPr>
                      <m:t>  </m:t>
                    </m:r>
                    <m:sSup>
                      <m:sSupPr>
                        <m:ctrlPr>
                          <a:rPr lang="en-US" sz="1800" b="1" i="1">
                            <a:latin typeface="Cambria Math" panose="02040503050406030204" pitchFamily="18" charset="0"/>
                            <a:ea typeface="Cambria Math"/>
                            <a:cs typeface="Cambria Math"/>
                          </a:rPr>
                        </m:ctrlPr>
                      </m:sSupPr>
                      <m:e>
                        <m:acc>
                          <m:accPr>
                            <m:chr m:val="̂"/>
                            <m:ctrlPr>
                              <a:rPr lang="en-US" sz="1800" b="1" i="0">
                                <a:latin typeface="Cambria Math"/>
                                <a:ea typeface="Cambria Math"/>
                                <a:cs typeface="Cambria Math"/>
                              </a:rPr>
                            </m:ctrlPr>
                          </m:accPr>
                          <m:e>
                            <m:r>
                              <a:rPr lang="en-US" sz="1800" b="1" i="0">
                                <a:latin typeface="Cambria Math"/>
                                <a:ea typeface="Cambria Math"/>
                                <a:cs typeface="Cambria Math"/>
                              </a:rPr>
                              <m:t>𝐗</m:t>
                            </m:r>
                          </m:e>
                        </m:acc>
                      </m:e>
                      <m:sup>
                        <m:r>
                          <a:rPr lang="en-US" sz="1800" b="0" i="1">
                            <a:latin typeface="Cambria Math"/>
                            <a:ea typeface="Cambria Math"/>
                            <a:cs typeface="Cambria Math"/>
                          </a:rPr>
                          <m:t>𝑅</m:t>
                        </m:r>
                        <m:r>
                          <a:rPr lang="en-US" sz="1800" b="0" i="0">
                            <a:latin typeface="Cambria Math"/>
                            <a:ea typeface="Cambria Math"/>
                            <a:cs typeface="Cambria Math"/>
                          </a:rPr>
                          <m:t>←</m:t>
                        </m:r>
                        <m:r>
                          <a:rPr lang="en-US" sz="1800" b="0" i="1">
                            <a:latin typeface="Cambria Math"/>
                            <a:ea typeface="Cambria Math"/>
                            <a:cs typeface="Cambria Math"/>
                          </a:rPr>
                          <m:t>𝑃</m:t>
                        </m:r>
                      </m:sup>
                    </m:sSup>
                    <m:r>
                      <a:rPr lang="en-US" sz="1800" b="0" i="0">
                        <a:latin typeface="Cambria Math"/>
                        <a:ea typeface="Cambria Math"/>
                        <a:cs typeface="Cambria Math"/>
                      </a:rPr>
                      <m:t>=</m:t>
                    </m:r>
                    <m:sSup>
                      <m:sSupPr>
                        <m:ctrlPr>
                          <a:rPr lang="en-US" sz="1800" b="0" i="1">
                            <a:latin typeface="Cambria Math"/>
                            <a:ea typeface="Cambria Math"/>
                            <a:cs typeface="Cambria Math"/>
                          </a:rPr>
                        </m:ctrlPr>
                      </m:sSupPr>
                      <m:e>
                        <m:r>
                          <a:rPr lang="en-US" sz="1800" b="0" i="1">
                            <a:latin typeface="Cambria Math"/>
                            <a:ea typeface="Cambria Math"/>
                            <a:cs typeface="Cambria Math"/>
                          </a:rPr>
                          <m:t>𝐷</m:t>
                        </m:r>
                      </m:e>
                      <m:sup>
                        <m:r>
                          <a:rPr lang="en-US" sz="1800" b="0" i="1">
                            <a:latin typeface="Cambria Math"/>
                            <a:ea typeface="Cambria Math"/>
                            <a:cs typeface="Cambria Math"/>
                          </a:rPr>
                          <m:t>𝑅</m:t>
                        </m:r>
                      </m:sup>
                    </m:sSup>
                    <m:d>
                      <m:dPr>
                        <m:ctrlPr>
                          <a:rPr lang="en-US" sz="1800" b="1" i="1">
                            <a:latin typeface="Cambria Math" panose="02040503050406030204" pitchFamily="18" charset="0"/>
                            <a:ea typeface="Cambria Math"/>
                            <a:cs typeface="Cambria Math"/>
                          </a:rPr>
                        </m:ctrlPr>
                      </m:dPr>
                      <m:e>
                        <m:sSup>
                          <m:sSupPr>
                            <m:ctrlPr>
                              <a:rPr lang="en-US" sz="1800" b="1" i="0">
                                <a:latin typeface="Cambria Math"/>
                                <a:ea typeface="Cambria Math"/>
                                <a:cs typeface="Cambria Math"/>
                              </a:rPr>
                            </m:ctrlPr>
                          </m:sSupPr>
                          <m:e>
                            <m:r>
                              <a:rPr lang="en-US" sz="1800" b="1" i="0">
                                <a:latin typeface="Cambria Math"/>
                                <a:ea typeface="Cambria Math"/>
                                <a:cs typeface="Cambria Math"/>
                              </a:rPr>
                              <m:t>𝐳</m:t>
                            </m:r>
                          </m:e>
                          <m:sup>
                            <m:r>
                              <a:rPr lang="en-US" sz="1800" b="0" i="1">
                                <a:latin typeface="Cambria Math"/>
                                <a:ea typeface="Cambria Math"/>
                                <a:cs typeface="Cambria Math"/>
                              </a:rPr>
                              <m:t>𝑃</m:t>
                            </m:r>
                          </m:sup>
                        </m:sSup>
                      </m:e>
                    </m:d>
                    <m:r>
                      <a:rPr lang="en-US" sz="1800" b="0" i="0">
                        <a:latin typeface="Cambria Math"/>
                        <a:ea typeface="Cambria Math"/>
                        <a:cs typeface="Cambria Math"/>
                      </a:rPr>
                      <m:t>.</m:t>
                    </m:r>
                  </m:oMath>
                </a14:m>
                <a:endParaRPr sz="1800" dirty="0">
                  <a:latin typeface="Arial"/>
                  <a:ea typeface="Arial"/>
                  <a:cs typeface="Arial"/>
                </a:endParaRPr>
              </a:p>
              <a:p>
                <a:pPr lvl="0">
                  <a:lnSpc>
                    <a:spcPct val="100000"/>
                  </a:lnSpc>
                  <a:buNone/>
                </a:pPr>
                <a:r>
                  <a:rPr sz="1800" b="1" dirty="0">
                    <a:latin typeface="Arial"/>
                    <a:ea typeface="Arial"/>
                    <a:cs typeface="Arial"/>
                  </a:rPr>
                  <a:t>Combine the losses using the loss function.</a:t>
                </a:r>
              </a:p>
              <a:p>
                <a:pPr lvl="0">
                  <a:lnSpc>
                    <a:spcPct val="100000"/>
                  </a:lnSpc>
                  <a:buNone/>
                </a:pPr>
                <a:r>
                  <a:rPr sz="1800" b="1" dirty="0">
                    <a:latin typeface="Arial"/>
                    <a:ea typeface="Arial"/>
                    <a:cs typeface="Arial"/>
                  </a:rPr>
                  <a:t>Backward pass:</a:t>
                </a:r>
                <a:r>
                  <a:rPr sz="1800" dirty="0">
                    <a:latin typeface="Arial"/>
                    <a:ea typeface="Arial"/>
                    <a:cs typeface="Arial"/>
                  </a:rPr>
                  <a:t> For model parameters </a:t>
                </a:r>
                <a14:m>
                  <m:oMath xmlns:m="http://schemas.openxmlformats.org/officeDocument/2006/math">
                    <m:r>
                      <a:rPr lang="en-US" sz="1800" b="1" i="1">
                        <a:latin typeface="Cambria Math"/>
                        <a:ea typeface="Cambria Math"/>
                        <a:cs typeface="Cambria Math"/>
                      </a:rPr>
                      <m:t>𝜽</m:t>
                    </m:r>
                  </m:oMath>
                </a14:m>
                <a:r>
                  <a:rPr sz="1800" dirty="0">
                    <a:latin typeface="Arial"/>
                    <a:ea typeface="Arial"/>
                    <a:cs typeface="Arial"/>
                  </a:rPr>
                  <a:t>, gradients follow every active differentiable pathway: </a:t>
                </a:r>
                <a14:m>
                  <m:oMath xmlns:m="http://schemas.openxmlformats.org/officeDocument/2006/math">
                    <m:sSub>
                      <m:sSubPr>
                        <m:ctrlPr>
                          <a:rPr lang="en-US" sz="1800" i="1">
                            <a:latin typeface="Cambria Math"/>
                            <a:ea typeface="Cambria Math"/>
                            <a:cs typeface="Cambria Math"/>
                          </a:rPr>
                        </m:ctrlPr>
                      </m:sSubPr>
                      <m:e>
                        <m:r>
                          <a:rPr lang="en-US" sz="1800" i="1">
                            <a:latin typeface="Cambria Math"/>
                            <a:ea typeface="Cambria Math"/>
                            <a:cs typeface="Cambria Math"/>
                          </a:rPr>
                          <m:t>𝛻</m:t>
                        </m:r>
                      </m:e>
                      <m:sub>
                        <m:r>
                          <a:rPr lang="en-US" sz="1800" b="1" i="1">
                            <a:latin typeface="Cambria Math"/>
                            <a:ea typeface="Cambria Math"/>
                            <a:cs typeface="Cambria Math"/>
                          </a:rPr>
                          <m:t>𝜽</m:t>
                        </m:r>
                      </m:sub>
                    </m:sSub>
                    <m:sSub>
                      <m:sSubPr>
                        <m:ctrlPr>
                          <a:rPr lang="en-US" sz="1800" b="0" i="0">
                            <a:latin typeface="Cambria Math"/>
                            <a:ea typeface="Cambria Math"/>
                            <a:cs typeface="Cambria Math"/>
                          </a:rPr>
                        </m:ctrlPr>
                      </m:sSubPr>
                      <m:e>
                        <m:r>
                          <a:rPr lang="en-US" sz="1800" b="0" i="0">
                            <a:latin typeface="Cambria Math"/>
                            <a:ea typeface="Cambria Math"/>
                            <a:cs typeface="Cambria Math"/>
                          </a:rPr>
                          <m:t>ℒ</m:t>
                        </m:r>
                      </m:e>
                      <m:sub>
                        <m:r>
                          <a:rPr lang="en-US" sz="1800" b="0" i="0">
                            <a:latin typeface="Cambria Math"/>
                            <a:ea typeface="Cambria Math"/>
                            <a:cs typeface="Cambria Math"/>
                          </a:rPr>
                          <m:t>𝑒𝑓𝑓</m:t>
                        </m:r>
                      </m:sub>
                    </m:sSub>
                    <m:r>
                      <a:rPr lang="en-US" sz="1800" b="0" i="0">
                        <a:latin typeface="Cambria Math"/>
                        <a:ea typeface="Cambria Math"/>
                        <a:cs typeface="Cambria Math"/>
                      </a:rPr>
                      <m:t>.</m:t>
                    </m:r>
                  </m:oMath>
                </a14:m>
                <a:endParaRPr sz="1800" b="0" dirty="0">
                  <a:latin typeface="Arial"/>
                  <a:ea typeface="Arial"/>
                  <a:cs typeface="Arial"/>
                </a:endParaRPr>
              </a:p>
              <a:p>
                <a:pPr lvl="0">
                  <a:lnSpc>
                    <a:spcPct val="100000"/>
                  </a:lnSpc>
                  <a:buNone/>
                </a:pPr>
                <a:r>
                  <a:rPr sz="1800" b="1" dirty="0">
                    <a:latin typeface="Arial"/>
                    <a:ea typeface="Arial"/>
                    <a:cs typeface="Arial"/>
                  </a:rPr>
                  <a:t>Gradient clipping and optimization:</a:t>
                </a:r>
                <a:r>
                  <a:rPr sz="1800" dirty="0">
                    <a:latin typeface="Arial"/>
                    <a:ea typeface="Arial"/>
                    <a:cs typeface="Arial"/>
                  </a:rPr>
                  <a:t> For each module</a:t>
                </a:r>
                <a14:m>
                  <m:oMath xmlns:m="http://schemas.openxmlformats.org/officeDocument/2006/math">
                    <m:r>
                      <a:rPr lang="en-US" sz="1800" i="1">
                        <a:latin typeface="Cambria Math"/>
                        <a:ea typeface="Cambria Math"/>
                        <a:cs typeface="Cambria Math"/>
                      </a:rPr>
                      <m:t>𝑞</m:t>
                    </m:r>
                    <m:r>
                      <a:rPr lang="en-US" sz="1800" i="0">
                        <a:latin typeface="Cambria Math"/>
                        <a:ea typeface="Cambria Math"/>
                        <a:cs typeface="Cambria Math"/>
                      </a:rPr>
                      <m:t>∈</m:t>
                    </m:r>
                    <m:d>
                      <m:dPr>
                        <m:begChr m:val="{"/>
                        <m:endChr m:val="}"/>
                        <m:ctrlPr>
                          <a:rPr lang="en-US" sz="1800" i="1">
                            <a:latin typeface="Cambria Math" panose="02040503050406030204" pitchFamily="18" charset="0"/>
                            <a:ea typeface="Cambria Math"/>
                            <a:cs typeface="Cambria Math"/>
                          </a:rPr>
                        </m:ctrlPr>
                      </m:dPr>
                      <m:e>
                        <m:sSup>
                          <m:sSupPr>
                            <m:ctrlPr>
                              <a:rPr lang="en-US" sz="1800" i="1">
                                <a:latin typeface="Cambria Math"/>
                                <a:ea typeface="Cambria Math"/>
                                <a:cs typeface="Cambria Math"/>
                              </a:rPr>
                            </m:ctrlPr>
                          </m:sSupPr>
                          <m:e>
                            <m:r>
                              <a:rPr lang="en-US" sz="1800" i="1">
                                <a:latin typeface="Cambria Math"/>
                                <a:ea typeface="Cambria Math"/>
                                <a:cs typeface="Cambria Math"/>
                              </a:rPr>
                              <m:t>𝐸</m:t>
                            </m:r>
                          </m:e>
                          <m:sup>
                            <m:r>
                              <a:rPr lang="en-US" sz="1800" i="1">
                                <a:latin typeface="Cambria Math"/>
                                <a:ea typeface="Cambria Math"/>
                                <a:cs typeface="Cambria Math"/>
                              </a:rPr>
                              <m:t>𝑅</m:t>
                            </m:r>
                          </m:sup>
                        </m:sSup>
                        <m:r>
                          <a:rPr lang="en-US" sz="1800" i="0">
                            <a:latin typeface="Cambria Math"/>
                            <a:ea typeface="Cambria Math"/>
                            <a:cs typeface="Cambria Math"/>
                          </a:rPr>
                          <m:t>,</m:t>
                        </m:r>
                        <m:sSup>
                          <m:sSupPr>
                            <m:ctrlPr>
                              <a:rPr lang="en-US" sz="1800" i="1">
                                <a:latin typeface="Cambria Math"/>
                                <a:ea typeface="Cambria Math"/>
                                <a:cs typeface="Cambria Math"/>
                              </a:rPr>
                            </m:ctrlPr>
                          </m:sSupPr>
                          <m:e>
                            <m:r>
                              <a:rPr lang="en-US" sz="1800" i="1">
                                <a:latin typeface="Cambria Math"/>
                                <a:ea typeface="Cambria Math"/>
                                <a:cs typeface="Cambria Math"/>
                              </a:rPr>
                              <m:t>𝐸</m:t>
                            </m:r>
                          </m:e>
                          <m:sup>
                            <m:r>
                              <a:rPr lang="en-US" sz="1800" i="1">
                                <a:latin typeface="Cambria Math"/>
                                <a:ea typeface="Cambria Math"/>
                                <a:cs typeface="Cambria Math"/>
                              </a:rPr>
                              <m:t>𝑃</m:t>
                            </m:r>
                          </m:sup>
                        </m:sSup>
                        <m:r>
                          <a:rPr lang="en-US" sz="1800" i="0">
                            <a:latin typeface="Cambria Math"/>
                            <a:ea typeface="Cambria Math"/>
                            <a:cs typeface="Cambria Math"/>
                          </a:rPr>
                          <m:t>,</m:t>
                        </m:r>
                        <m:sSup>
                          <m:sSupPr>
                            <m:ctrlPr>
                              <a:rPr lang="en-US" sz="1800" i="1">
                                <a:latin typeface="Cambria Math"/>
                                <a:ea typeface="Cambria Math"/>
                                <a:cs typeface="Cambria Math"/>
                              </a:rPr>
                            </m:ctrlPr>
                          </m:sSupPr>
                          <m:e>
                            <m:r>
                              <a:rPr lang="en-US" sz="1800" i="1">
                                <a:latin typeface="Cambria Math"/>
                                <a:ea typeface="Cambria Math"/>
                                <a:cs typeface="Cambria Math"/>
                              </a:rPr>
                              <m:t>𝐷</m:t>
                            </m:r>
                          </m:e>
                          <m:sup>
                            <m:r>
                              <a:rPr lang="en-US" sz="1800" i="1">
                                <a:latin typeface="Cambria Math"/>
                                <a:ea typeface="Cambria Math"/>
                                <a:cs typeface="Cambria Math"/>
                              </a:rPr>
                              <m:t>𝑅</m:t>
                            </m:r>
                          </m:sup>
                        </m:sSup>
                        <m:r>
                          <a:rPr lang="en-US" sz="1800" i="0">
                            <a:latin typeface="Cambria Math"/>
                            <a:ea typeface="Cambria Math"/>
                            <a:cs typeface="Cambria Math"/>
                          </a:rPr>
                          <m:t>,</m:t>
                        </m:r>
                        <m:sSup>
                          <m:sSupPr>
                            <m:ctrlPr>
                              <a:rPr lang="en-US" sz="1800" i="1">
                                <a:latin typeface="Cambria Math"/>
                                <a:ea typeface="Cambria Math"/>
                                <a:cs typeface="Cambria Math"/>
                              </a:rPr>
                            </m:ctrlPr>
                          </m:sSupPr>
                          <m:e>
                            <m:r>
                              <a:rPr lang="en-US" sz="1800" i="1">
                                <a:latin typeface="Cambria Math"/>
                                <a:ea typeface="Cambria Math"/>
                                <a:cs typeface="Cambria Math"/>
                              </a:rPr>
                              <m:t>𝐷</m:t>
                            </m:r>
                          </m:e>
                          <m:sup>
                            <m:r>
                              <a:rPr lang="en-US" sz="1800" i="1">
                                <a:latin typeface="Cambria Math"/>
                                <a:ea typeface="Cambria Math"/>
                                <a:cs typeface="Cambria Math"/>
                              </a:rPr>
                              <m:t>𝑃</m:t>
                            </m:r>
                          </m:sup>
                        </m:sSup>
                      </m:e>
                    </m:d>
                  </m:oMath>
                </a14:m>
                <a:r>
                  <a:rPr sz="1800" dirty="0">
                    <a:latin typeface="Arial"/>
                    <a:ea typeface="Arial"/>
                    <a:cs typeface="Arial"/>
                  </a:rPr>
                  <a:t> clip its gradient norm to </a:t>
                </a:r>
                <a14:m>
                  <m:oMath xmlns:m="http://schemas.openxmlformats.org/officeDocument/2006/math">
                    <m:r>
                      <a:rPr lang="en-US" sz="1800">
                        <a:latin typeface="Cambria Math"/>
                        <a:ea typeface="Cambria Math"/>
                        <a:cs typeface="Cambria Math"/>
                      </a:rPr>
                      <m:t>1.0</m:t>
                    </m:r>
                    <m:r>
                      <a:rPr lang="en-US" sz="1800" b="0" i="0">
                        <a:latin typeface="Cambria Math"/>
                        <a:ea typeface="Cambria Math"/>
                        <a:cs typeface="Cambria Math"/>
                      </a:rPr>
                      <m:t>:</m:t>
                    </m:r>
                    <m:sSub>
                      <m:sSubPr>
                        <m:ctrlPr>
                          <a:rPr lang="en-US" sz="1800" i="1">
                            <a:latin typeface="Cambria Math" panose="02040503050406030204" pitchFamily="18" charset="0"/>
                            <a:ea typeface="Cambria Math"/>
                            <a:cs typeface="Cambria Math"/>
                          </a:rPr>
                        </m:ctrlPr>
                      </m:sSubPr>
                      <m:e>
                        <m:d>
                          <m:dPr>
                            <m:begChr m:val="‖"/>
                            <m:endChr m:val="‖"/>
                            <m:ctrlPr>
                              <a:rPr lang="en-US" sz="1800" i="1">
                                <a:latin typeface="Cambria Math" panose="02040503050406030204" pitchFamily="18" charset="0"/>
                                <a:ea typeface="Cambria Math"/>
                                <a:cs typeface="Cambria Math"/>
                              </a:rPr>
                            </m:ctrlPr>
                          </m:dPr>
                          <m:e>
                            <m:sSub>
                              <m:sSubPr>
                                <m:ctrlPr>
                                  <a:rPr lang="en-US" sz="1800" i="1">
                                    <a:latin typeface="Cambria Math"/>
                                    <a:ea typeface="Cambria Math"/>
                                    <a:cs typeface="Cambria Math"/>
                                  </a:rPr>
                                </m:ctrlPr>
                              </m:sSubPr>
                              <m:e>
                                <m:r>
                                  <a:rPr lang="en-US" sz="1800" i="1">
                                    <a:latin typeface="Cambria Math"/>
                                    <a:ea typeface="Cambria Math"/>
                                    <a:cs typeface="Cambria Math"/>
                                  </a:rPr>
                                  <m:t>𝛻</m:t>
                                </m:r>
                              </m:e>
                              <m:sub>
                                <m:sSub>
                                  <m:sSubPr>
                                    <m:ctrlPr>
                                      <a:rPr lang="en-US" sz="1800" b="1" i="1">
                                        <a:latin typeface="Cambria Math"/>
                                        <a:ea typeface="Cambria Math"/>
                                        <a:cs typeface="Cambria Math"/>
                                      </a:rPr>
                                    </m:ctrlPr>
                                  </m:sSubPr>
                                  <m:e>
                                    <m:r>
                                      <a:rPr lang="en-US" sz="1800" b="1" i="1">
                                        <a:latin typeface="Cambria Math"/>
                                        <a:ea typeface="Cambria Math"/>
                                        <a:cs typeface="Cambria Math"/>
                                      </a:rPr>
                                      <m:t>𝜽</m:t>
                                    </m:r>
                                  </m:e>
                                  <m:sub>
                                    <m:r>
                                      <a:rPr lang="en-US" sz="1800" b="0" i="1">
                                        <a:latin typeface="Cambria Math"/>
                                        <a:ea typeface="Cambria Math"/>
                                        <a:cs typeface="Cambria Math"/>
                                      </a:rPr>
                                      <m:t>𝑞</m:t>
                                    </m:r>
                                  </m:sub>
                                </m:sSub>
                              </m:sub>
                            </m:sSub>
                            <m:sSub>
                              <m:sSubPr>
                                <m:ctrlPr>
                                  <a:rPr lang="en-US" sz="1800" b="0" i="0">
                                    <a:latin typeface="Cambria Math"/>
                                    <a:ea typeface="Cambria Math"/>
                                    <a:cs typeface="Cambria Math"/>
                                  </a:rPr>
                                </m:ctrlPr>
                              </m:sSubPr>
                              <m:e>
                                <m:r>
                                  <a:rPr lang="en-US" sz="1800" b="0" i="0">
                                    <a:latin typeface="Cambria Math"/>
                                    <a:ea typeface="Cambria Math"/>
                                    <a:cs typeface="Cambria Math"/>
                                  </a:rPr>
                                  <m:t>ℒ</m:t>
                                </m:r>
                              </m:e>
                              <m:sub>
                                <m:r>
                                  <a:rPr lang="en-US" sz="1800" b="0" i="0">
                                    <a:latin typeface="Cambria Math"/>
                                    <a:ea typeface="Cambria Math"/>
                                    <a:cs typeface="Cambria Math"/>
                                  </a:rPr>
                                  <m:t>𝑒𝑓𝑓</m:t>
                                </m:r>
                              </m:sub>
                            </m:sSub>
                          </m:e>
                        </m:d>
                      </m:e>
                      <m:sub>
                        <m:r>
                          <a:rPr lang="en-US" sz="1800" b="0" i="0">
                            <a:latin typeface="Cambria Math"/>
                            <a:ea typeface="Cambria Math"/>
                            <a:cs typeface="Cambria Math"/>
                          </a:rPr>
                          <m:t>2</m:t>
                        </m:r>
                      </m:sub>
                    </m:sSub>
                    <m:r>
                      <a:rPr lang="en-US" sz="1800" b="0" i="0">
                        <a:latin typeface="Cambria Math"/>
                        <a:ea typeface="Cambria Math"/>
                        <a:cs typeface="Cambria Math"/>
                      </a:rPr>
                      <m:t>≤1.0.</m:t>
                    </m:r>
                  </m:oMath>
                </a14:m>
                <a:endParaRPr sz="1800" b="0" dirty="0">
                  <a:latin typeface="Arial"/>
                  <a:ea typeface="Arial"/>
                  <a:cs typeface="Arial"/>
                </a:endParaRPr>
              </a:p>
              <a:p>
                <a:pPr lvl="0">
                  <a:lnSpc>
                    <a:spcPct val="100000"/>
                  </a:lnSpc>
                  <a:buNone/>
                </a:pPr>
                <a:r>
                  <a:rPr sz="1800" dirty="0">
                    <a:latin typeface="Arial"/>
                    <a:ea typeface="Arial"/>
                    <a:cs typeface="Arial"/>
                  </a:rPr>
                  <a:t>Then update the four modules using their corresponding Adam optimizers.</a:t>
                </a:r>
              </a:p>
            </p:txBody>
          </p:sp>
        </mc:Choice>
        <mc:Fallback xmlns="">
          <p:sp>
            <p:nvSpPr>
              <p:cNvPr id="4" name="Text Placeholder 3">
                <a:extLst>
                  <a:ext uri="{FF2B5EF4-FFF2-40B4-BE49-F238E27FC236}">
                    <a16:creationId xmlns:a16="http://schemas.microsoft.com/office/drawing/2014/main" id="{130C52C7-4F6F-40A5-5DBD-FD4090E2DC58}"/>
                  </a:ext>
                </a:extLst>
              </p:cNvPr>
              <p:cNvSpPr>
                <a:spLocks noGrp="1" noRot="1" noChangeAspect="1" noMove="1" noResize="1" noEditPoints="1" noAdjustHandles="1" noChangeArrowheads="1" noChangeShapeType="1" noTextEdit="1"/>
              </p:cNvSpPr>
              <p:nvPr>
                <p:ph type="body" idx="10"/>
              </p:nvPr>
            </p:nvSpPr>
            <p:spPr>
              <a:xfrm>
                <a:off x="991699" y="1655550"/>
                <a:ext cx="10758375" cy="3807265"/>
              </a:xfrm>
              <a:blipFill>
                <a:blip r:embed="rId3"/>
                <a:stretch>
                  <a:fillRect l="-1415"/>
                </a:stretch>
              </a:blipFill>
            </p:spPr>
            <p:txBody>
              <a:bodyPr/>
              <a:lstStyle/>
              <a:p>
                <a:r>
                  <a:rPr lang="en-US">
                    <a:noFill/>
                  </a:rPr>
                  <a:t> </a:t>
                </a:r>
              </a:p>
            </p:txBody>
          </p:sp>
        </mc:Fallback>
      </mc:AlternateContent>
    </p:spTree>
    <p:extLst>
      <p:ext uri="{BB962C8B-B14F-4D97-AF65-F5344CB8AC3E}">
        <p14:creationId xmlns:p14="http://schemas.microsoft.com/office/powerpoint/2010/main" val="3785343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E9BD3E-B78F-5140-6D6E-3889A950C704}"/>
              </a:ext>
            </a:extLst>
          </p:cNvPr>
          <p:cNvSpPr>
            <a:spLocks noGrp="1"/>
          </p:cNvSpPr>
          <p:nvPr>
            <p:ph type="body" idx="15"/>
          </p:nvPr>
        </p:nvSpPr>
        <p:spPr/>
        <p:txBody>
          <a:bodyPr>
            <a:normAutofit fontScale="92500" lnSpcReduction="20000"/>
          </a:bodyPr>
          <a:lstStyle/>
          <a:p>
            <a:r>
              <a:rPr sz="2800" dirty="0"/>
              <a:t>Session</a:t>
            </a:r>
            <a:r>
              <a:rPr lang="en-US" sz="2800" dirty="0"/>
              <a:t>3 — Explore DGAT-Predicted Protein Landscapes in Human Lymph Node</a:t>
            </a:r>
            <a:endParaRPr sz="2800" dirty="0"/>
          </a:p>
        </p:txBody>
      </p:sp>
      <p:sp>
        <p:nvSpPr>
          <p:cNvPr id="3" name="Text Placeholder 2">
            <a:extLst>
              <a:ext uri="{FF2B5EF4-FFF2-40B4-BE49-F238E27FC236}">
                <a16:creationId xmlns:a16="http://schemas.microsoft.com/office/drawing/2014/main" id="{D5BD75E1-1F49-0968-795E-DA2C2E8CF09F}"/>
              </a:ext>
            </a:extLst>
          </p:cNvPr>
          <p:cNvSpPr>
            <a:spLocks noGrp="1"/>
          </p:cNvSpPr>
          <p:nvPr>
            <p:ph type="body" idx="14"/>
          </p:nvPr>
        </p:nvSpPr>
        <p:spPr/>
        <p:txBody>
          <a:bodyPr/>
          <a:lstStyle/>
          <a:p>
            <a:r>
              <a:rPr dirty="0" err="1"/>
              <a:t>Zeyuan</a:t>
            </a:r>
            <a:r>
              <a:rPr dirty="0"/>
              <a:t> Meng, MS — Intelligent Systems Program </a:t>
            </a:r>
          </a:p>
        </p:txBody>
      </p:sp>
    </p:spTree>
    <p:extLst>
      <p:ext uri="{BB962C8B-B14F-4D97-AF65-F5344CB8AC3E}">
        <p14:creationId xmlns:p14="http://schemas.microsoft.com/office/powerpoint/2010/main" val="3318548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DCC043-EAA3-1C1E-615F-EF4D768D5296}"/>
              </a:ext>
            </a:extLst>
          </p:cNvPr>
          <p:cNvSpPr>
            <a:spLocks noGrp="1"/>
          </p:cNvSpPr>
          <p:nvPr>
            <p:ph type="body" idx="15"/>
          </p:nvPr>
        </p:nvSpPr>
        <p:spPr/>
        <p:txBody>
          <a:bodyPr>
            <a:normAutofit/>
          </a:bodyPr>
          <a:lstStyle/>
          <a:p>
            <a:r>
              <a:rPr sz="2800"/>
              <a:t>Pearson, Spearman, and RMSE answer different questions</a:t>
            </a:r>
          </a:p>
        </p:txBody>
      </p:sp>
      <p:sp>
        <p:nvSpPr>
          <p:cNvPr id="3" name="Text Placeholder 2">
            <a:extLst>
              <a:ext uri="{FF2B5EF4-FFF2-40B4-BE49-F238E27FC236}">
                <a16:creationId xmlns:a16="http://schemas.microsoft.com/office/drawing/2014/main" id="{DCD607CA-7281-8581-6BD7-4E786461BE6C}"/>
              </a:ext>
            </a:extLst>
          </p:cNvPr>
          <p:cNvSpPr>
            <a:spLocks noGrp="1"/>
          </p:cNvSpPr>
          <p:nvPr>
            <p:ph type="body" idx="14"/>
          </p:nvPr>
        </p:nvSpPr>
        <p:spPr/>
        <p:txBody>
          <a:bodyPr/>
          <a:lstStyle/>
          <a:p>
            <a:r>
              <a:t>Zeyuan Meng, MS — Intelligent Systems Program </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30C52C7-4F6F-40A5-5DBD-FD4090E2DC58}"/>
                  </a:ext>
                </a:extLst>
              </p:cNvPr>
              <p:cNvSpPr>
                <a:spLocks noGrp="1"/>
              </p:cNvSpPr>
              <p:nvPr>
                <p:ph type="body" idx="10"/>
              </p:nvPr>
            </p:nvSpPr>
            <p:spPr>
              <a:xfrm>
                <a:off x="991699" y="1655550"/>
                <a:ext cx="10758375" cy="3807265"/>
              </a:xfrm>
            </p:spPr>
            <p:txBody>
              <a:bodyPr anchor="ctr">
                <a:normAutofit/>
              </a:bodyPr>
              <a:lstStyle/>
              <a:p>
                <a:pPr lvl="0">
                  <a:buNone/>
                </a:pPr>
                <a:r>
                  <a:rPr sz="1800" b="1"/>
                  <a:t>Pearson correlation: </a:t>
                </a:r>
                <a14:m>
                  <m:oMath xmlns:m="http://schemas.openxmlformats.org/officeDocument/2006/math">
                    <m:r>
                      <a:rPr lang="en-US" sz="1800" i="1">
                        <a:latin typeface="Cambria Math"/>
                        <a:ea typeface="Cambria Math"/>
                        <a:cs typeface="Cambria Math"/>
                      </a:rPr>
                      <m:t>𝑟</m:t>
                    </m:r>
                    <m:r>
                      <a:rPr lang="en-US" sz="1800" i="0">
                        <a:latin typeface="Cambria Math"/>
                        <a:ea typeface="Cambria Math"/>
                        <a:cs typeface="Cambria Math"/>
                      </a:rPr>
                      <m:t>=</m:t>
                    </m:r>
                    <m:f>
                      <m:fPr>
                        <m:ctrlPr>
                          <a:rPr lang="en-US" sz="1800" i="1">
                            <a:latin typeface="Cambria Math" panose="02040503050406030204" pitchFamily="18" charset="0"/>
                            <a:ea typeface="Cambria Math"/>
                            <a:cs typeface="Cambria Math"/>
                          </a:rPr>
                        </m:ctrlPr>
                      </m:fPr>
                      <m:num>
                        <m:func>
                          <m:funcPr>
                            <m:ctrlPr>
                              <a:rPr lang="en-US" sz="1800" i="0">
                                <a:latin typeface="Cambria Math"/>
                                <a:ea typeface="Cambria Math"/>
                                <a:cs typeface="Cambria Math"/>
                              </a:rPr>
                            </m:ctrlPr>
                          </m:funcPr>
                          <m:fName>
                            <m:r>
                              <a:rPr lang="en-US" sz="1800" i="0">
                                <a:latin typeface="Cambria Math"/>
                                <a:ea typeface="Cambria Math"/>
                                <a:cs typeface="Cambria Math"/>
                              </a:rPr>
                              <m:t>𝑐𝑜𝑣</m:t>
                            </m:r>
                          </m:fName>
                          <m:e>
                            <m:r>
                              <a:rPr lang="en-US" sz="1800" i="0">
                                <a:latin typeface="Cambria Math"/>
                                <a:ea typeface="Cambria Math"/>
                                <a:cs typeface="Cambria Math"/>
                              </a:rPr>
                              <m:t>​</m:t>
                            </m:r>
                          </m:e>
                        </m:func>
                        <m:d>
                          <m:dPr>
                            <m:ctrlPr>
                              <a:rPr lang="en-US" sz="1800" b="1" i="1">
                                <a:latin typeface="Cambria Math" panose="02040503050406030204" pitchFamily="18" charset="0"/>
                                <a:ea typeface="Cambria Math"/>
                                <a:cs typeface="Cambria Math"/>
                              </a:rPr>
                            </m:ctrlPr>
                          </m:dPr>
                          <m:e>
                            <m:acc>
                              <m:accPr>
                                <m:chr m:val="̂"/>
                                <m:ctrlPr>
                                  <a:rPr lang="en-US" sz="1800" b="1" i="0">
                                    <a:latin typeface="Cambria Math"/>
                                    <a:ea typeface="Cambria Math"/>
                                    <a:cs typeface="Cambria Math"/>
                                  </a:rPr>
                                </m:ctrlPr>
                              </m:accPr>
                              <m:e>
                                <m:r>
                                  <a:rPr lang="en-US" sz="1800" b="1" i="0">
                                    <a:latin typeface="Cambria Math"/>
                                    <a:ea typeface="Cambria Math"/>
                                    <a:cs typeface="Cambria Math"/>
                                  </a:rPr>
                                  <m:t>𝐲</m:t>
                                </m:r>
                              </m:e>
                            </m:acc>
                            <m:r>
                              <a:rPr lang="en-US" sz="1800" b="0" i="0">
                                <a:latin typeface="Cambria Math"/>
                                <a:ea typeface="Cambria Math"/>
                                <a:cs typeface="Cambria Math"/>
                              </a:rPr>
                              <m:t>,</m:t>
                            </m:r>
                            <m:r>
                              <a:rPr lang="en-US" sz="1800" b="1" i="0">
                                <a:latin typeface="Cambria Math"/>
                                <a:ea typeface="Cambria Math"/>
                                <a:cs typeface="Cambria Math"/>
                              </a:rPr>
                              <m:t>𝐲</m:t>
                            </m:r>
                          </m:e>
                        </m:d>
                      </m:num>
                      <m:den>
                        <m:sSub>
                          <m:sSubPr>
                            <m:ctrlPr>
                              <a:rPr lang="en-US" sz="1800" b="0" i="1">
                                <a:latin typeface="Cambria Math"/>
                                <a:ea typeface="Cambria Math"/>
                                <a:cs typeface="Cambria Math"/>
                              </a:rPr>
                            </m:ctrlPr>
                          </m:sSubPr>
                          <m:e>
                            <m:r>
                              <a:rPr lang="en-US" sz="1800" b="0" i="1">
                                <a:latin typeface="Cambria Math"/>
                                <a:ea typeface="Cambria Math"/>
                                <a:cs typeface="Cambria Math"/>
                              </a:rPr>
                              <m:t>𝜎</m:t>
                            </m:r>
                          </m:e>
                          <m:sub>
                            <m:acc>
                              <m:accPr>
                                <m:chr m:val="̂"/>
                                <m:ctrlPr>
                                  <a:rPr lang="en-US" sz="1800" b="1" i="0">
                                    <a:latin typeface="Cambria Math"/>
                                    <a:ea typeface="Cambria Math"/>
                                    <a:cs typeface="Cambria Math"/>
                                  </a:rPr>
                                </m:ctrlPr>
                              </m:accPr>
                              <m:e>
                                <m:r>
                                  <a:rPr lang="en-US" sz="1800" b="1" i="0">
                                    <a:latin typeface="Cambria Math"/>
                                    <a:ea typeface="Cambria Math"/>
                                    <a:cs typeface="Cambria Math"/>
                                  </a:rPr>
                                  <m:t>𝐲</m:t>
                                </m:r>
                              </m:e>
                            </m:acc>
                          </m:sub>
                        </m:sSub>
                        <m:sSub>
                          <m:sSubPr>
                            <m:ctrlPr>
                              <a:rPr lang="en-US" sz="1800" b="0" i="1">
                                <a:latin typeface="Cambria Math"/>
                                <a:ea typeface="Cambria Math"/>
                                <a:cs typeface="Cambria Math"/>
                              </a:rPr>
                            </m:ctrlPr>
                          </m:sSubPr>
                          <m:e>
                            <m:r>
                              <a:rPr lang="en-US" sz="1800" b="0" i="1">
                                <a:latin typeface="Cambria Math"/>
                                <a:ea typeface="Cambria Math"/>
                                <a:cs typeface="Cambria Math"/>
                              </a:rPr>
                              <m:t>𝜎</m:t>
                            </m:r>
                          </m:e>
                          <m:sub>
                            <m:r>
                              <a:rPr lang="en-US" sz="1800" b="1" i="0">
                                <a:latin typeface="Cambria Math"/>
                                <a:ea typeface="Cambria Math"/>
                                <a:cs typeface="Cambria Math"/>
                              </a:rPr>
                              <m:t>𝐲</m:t>
                            </m:r>
                          </m:sub>
                        </m:sSub>
                      </m:den>
                    </m:f>
                  </m:oMath>
                </a14:m>
                <a:endParaRPr sz="1800" b="1"/>
              </a:p>
              <a:p>
                <a:pPr lvl="0">
                  <a:buNone/>
                </a:pPr>
                <a:r>
                  <a:rPr sz="1800" b="1"/>
                  <a:t>Question answered:</a:t>
                </a:r>
                <a:r>
                  <a:rPr sz="1800"/>
                  <a:t> Do the predicted and observed values change together approximately linearly?</a:t>
                </a:r>
              </a:p>
              <a:p>
                <a:pPr lvl="0">
                  <a:buNone/>
                </a:pPr>
                <a:r>
                  <a:rPr sz="1800" b="1"/>
                  <a:t>Spearman rank correlation: </a:t>
                </a:r>
                <a14:m>
                  <m:oMath xmlns:m="http://schemas.openxmlformats.org/officeDocument/2006/math">
                    <m:r>
                      <a:rPr lang="en-US" sz="1800" i="1">
                        <a:latin typeface="Cambria Math"/>
                        <a:ea typeface="Cambria Math"/>
                        <a:cs typeface="Cambria Math"/>
                      </a:rPr>
                      <m:t>𝜌</m:t>
                    </m:r>
                    <m:r>
                      <a:rPr lang="en-US" sz="1800" i="0">
                        <a:latin typeface="Cambria Math"/>
                        <a:ea typeface="Cambria Math"/>
                        <a:cs typeface="Cambria Math"/>
                      </a:rPr>
                      <m:t>=</m:t>
                    </m:r>
                    <m:func>
                      <m:funcPr>
                        <m:ctrlPr>
                          <a:rPr lang="en-US" sz="1800" i="0">
                            <a:latin typeface="Cambria Math"/>
                            <a:ea typeface="Cambria Math"/>
                            <a:cs typeface="Cambria Math"/>
                          </a:rPr>
                        </m:ctrlPr>
                      </m:funcPr>
                      <m:fName>
                        <m:r>
                          <a:rPr lang="en-US" sz="1800" i="0">
                            <a:latin typeface="Cambria Math"/>
                            <a:ea typeface="Cambria Math"/>
                            <a:cs typeface="Cambria Math"/>
                          </a:rPr>
                          <m:t>𝑐𝑜𝑟𝑟</m:t>
                        </m:r>
                      </m:fName>
                      <m:e>
                        <m:r>
                          <a:rPr lang="en-US" sz="1800" i="0">
                            <a:latin typeface="Cambria Math"/>
                            <a:ea typeface="Cambria Math"/>
                            <a:cs typeface="Cambria Math"/>
                          </a:rPr>
                          <m:t>​</m:t>
                        </m:r>
                      </m:e>
                    </m:func>
                    <m:d>
                      <m:dPr>
                        <m:ctrlPr>
                          <a:rPr lang="en-US" sz="1800" i="1">
                            <a:latin typeface="Cambria Math" panose="02040503050406030204" pitchFamily="18" charset="0"/>
                            <a:ea typeface="Cambria Math"/>
                            <a:cs typeface="Cambria Math"/>
                          </a:rPr>
                        </m:ctrlPr>
                      </m:dPr>
                      <m:e>
                        <m:func>
                          <m:funcPr>
                            <m:ctrlPr>
                              <a:rPr lang="en-US" sz="1800" i="0">
                                <a:latin typeface="Cambria Math"/>
                                <a:ea typeface="Cambria Math"/>
                                <a:cs typeface="Cambria Math"/>
                              </a:rPr>
                            </m:ctrlPr>
                          </m:funcPr>
                          <m:fName>
                            <m:r>
                              <a:rPr lang="en-US" sz="1800" i="0">
                                <a:latin typeface="Cambria Math"/>
                                <a:ea typeface="Cambria Math"/>
                                <a:cs typeface="Cambria Math"/>
                              </a:rPr>
                              <m:t>𝑟𝑎𝑛𝑘</m:t>
                            </m:r>
                          </m:fName>
                          <m:e>
                            <m:d>
                              <m:dPr>
                                <m:ctrlPr>
                                  <a:rPr lang="en-US" sz="1800" b="1" i="1">
                                    <a:latin typeface="Cambria Math" panose="02040503050406030204" pitchFamily="18" charset="0"/>
                                    <a:ea typeface="Cambria Math"/>
                                    <a:cs typeface="Cambria Math"/>
                                  </a:rPr>
                                </m:ctrlPr>
                              </m:dPr>
                              <m:e>
                                <m:acc>
                                  <m:accPr>
                                    <m:chr m:val="̂"/>
                                    <m:ctrlPr>
                                      <a:rPr lang="en-US" sz="1800" b="1" i="0">
                                        <a:latin typeface="Cambria Math"/>
                                        <a:ea typeface="Cambria Math"/>
                                        <a:cs typeface="Cambria Math"/>
                                      </a:rPr>
                                    </m:ctrlPr>
                                  </m:accPr>
                                  <m:e>
                                    <m:r>
                                      <a:rPr lang="en-US" sz="1800" b="1" i="0">
                                        <a:latin typeface="Cambria Math"/>
                                        <a:ea typeface="Cambria Math"/>
                                        <a:cs typeface="Cambria Math"/>
                                      </a:rPr>
                                      <m:t>𝐲</m:t>
                                    </m:r>
                                  </m:e>
                                </m:acc>
                              </m:e>
                            </m:d>
                          </m:e>
                        </m:func>
                        <m:r>
                          <a:rPr lang="en-US" sz="1800" b="0" i="0">
                            <a:latin typeface="Cambria Math"/>
                            <a:ea typeface="Cambria Math"/>
                            <a:cs typeface="Cambria Math"/>
                          </a:rPr>
                          <m:t>,</m:t>
                        </m:r>
                        <m:func>
                          <m:funcPr>
                            <m:ctrlPr>
                              <a:rPr lang="en-US" sz="1800" b="0" i="0">
                                <a:latin typeface="Cambria Math"/>
                                <a:ea typeface="Cambria Math"/>
                                <a:cs typeface="Cambria Math"/>
                              </a:rPr>
                            </m:ctrlPr>
                          </m:funcPr>
                          <m:fName>
                            <m:r>
                              <a:rPr lang="en-US" sz="1800" b="0" i="0">
                                <a:latin typeface="Cambria Math"/>
                                <a:ea typeface="Cambria Math"/>
                                <a:cs typeface="Cambria Math"/>
                              </a:rPr>
                              <m:t>𝑟𝑎𝑛𝑘</m:t>
                            </m:r>
                          </m:fName>
                          <m:e>
                            <m:d>
                              <m:dPr>
                                <m:ctrlPr>
                                  <a:rPr lang="en-US" sz="1800" b="1" i="0">
                                    <a:latin typeface="Cambria Math"/>
                                    <a:ea typeface="Cambria Math"/>
                                    <a:cs typeface="Cambria Math"/>
                                  </a:rPr>
                                </m:ctrlPr>
                              </m:dPr>
                              <m:e>
                                <m:r>
                                  <a:rPr lang="en-US" sz="1800" b="1" i="0">
                                    <a:latin typeface="Cambria Math"/>
                                    <a:ea typeface="Cambria Math"/>
                                    <a:cs typeface="Cambria Math"/>
                                  </a:rPr>
                                  <m:t>𝐲</m:t>
                                </m:r>
                              </m:e>
                            </m:d>
                          </m:e>
                        </m:func>
                      </m:e>
                    </m:d>
                  </m:oMath>
                </a14:m>
                <a:endParaRPr sz="1800" b="0"/>
              </a:p>
              <a:p>
                <a:pPr lvl="0">
                  <a:buNone/>
                </a:pPr>
                <a:r>
                  <a:rPr sz="1800" b="1"/>
                  <a:t>Question answered:</a:t>
                </a:r>
                <a:r>
                  <a:rPr sz="1800"/>
                  <a:t> Does the prediction preserve the observed low-to-high ordering?</a:t>
                </a:r>
              </a:p>
              <a:p>
                <a:pPr lvl="0">
                  <a:buNone/>
                </a:pPr>
                <a:r>
                  <a:rPr sz="1800" b="1"/>
                  <a:t>Root mean squared error: </a:t>
                </a:r>
                <a14:m>
                  <m:oMath xmlns:m="http://schemas.openxmlformats.org/officeDocument/2006/math">
                    <m:func>
                      <m:funcPr>
                        <m:ctrlPr>
                          <a:rPr lang="en-US" sz="1800" i="0">
                            <a:latin typeface="Cambria Math"/>
                            <a:ea typeface="Cambria Math"/>
                            <a:cs typeface="Cambria Math"/>
                          </a:rPr>
                        </m:ctrlPr>
                      </m:funcPr>
                      <m:fName>
                        <m:r>
                          <a:rPr lang="en-US" sz="1800" i="0">
                            <a:latin typeface="Cambria Math"/>
                            <a:ea typeface="Cambria Math"/>
                            <a:cs typeface="Cambria Math"/>
                          </a:rPr>
                          <m:t>𝑅𝑀𝑆𝐸</m:t>
                        </m:r>
                      </m:fName>
                      <m:e>
                        <m:r>
                          <a:rPr lang="en-US" sz="1800" i="0">
                            <a:latin typeface="Cambria Math"/>
                            <a:ea typeface="Cambria Math"/>
                            <a:cs typeface="Cambria Math"/>
                          </a:rPr>
                          <m:t>=</m:t>
                        </m:r>
                      </m:e>
                    </m:func>
                    <m:rad>
                      <m:radPr>
                        <m:ctrlPr>
                          <a:rPr lang="en-US" sz="1800" i="1">
                            <a:latin typeface="Cambria Math" panose="02040503050406030204" pitchFamily="18" charset="0"/>
                            <a:ea typeface="Cambria Math"/>
                            <a:cs typeface="Cambria Math"/>
                          </a:rPr>
                        </m:ctrlPr>
                      </m:radPr>
                      <m:e>
                        <m:f>
                          <m:fPr>
                            <m:ctrlPr>
                              <a:rPr lang="en-US" sz="1800" i="0">
                                <a:latin typeface="Cambria Math"/>
                                <a:ea typeface="Cambria Math"/>
                                <a:cs typeface="Cambria Math"/>
                              </a:rPr>
                            </m:ctrlPr>
                          </m:fPr>
                          <m:num>
                            <m:r>
                              <a:rPr lang="en-US" sz="1800" i="0">
                                <a:latin typeface="Cambria Math"/>
                                <a:ea typeface="Cambria Math"/>
                                <a:cs typeface="Cambria Math"/>
                              </a:rPr>
                              <m:t>1</m:t>
                            </m:r>
                          </m:num>
                          <m:den>
                            <m:r>
                              <a:rPr lang="en-US" sz="1800" i="1">
                                <a:latin typeface="Cambria Math"/>
                                <a:ea typeface="Cambria Math"/>
                                <a:cs typeface="Cambria Math"/>
                              </a:rPr>
                              <m:t>𝑛</m:t>
                            </m:r>
                          </m:den>
                        </m:f>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𝑖</m:t>
                            </m:r>
                            <m:r>
                              <a:rPr lang="en-US" sz="1800" i="0">
                                <a:latin typeface="Cambria Math"/>
                                <a:ea typeface="Cambria Math"/>
                                <a:cs typeface="Cambria Math"/>
                              </a:rPr>
                              <m:t>=1</m:t>
                            </m:r>
                          </m:sub>
                          <m:sup>
                            <m:r>
                              <a:rPr lang="en-US" sz="1800" i="1">
                                <a:latin typeface="Cambria Math"/>
                                <a:ea typeface="Cambria Math"/>
                                <a:cs typeface="Cambria Math"/>
                              </a:rPr>
                              <m:t>𝑛</m:t>
                            </m:r>
                          </m:sup>
                          <m:e>
                            <m:sSup>
                              <m:sSupPr>
                                <m:ctrlPr>
                                  <a:rPr lang="en-US" sz="1800" i="1">
                                    <a:latin typeface="Cambria Math" panose="02040503050406030204" pitchFamily="18" charset="0"/>
                                    <a:ea typeface="Cambria Math"/>
                                    <a:cs typeface="Cambria Math"/>
                                  </a:rPr>
                                </m:ctrlPr>
                              </m:sSupPr>
                              <m:e>
                                <m:d>
                                  <m:dPr>
                                    <m:ctrlPr>
                                      <a:rPr lang="en-US" sz="1800" i="1">
                                        <a:latin typeface="Cambria Math" panose="02040503050406030204" pitchFamily="18" charset="0"/>
                                        <a:ea typeface="Cambria Math"/>
                                        <a:cs typeface="Cambria Math"/>
                                      </a:rPr>
                                    </m:ctrlPr>
                                  </m:dPr>
                                  <m:e>
                                    <m:sSub>
                                      <m:sSubPr>
                                        <m:ctrlPr>
                                          <a:rPr lang="en-US" sz="1800" i="1">
                                            <a:latin typeface="Cambria Math" panose="02040503050406030204" pitchFamily="18" charset="0"/>
                                            <a:ea typeface="Cambria Math"/>
                                            <a:cs typeface="Cambria Math"/>
                                          </a:rPr>
                                        </m:ctrlPr>
                                      </m:sSubPr>
                                      <m:e>
                                        <m:acc>
                                          <m:accPr>
                                            <m:chr m:val="̂"/>
                                            <m:ctrlPr>
                                              <a:rPr lang="en-US" sz="1800" i="1">
                                                <a:latin typeface="Cambria Math"/>
                                                <a:ea typeface="Cambria Math"/>
                                                <a:cs typeface="Cambria Math"/>
                                              </a:rPr>
                                            </m:ctrlPr>
                                          </m:accPr>
                                          <m:e>
                                            <m:r>
                                              <a:rPr lang="en-US" sz="1800" i="1">
                                                <a:latin typeface="Cambria Math"/>
                                                <a:ea typeface="Cambria Math"/>
                                                <a:cs typeface="Cambria Math"/>
                                              </a:rPr>
                                              <m:t>𝑦</m:t>
                                            </m:r>
                                          </m:e>
                                        </m:acc>
                                      </m:e>
                                      <m:sub>
                                        <m:r>
                                          <a:rPr lang="en-US" sz="1800" i="1">
                                            <a:latin typeface="Cambria Math"/>
                                            <a:ea typeface="Cambria Math"/>
                                            <a:cs typeface="Cambria Math"/>
                                          </a:rPr>
                                          <m:t>𝑖</m:t>
                                        </m:r>
                                      </m:sub>
                                    </m:sSub>
                                    <m:r>
                                      <a:rPr lang="en-US" sz="1800" i="0">
                                        <a:latin typeface="Cambria Math"/>
                                        <a:ea typeface="Cambria Math"/>
                                        <a:cs typeface="Cambria Math"/>
                                      </a:rPr>
                                      <m:t>−</m:t>
                                    </m:r>
                                    <m:sSub>
                                      <m:sSubPr>
                                        <m:ctrlPr>
                                          <a:rPr lang="en-US" sz="1800" i="1">
                                            <a:latin typeface="Cambria Math"/>
                                            <a:ea typeface="Cambria Math"/>
                                            <a:cs typeface="Cambria Math"/>
                                          </a:rPr>
                                        </m:ctrlPr>
                                      </m:sSubPr>
                                      <m:e>
                                        <m:r>
                                          <a:rPr lang="en-US" sz="1800" i="1">
                                            <a:latin typeface="Cambria Math"/>
                                            <a:ea typeface="Cambria Math"/>
                                            <a:cs typeface="Cambria Math"/>
                                          </a:rPr>
                                          <m:t>𝑦</m:t>
                                        </m:r>
                                      </m:e>
                                      <m:sub>
                                        <m:r>
                                          <a:rPr lang="en-US" sz="1800" i="1">
                                            <a:latin typeface="Cambria Math"/>
                                            <a:ea typeface="Cambria Math"/>
                                            <a:cs typeface="Cambria Math"/>
                                          </a:rPr>
                                          <m:t>𝑖</m:t>
                                        </m:r>
                                      </m:sub>
                                    </m:sSub>
                                  </m:e>
                                </m:d>
                              </m:e>
                              <m:sup>
                                <m:r>
                                  <a:rPr lang="en-US" sz="1800" i="0">
                                    <a:latin typeface="Cambria Math"/>
                                    <a:ea typeface="Cambria Math"/>
                                    <a:cs typeface="Cambria Math"/>
                                  </a:rPr>
                                  <m:t>2</m:t>
                                </m:r>
                              </m:sup>
                            </m:sSup>
                          </m:e>
                        </m:nary>
                      </m:e>
                    </m:rad>
                  </m:oMath>
                </a14:m>
                <a:endParaRPr sz="1800"/>
              </a:p>
              <a:p>
                <a:pPr lvl="0">
                  <a:buNone/>
                </a:pPr>
                <a:r>
                  <a:rPr sz="1800" b="1"/>
                  <a:t>Question answered:</a:t>
                </a:r>
                <a:r>
                  <a:rPr sz="1800"/>
                  <a:t> How large are the prediction errors on the measurement scale?</a:t>
                </a:r>
              </a:p>
              <a:p>
                <a:pPr lvl="0">
                  <a:buNone/>
                </a:pPr>
                <a:r>
                  <a:rPr sz="1800" b="1"/>
                  <a:t>Important:</a:t>
                </a:r>
                <a:r>
                  <a:rPr sz="1800"/>
                  <a:t> A model can have a high correlation but a large RMSE when the predicted pattern is correct but its scale or offset is incorrect.</a:t>
                </a:r>
              </a:p>
            </p:txBody>
          </p:sp>
        </mc:Choice>
        <mc:Fallback xmlns="">
          <p:sp>
            <p:nvSpPr>
              <p:cNvPr id="4" name="Text Placeholder 3">
                <a:extLst>
                  <a:ext uri="{FF2B5EF4-FFF2-40B4-BE49-F238E27FC236}">
                    <a16:creationId xmlns:a16="http://schemas.microsoft.com/office/drawing/2014/main" id="{130C52C7-4F6F-40A5-5DBD-FD4090E2DC58}"/>
                  </a:ext>
                </a:extLst>
              </p:cNvPr>
              <p:cNvSpPr>
                <a:spLocks noGrp="1" noRot="1" noChangeAspect="1" noMove="1" noResize="1" noEditPoints="1" noAdjustHandles="1" noChangeArrowheads="1" noChangeShapeType="1" noTextEdit="1"/>
              </p:cNvSpPr>
              <p:nvPr>
                <p:ph type="body" idx="10"/>
              </p:nvPr>
            </p:nvSpPr>
            <p:spPr>
              <a:xfrm>
                <a:off x="991699" y="1655550"/>
                <a:ext cx="10758375" cy="3807265"/>
              </a:xfrm>
              <a:blipFill>
                <a:blip r:embed="rId3"/>
                <a:stretch>
                  <a:fillRect l="-1415"/>
                </a:stretch>
              </a:blipFill>
            </p:spPr>
            <p:txBody>
              <a:bodyPr/>
              <a:lstStyle/>
              <a:p>
                <a:r>
                  <a:rPr lang="en-US">
                    <a:noFill/>
                  </a:rPr>
                  <a:t> </a:t>
                </a:r>
              </a:p>
            </p:txBody>
          </p:sp>
        </mc:Fallback>
      </mc:AlternateContent>
    </p:spTree>
    <p:extLst>
      <p:ext uri="{BB962C8B-B14F-4D97-AF65-F5344CB8AC3E}">
        <p14:creationId xmlns:p14="http://schemas.microsoft.com/office/powerpoint/2010/main" val="3785343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DCC043-EAA3-1C1E-615F-EF4D768D5296}"/>
              </a:ext>
            </a:extLst>
          </p:cNvPr>
          <p:cNvSpPr>
            <a:spLocks noGrp="1"/>
          </p:cNvSpPr>
          <p:nvPr>
            <p:ph type="body" idx="15"/>
          </p:nvPr>
        </p:nvSpPr>
        <p:spPr/>
        <p:txBody>
          <a:bodyPr>
            <a:normAutofit fontScale="92358" lnSpcReduction="20000"/>
          </a:bodyPr>
          <a:lstStyle/>
          <a:p>
            <a:r>
              <a:rPr sz="3000"/>
              <a:t>Anatomical</a:t>
            </a:r>
            <a:r>
              <a:rPr sz="2800"/>
              <a:t> recovery requires chance-aware and class-aware </a:t>
            </a:r>
            <a:r>
              <a:rPr sz="3000"/>
              <a:t>metrics</a:t>
            </a:r>
          </a:p>
        </p:txBody>
      </p:sp>
      <p:sp>
        <p:nvSpPr>
          <p:cNvPr id="3" name="Text Placeholder 2">
            <a:extLst>
              <a:ext uri="{FF2B5EF4-FFF2-40B4-BE49-F238E27FC236}">
                <a16:creationId xmlns:a16="http://schemas.microsoft.com/office/drawing/2014/main" id="{DCD607CA-7281-8581-6BD7-4E786461BE6C}"/>
              </a:ext>
            </a:extLst>
          </p:cNvPr>
          <p:cNvSpPr>
            <a:spLocks noGrp="1"/>
          </p:cNvSpPr>
          <p:nvPr>
            <p:ph type="body" idx="14"/>
          </p:nvPr>
        </p:nvSpPr>
        <p:spPr/>
        <p:txBody>
          <a:bodyPr/>
          <a:lstStyle/>
          <a:p>
            <a:r>
              <a:t>Zeyuan Meng, MS — Intelligent Systems Program </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30C52C7-4F6F-40A5-5DBD-FD4090E2DC58}"/>
                  </a:ext>
                </a:extLst>
              </p:cNvPr>
              <p:cNvSpPr>
                <a:spLocks noGrp="1"/>
              </p:cNvSpPr>
              <p:nvPr>
                <p:ph type="body" idx="10"/>
              </p:nvPr>
            </p:nvSpPr>
            <p:spPr>
              <a:xfrm>
                <a:off x="991699" y="1319754"/>
                <a:ext cx="10758375" cy="4666268"/>
              </a:xfrm>
            </p:spPr>
            <p:txBody>
              <a:bodyPr anchor="ctr">
                <a:normAutofit fontScale="92500"/>
              </a:bodyPr>
              <a:lstStyle/>
              <a:p>
                <a:pPr lvl="0">
                  <a:buNone/>
                </a:pPr>
                <a:r>
                  <a:rPr sz="1800" b="1"/>
                  <a:t>Precision: </a:t>
                </a:r>
                <a14:m>
                  <m:oMath xmlns:m="http://schemas.openxmlformats.org/officeDocument/2006/math">
                    <m:func>
                      <m:funcPr>
                        <m:ctrlPr>
                          <a:rPr lang="en-US" sz="1800" i="0">
                            <a:latin typeface="Cambria Math"/>
                            <a:ea typeface="Cambria Math"/>
                            <a:cs typeface="Cambria Math"/>
                          </a:rPr>
                        </m:ctrlPr>
                      </m:funcPr>
                      <m:fName>
                        <m:r>
                          <a:rPr lang="en-US" sz="1800" i="0">
                            <a:latin typeface="Cambria Math"/>
                            <a:ea typeface="Cambria Math"/>
                            <a:cs typeface="Cambria Math"/>
                          </a:rPr>
                          <m:t>𝑃𝑟𝑒𝑐𝑖𝑠𝑖𝑜𝑛</m:t>
                        </m:r>
                      </m:fName>
                      <m:e>
                        <m:r>
                          <a:rPr lang="en-US" sz="1800" i="0">
                            <a:latin typeface="Cambria Math"/>
                            <a:ea typeface="Cambria Math"/>
                            <a:cs typeface="Cambria Math"/>
                          </a:rPr>
                          <m:t>=</m:t>
                        </m:r>
                      </m:e>
                    </m:func>
                    <m:f>
                      <m:fPr>
                        <m:ctrlPr>
                          <a:rPr lang="en-US" sz="1800" i="0">
                            <a:latin typeface="Cambria Math"/>
                            <a:ea typeface="Cambria Math"/>
                            <a:cs typeface="Cambria Math"/>
                          </a:rPr>
                        </m:ctrlPr>
                      </m:fPr>
                      <m:num>
                        <m:r>
                          <a:rPr lang="en-US" sz="1800" i="0">
                            <a:latin typeface="Cambria Math"/>
                            <a:ea typeface="Cambria Math"/>
                            <a:cs typeface="Cambria Math"/>
                          </a:rPr>
                          <m:t>𝑇𝑃</m:t>
                        </m:r>
                      </m:num>
                      <m:den>
                        <m:r>
                          <a:rPr lang="en-US" sz="1800" i="0">
                            <a:latin typeface="Cambria Math"/>
                            <a:ea typeface="Cambria Math"/>
                            <a:cs typeface="Cambria Math"/>
                          </a:rPr>
                          <m:t>𝑇𝑃</m:t>
                        </m:r>
                        <m:r>
                          <a:rPr lang="en-US" sz="1800" i="0">
                            <a:latin typeface="Cambria Math"/>
                            <a:ea typeface="Cambria Math"/>
                            <a:cs typeface="Cambria Math"/>
                          </a:rPr>
                          <m:t>+</m:t>
                        </m:r>
                        <m:r>
                          <a:rPr lang="en-US" sz="1800" i="0">
                            <a:latin typeface="Cambria Math"/>
                            <a:ea typeface="Cambria Math"/>
                            <a:cs typeface="Cambria Math"/>
                          </a:rPr>
                          <m:t>𝐹𝑃</m:t>
                        </m:r>
                      </m:den>
                    </m:f>
                  </m:oMath>
                </a14:m>
                <a:endParaRPr sz="1800"/>
              </a:p>
              <a:p>
                <a:pPr lvl="0">
                  <a:buNone/>
                </a:pPr>
                <a:r>
                  <a:rPr sz="1800" b="1"/>
                  <a:t>Question answered:</a:t>
                </a:r>
                <a:r>
                  <a:rPr sz="1800"/>
                  <a:t> Among the spots assigned to the predicted region, how many truly belong to that region?</a:t>
                </a:r>
              </a:p>
              <a:p>
                <a:pPr lvl="0">
                  <a:buNone/>
                </a:pPr>
                <a:r>
                  <a:rPr sz="1800" b="1"/>
                  <a:t>Recall: </a:t>
                </a:r>
                <a14:m>
                  <m:oMath xmlns:m="http://schemas.openxmlformats.org/officeDocument/2006/math">
                    <m:func>
                      <m:funcPr>
                        <m:ctrlPr>
                          <a:rPr lang="en-US" sz="1800" i="0">
                            <a:latin typeface="Cambria Math"/>
                            <a:ea typeface="Cambria Math"/>
                            <a:cs typeface="Cambria Math"/>
                          </a:rPr>
                        </m:ctrlPr>
                      </m:funcPr>
                      <m:fName>
                        <m:r>
                          <a:rPr lang="en-US" sz="1800" i="0">
                            <a:latin typeface="Cambria Math"/>
                            <a:ea typeface="Cambria Math"/>
                            <a:cs typeface="Cambria Math"/>
                          </a:rPr>
                          <m:t>𝑅𝑒𝑐𝑎𝑙𝑙</m:t>
                        </m:r>
                      </m:fName>
                      <m:e>
                        <m:r>
                          <a:rPr lang="en-US" sz="1800" i="0">
                            <a:latin typeface="Cambria Math"/>
                            <a:ea typeface="Cambria Math"/>
                            <a:cs typeface="Cambria Math"/>
                          </a:rPr>
                          <m:t>=</m:t>
                        </m:r>
                      </m:e>
                    </m:func>
                    <m:f>
                      <m:fPr>
                        <m:ctrlPr>
                          <a:rPr lang="en-US" sz="1800" i="0">
                            <a:latin typeface="Cambria Math"/>
                            <a:ea typeface="Cambria Math"/>
                            <a:cs typeface="Cambria Math"/>
                          </a:rPr>
                        </m:ctrlPr>
                      </m:fPr>
                      <m:num>
                        <m:r>
                          <a:rPr lang="en-US" sz="1800" i="0">
                            <a:latin typeface="Cambria Math"/>
                            <a:ea typeface="Cambria Math"/>
                            <a:cs typeface="Cambria Math"/>
                          </a:rPr>
                          <m:t>𝑇𝑃</m:t>
                        </m:r>
                      </m:num>
                      <m:den>
                        <m:r>
                          <a:rPr lang="en-US" sz="1800" i="0">
                            <a:latin typeface="Cambria Math"/>
                            <a:ea typeface="Cambria Math"/>
                            <a:cs typeface="Cambria Math"/>
                          </a:rPr>
                          <m:t>𝑇𝑃</m:t>
                        </m:r>
                        <m:r>
                          <a:rPr lang="en-US" sz="1800" i="0">
                            <a:latin typeface="Cambria Math"/>
                            <a:ea typeface="Cambria Math"/>
                            <a:cs typeface="Cambria Math"/>
                          </a:rPr>
                          <m:t>+</m:t>
                        </m:r>
                        <m:r>
                          <a:rPr lang="en-US" sz="1800" i="0">
                            <a:latin typeface="Cambria Math"/>
                            <a:ea typeface="Cambria Math"/>
                            <a:cs typeface="Cambria Math"/>
                          </a:rPr>
                          <m:t>𝐹𝑁</m:t>
                        </m:r>
                      </m:den>
                    </m:f>
                  </m:oMath>
                </a14:m>
                <a:endParaRPr sz="1800"/>
              </a:p>
              <a:p>
                <a:pPr lvl="0">
                  <a:buNone/>
                </a:pPr>
                <a:r>
                  <a:rPr sz="1900" b="1"/>
                  <a:t>Question</a:t>
                </a:r>
                <a:r>
                  <a:rPr sz="1800" b="1"/>
                  <a:t> answered:</a:t>
                </a:r>
                <a:r>
                  <a:rPr sz="1800"/>
                  <a:t> Among the spots in the annotated region, how many are recovered by the prediction?</a:t>
                </a:r>
              </a:p>
              <a:p>
                <a:pPr lvl="0">
                  <a:buNone/>
                </a:pPr>
                <a:r>
                  <a:rPr sz="1800" b="1"/>
                  <a:t>F1 score: </a:t>
                </a:r>
                <a14:m>
                  <m:oMath xmlns:m="http://schemas.openxmlformats.org/officeDocument/2006/math">
                    <m:sSub>
                      <m:sSubPr>
                        <m:ctrlPr>
                          <a:rPr lang="en-US" sz="1800" i="1">
                            <a:latin typeface="Cambria Math"/>
                            <a:ea typeface="Cambria Math"/>
                            <a:cs typeface="Cambria Math"/>
                          </a:rPr>
                        </m:ctrlPr>
                      </m:sSubPr>
                      <m:e>
                        <m:r>
                          <a:rPr lang="en-US" sz="1800" i="1">
                            <a:latin typeface="Cambria Math"/>
                            <a:ea typeface="Cambria Math"/>
                            <a:cs typeface="Cambria Math"/>
                          </a:rPr>
                          <m:t>𝐹</m:t>
                        </m:r>
                      </m:e>
                      <m:sub>
                        <m:r>
                          <a:rPr lang="en-US" sz="1800" i="0">
                            <a:latin typeface="Cambria Math"/>
                            <a:ea typeface="Cambria Math"/>
                            <a:cs typeface="Cambria Math"/>
                          </a:rPr>
                          <m:t>1</m:t>
                        </m:r>
                      </m:sub>
                    </m:sSub>
                    <m:r>
                      <a:rPr lang="en-US" sz="1800" i="0">
                        <a:latin typeface="Cambria Math"/>
                        <a:ea typeface="Cambria Math"/>
                        <a:cs typeface="Cambria Math"/>
                      </a:rPr>
                      <m:t>=2 </m:t>
                    </m:r>
                    <m:f>
                      <m:fPr>
                        <m:ctrlPr>
                          <a:rPr lang="en-US" sz="1800" i="1">
                            <a:latin typeface="Cambria Math" panose="02040503050406030204" pitchFamily="18" charset="0"/>
                            <a:ea typeface="Cambria Math"/>
                            <a:cs typeface="Cambria Math"/>
                          </a:rPr>
                        </m:ctrlPr>
                      </m:fPr>
                      <m:num>
                        <m:func>
                          <m:funcPr>
                            <m:ctrlPr>
                              <a:rPr lang="en-US" sz="1800" i="0">
                                <a:latin typeface="Cambria Math"/>
                                <a:ea typeface="Cambria Math"/>
                                <a:cs typeface="Cambria Math"/>
                              </a:rPr>
                            </m:ctrlPr>
                          </m:funcPr>
                          <m:fName>
                            <m:r>
                              <a:rPr lang="en-US" sz="1800" i="0">
                                <a:latin typeface="Cambria Math"/>
                                <a:ea typeface="Cambria Math"/>
                                <a:cs typeface="Cambria Math"/>
                              </a:rPr>
                              <m:t>𝑃𝑟𝑒𝑐𝑖𝑠𝑖𝑜𝑛</m:t>
                            </m:r>
                          </m:fName>
                          <m:e>
                            <m:r>
                              <a:rPr lang="en-US" sz="1800" i="0">
                                <a:latin typeface="Cambria Math"/>
                                <a:ea typeface="Cambria Math"/>
                                <a:cs typeface="Cambria Math"/>
                              </a:rPr>
                              <m:t>⋅</m:t>
                            </m:r>
                          </m:e>
                        </m:func>
                        <m:r>
                          <a:rPr lang="en-US" sz="1800" i="0">
                            <a:latin typeface="Cambria Math"/>
                            <a:ea typeface="Cambria Math"/>
                            <a:cs typeface="Cambria Math"/>
                          </a:rPr>
                          <m:t>𝑅𝑒𝑐𝑎𝑙𝑙</m:t>
                        </m:r>
                      </m:num>
                      <m:den>
                        <m:func>
                          <m:funcPr>
                            <m:ctrlPr>
                              <a:rPr lang="en-US" sz="1800" i="0">
                                <a:latin typeface="Cambria Math"/>
                                <a:ea typeface="Cambria Math"/>
                                <a:cs typeface="Cambria Math"/>
                              </a:rPr>
                            </m:ctrlPr>
                          </m:funcPr>
                          <m:fName>
                            <m:r>
                              <a:rPr lang="en-US" sz="1800" i="0">
                                <a:latin typeface="Cambria Math"/>
                                <a:ea typeface="Cambria Math"/>
                                <a:cs typeface="Cambria Math"/>
                              </a:rPr>
                              <m:t>𝑃𝑟𝑒𝑐𝑖𝑠𝑖𝑜𝑛</m:t>
                            </m:r>
                          </m:fName>
                          <m:e>
                            <m:r>
                              <a:rPr lang="en-US" sz="1800" i="0">
                                <a:latin typeface="Cambria Math"/>
                                <a:ea typeface="Cambria Math"/>
                                <a:cs typeface="Cambria Math"/>
                              </a:rPr>
                              <m:t>+</m:t>
                            </m:r>
                          </m:e>
                        </m:func>
                        <m:r>
                          <a:rPr lang="en-US" sz="1800" i="0">
                            <a:latin typeface="Cambria Math"/>
                            <a:ea typeface="Cambria Math"/>
                            <a:cs typeface="Cambria Math"/>
                          </a:rPr>
                          <m:t>𝑅𝑒𝑐𝑎𝑙𝑙</m:t>
                        </m:r>
                      </m:den>
                    </m:f>
                  </m:oMath>
                </a14:m>
                <a:endParaRPr sz="1800"/>
              </a:p>
              <a:p>
                <a:pPr lvl="0">
                  <a:buNone/>
                </a:pPr>
                <a:r>
                  <a:rPr sz="1800" b="1"/>
                  <a:t>Interpretation:</a:t>
                </a:r>
                <a:r>
                  <a:rPr sz="1800"/>
                  <a:t> The </a:t>
                </a:r>
                <a14:m>
                  <m:oMath xmlns:m="http://schemas.openxmlformats.org/officeDocument/2006/math">
                    <m:sSub>
                      <m:sSubPr>
                        <m:ctrlPr>
                          <a:rPr lang="en-US" sz="1800" i="1">
                            <a:latin typeface="Cambria Math"/>
                            <a:ea typeface="Cambria Math"/>
                            <a:cs typeface="Cambria Math"/>
                          </a:rPr>
                        </m:ctrlPr>
                      </m:sSubPr>
                      <m:e>
                        <m:r>
                          <a:rPr lang="en-US" sz="1800" i="1">
                            <a:latin typeface="Cambria Math"/>
                            <a:ea typeface="Cambria Math"/>
                            <a:cs typeface="Cambria Math"/>
                          </a:rPr>
                          <m:t>𝐹</m:t>
                        </m:r>
                      </m:e>
                      <m:sub>
                        <m:r>
                          <a:rPr lang="en-US" sz="1800" i="0">
                            <a:latin typeface="Cambria Math"/>
                            <a:ea typeface="Cambria Math"/>
                            <a:cs typeface="Cambria Math"/>
                          </a:rPr>
                          <m:t>1</m:t>
                        </m:r>
                      </m:sub>
                    </m:sSub>
                  </m:oMath>
                </a14:m>
                <a:r>
                  <a:rPr sz="1800"/>
                  <a:t> score balances false-positive and false-negative errors through the harmonic mean of precision and recall.</a:t>
                </a:r>
              </a:p>
              <a:p>
                <a:pPr lvl="0">
                  <a:buNone/>
                </a:pPr>
                <a:r>
                  <a:rPr sz="1800" b="1"/>
                  <a:t>Adjusted Rand index: </a:t>
                </a:r>
                <a14:m>
                  <m:oMath xmlns:m="http://schemas.openxmlformats.org/officeDocument/2006/math">
                    <m:func>
                      <m:funcPr>
                        <m:ctrlPr>
                          <a:rPr lang="en-US" sz="1800" i="0">
                            <a:latin typeface="Cambria Math"/>
                            <a:ea typeface="Cambria Math"/>
                            <a:cs typeface="Cambria Math"/>
                          </a:rPr>
                        </m:ctrlPr>
                      </m:funcPr>
                      <m:fName>
                        <m:r>
                          <a:rPr lang="en-US" sz="1800" i="0">
                            <a:latin typeface="Cambria Math"/>
                            <a:ea typeface="Cambria Math"/>
                            <a:cs typeface="Cambria Math"/>
                          </a:rPr>
                          <m:t>𝐴𝑅𝐼</m:t>
                        </m:r>
                      </m:fName>
                      <m:e>
                        <m:r>
                          <a:rPr lang="en-US" sz="1800" i="0">
                            <a:latin typeface="Cambria Math"/>
                            <a:ea typeface="Cambria Math"/>
                            <a:cs typeface="Cambria Math"/>
                          </a:rPr>
                          <m:t>=</m:t>
                        </m:r>
                      </m:e>
                    </m:func>
                    <m:f>
                      <m:fPr>
                        <m:ctrlPr>
                          <a:rPr lang="en-US" sz="1800" i="1">
                            <a:latin typeface="Cambria Math" panose="02040503050406030204" pitchFamily="18" charset="0"/>
                            <a:ea typeface="Cambria Math"/>
                            <a:cs typeface="Cambria Math"/>
                          </a:rPr>
                        </m:ctrlPr>
                      </m:fPr>
                      <m:num>
                        <m:func>
                          <m:funcPr>
                            <m:ctrlPr>
                              <a:rPr lang="en-US" sz="1800" i="0">
                                <a:latin typeface="Cambria Math"/>
                                <a:ea typeface="Cambria Math"/>
                                <a:cs typeface="Cambria Math"/>
                              </a:rPr>
                            </m:ctrlPr>
                          </m:funcPr>
                          <m:fName>
                            <m:r>
                              <a:rPr lang="en-US" sz="1800" i="0">
                                <a:latin typeface="Cambria Math"/>
                                <a:ea typeface="Cambria Math"/>
                                <a:cs typeface="Cambria Math"/>
                              </a:rPr>
                              <m:t>𝑅𝐼</m:t>
                            </m:r>
                          </m:fName>
                          <m:e>
                            <m:r>
                              <a:rPr lang="en-US" sz="1800" i="0">
                                <a:latin typeface="Cambria Math"/>
                                <a:ea typeface="Cambria Math"/>
                                <a:cs typeface="Cambria Math"/>
                              </a:rPr>
                              <m:t>−</m:t>
                            </m:r>
                          </m:e>
                        </m:func>
                        <m:r>
                          <a:rPr lang="en-US" sz="1800" i="0">
                            <a:latin typeface="Cambria Math"/>
                            <a:ea typeface="Cambria Math"/>
                            <a:cs typeface="Cambria Math"/>
                          </a:rPr>
                          <m:t>𝔼</m:t>
                        </m:r>
                        <m:d>
                          <m:dPr>
                            <m:begChr m:val="["/>
                            <m:endChr m:val="]"/>
                            <m:ctrlPr>
                              <a:rPr lang="en-US" sz="1800" i="0">
                                <a:latin typeface="Cambria Math"/>
                                <a:ea typeface="Cambria Math"/>
                                <a:cs typeface="Cambria Math"/>
                              </a:rPr>
                            </m:ctrlPr>
                          </m:dPr>
                          <m:e>
                            <m:r>
                              <a:rPr lang="en-US" sz="1800" i="0">
                                <a:latin typeface="Cambria Math"/>
                                <a:ea typeface="Cambria Math"/>
                                <a:cs typeface="Cambria Math"/>
                              </a:rPr>
                              <m:t>𝑅𝐼</m:t>
                            </m:r>
                          </m:e>
                        </m:d>
                      </m:num>
                      <m:den>
                        <m:func>
                          <m:funcPr>
                            <m:ctrlPr>
                              <a:rPr lang="en-US" sz="1800" i="0">
                                <a:latin typeface="Cambria Math"/>
                                <a:ea typeface="Cambria Math"/>
                                <a:cs typeface="Cambria Math"/>
                              </a:rPr>
                            </m:ctrlPr>
                          </m:funcPr>
                          <m:fName>
                            <m:r>
                              <a:rPr lang="en-US" sz="1800" i="0">
                                <a:latin typeface="Cambria Math"/>
                                <a:ea typeface="Cambria Math"/>
                                <a:cs typeface="Cambria Math"/>
                              </a:rPr>
                              <m:t>𝑚𝑎𝑥</m:t>
                            </m:r>
                          </m:fName>
                          <m:e>
                            <m:d>
                              <m:dPr>
                                <m:ctrlPr>
                                  <a:rPr lang="en-US" sz="1800" i="1">
                                    <a:latin typeface="Cambria Math" panose="02040503050406030204" pitchFamily="18" charset="0"/>
                                    <a:ea typeface="Cambria Math"/>
                                    <a:cs typeface="Cambria Math"/>
                                  </a:rPr>
                                </m:ctrlPr>
                              </m:dPr>
                              <m:e>
                                <m:func>
                                  <m:funcPr>
                                    <m:ctrlPr>
                                      <a:rPr lang="en-US" sz="1800" i="0">
                                        <a:latin typeface="Cambria Math"/>
                                        <a:ea typeface="Cambria Math"/>
                                        <a:cs typeface="Cambria Math"/>
                                      </a:rPr>
                                    </m:ctrlPr>
                                  </m:funcPr>
                                  <m:fName>
                                    <m:r>
                                      <a:rPr lang="en-US" sz="1800" i="0">
                                        <a:latin typeface="Cambria Math"/>
                                        <a:ea typeface="Cambria Math"/>
                                        <a:cs typeface="Cambria Math"/>
                                      </a:rPr>
                                      <m:t>𝑅𝐼</m:t>
                                    </m:r>
                                  </m:fName>
                                  <m:e>
                                    <m:r>
                                      <a:rPr lang="en-US" sz="1800" i="0">
                                        <a:latin typeface="Cambria Math"/>
                                        <a:ea typeface="Cambria Math"/>
                                        <a:cs typeface="Cambria Math"/>
                                      </a:rPr>
                                      <m:t>)</m:t>
                                    </m:r>
                                  </m:e>
                                </m:func>
                                <m:r>
                                  <a:rPr lang="en-US" sz="1800" i="0">
                                    <a:latin typeface="Cambria Math"/>
                                    <a:ea typeface="Cambria Math"/>
                                    <a:cs typeface="Cambria Math"/>
                                  </a:rPr>
                                  <m:t>−</m:t>
                                </m:r>
                                <m:r>
                                  <a:rPr lang="en-US" sz="1800" i="0">
                                    <a:latin typeface="Cambria Math"/>
                                    <a:ea typeface="Cambria Math"/>
                                    <a:cs typeface="Cambria Math"/>
                                  </a:rPr>
                                  <m:t>𝔼</m:t>
                                </m:r>
                                <m:d>
                                  <m:dPr>
                                    <m:begChr m:val="["/>
                                    <m:endChr m:val="]"/>
                                    <m:ctrlPr>
                                      <a:rPr lang="en-US" sz="1800" i="0">
                                        <a:latin typeface="Cambria Math"/>
                                        <a:ea typeface="Cambria Math"/>
                                        <a:cs typeface="Cambria Math"/>
                                      </a:rPr>
                                    </m:ctrlPr>
                                  </m:dPr>
                                  <m:e>
                                    <m:r>
                                      <a:rPr lang="en-US" sz="1800" i="0">
                                        <a:latin typeface="Cambria Math"/>
                                        <a:ea typeface="Cambria Math"/>
                                        <a:cs typeface="Cambria Math"/>
                                      </a:rPr>
                                      <m:t>𝑅𝐼</m:t>
                                    </m:r>
                                  </m:e>
                                </m:d>
                              </m:e>
                            </m:d>
                          </m:e>
                        </m:func>
                      </m:den>
                    </m:f>
                  </m:oMath>
                </a14:m>
                <a:endParaRPr sz="1800"/>
              </a:p>
              <a:p>
                <a:pPr lvl="0">
                  <a:buNone/>
                </a:pPr>
                <a:r>
                  <a:rPr sz="1800" b="1"/>
                  <a:t>Interpretation:</a:t>
                </a:r>
                <a:r>
                  <a:rPr sz="1800"/>
                  <a:t> ARI compares two partitions—such as predicted and annotated tissue regions—while correcting for agreement expected by chance.</a:t>
                </a:r>
              </a:p>
              <a:p>
                <a:pPr lvl="0">
                  <a:buNone/>
                </a:pPr>
                <a:r>
                  <a:rPr sz="1800" b="1"/>
                  <a:t>Independent biological validation:</a:t>
                </a:r>
                <a:r>
                  <a:rPr sz="1800"/>
                  <a:t> Histology or immunofluorescence provides evidence that is independent of the model’s predictions and can test whether the predicted spatial regions are biologically plausible.</a:t>
                </a:r>
              </a:p>
            </p:txBody>
          </p:sp>
        </mc:Choice>
        <mc:Fallback xmlns="">
          <p:sp>
            <p:nvSpPr>
              <p:cNvPr id="4" name="Text Placeholder 3">
                <a:extLst>
                  <a:ext uri="{FF2B5EF4-FFF2-40B4-BE49-F238E27FC236}">
                    <a16:creationId xmlns:a16="http://schemas.microsoft.com/office/drawing/2014/main" id="{130C52C7-4F6F-40A5-5DBD-FD4090E2DC58}"/>
                  </a:ext>
                </a:extLst>
              </p:cNvPr>
              <p:cNvSpPr>
                <a:spLocks noGrp="1" noRot="1" noChangeAspect="1" noMove="1" noResize="1" noEditPoints="1" noAdjustHandles="1" noChangeArrowheads="1" noChangeShapeType="1" noTextEdit="1"/>
              </p:cNvSpPr>
              <p:nvPr>
                <p:ph type="body" idx="10"/>
              </p:nvPr>
            </p:nvSpPr>
            <p:spPr>
              <a:xfrm>
                <a:off x="991699" y="1319754"/>
                <a:ext cx="10758375" cy="4666268"/>
              </a:xfrm>
              <a:blipFill>
                <a:blip r:embed="rId3"/>
                <a:stretch>
                  <a:fillRect l="-1415" r="-1179"/>
                </a:stretch>
              </a:blipFill>
            </p:spPr>
            <p:txBody>
              <a:bodyPr/>
              <a:lstStyle/>
              <a:p>
                <a:r>
                  <a:rPr lang="en-US">
                    <a:noFill/>
                  </a:rPr>
                  <a:t> </a:t>
                </a:r>
              </a:p>
            </p:txBody>
          </p:sp>
        </mc:Fallback>
      </mc:AlternateContent>
    </p:spTree>
    <p:extLst>
      <p:ext uri="{BB962C8B-B14F-4D97-AF65-F5344CB8AC3E}">
        <p14:creationId xmlns:p14="http://schemas.microsoft.com/office/powerpoint/2010/main" val="3785343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E9BD3E-B78F-5140-6D6E-3889A950C704}"/>
              </a:ext>
            </a:extLst>
          </p:cNvPr>
          <p:cNvSpPr>
            <a:spLocks noGrp="1"/>
          </p:cNvSpPr>
          <p:nvPr>
            <p:ph type="body" idx="15"/>
          </p:nvPr>
        </p:nvSpPr>
        <p:spPr/>
        <p:txBody>
          <a:bodyPr>
            <a:normAutofit fontScale="92500"/>
          </a:bodyPr>
          <a:lstStyle/>
          <a:p>
            <a:r>
              <a:rPr lang="en-US" sz="2800"/>
              <a:t>Moran’s I measures spatial coherence—not prediction accuracy</a:t>
            </a:r>
            <a:endParaRPr sz="2800" dirty="0"/>
          </a:p>
        </p:txBody>
      </p:sp>
      <p:sp>
        <p:nvSpPr>
          <p:cNvPr id="3" name="Text Placeholder 2">
            <a:extLst>
              <a:ext uri="{FF2B5EF4-FFF2-40B4-BE49-F238E27FC236}">
                <a16:creationId xmlns:a16="http://schemas.microsoft.com/office/drawing/2014/main" id="{D5BD75E1-1F49-0968-795E-DA2C2E8CF09F}"/>
              </a:ext>
            </a:extLst>
          </p:cNvPr>
          <p:cNvSpPr>
            <a:spLocks noGrp="1"/>
          </p:cNvSpPr>
          <p:nvPr>
            <p:ph type="body" idx="14"/>
          </p:nvPr>
        </p:nvSpPr>
        <p:spPr/>
        <p:txBody>
          <a:bodyPr/>
          <a:lstStyle/>
          <a:p>
            <a:r>
              <a:t>Zeyuan Meng, MS — Intelligent Systems Program </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8311BF9-7ADE-C059-C0C7-E7BE25630F9B}"/>
                  </a:ext>
                </a:extLst>
              </p:cNvPr>
              <p:cNvSpPr>
                <a:spLocks noGrp="1"/>
              </p:cNvSpPr>
              <p:nvPr>
                <p:ph type="body" idx="10"/>
              </p:nvPr>
            </p:nvSpPr>
            <p:spPr>
              <a:xfrm>
                <a:off x="991699" y="1282045"/>
                <a:ext cx="10758375" cy="4883085"/>
              </a:xfrm>
            </p:spPr>
            <p:txBody>
              <a:bodyPr anchor="ctr">
                <a:normAutofit/>
              </a:bodyPr>
              <a:lstStyle/>
              <a:p>
                <a:pPr lvl="0">
                  <a:buNone/>
                </a:pPr>
                <a:r>
                  <a:rPr sz="1800" b="1"/>
                  <a:t>Centered values and total spatial weight:</a:t>
                </a:r>
                <a:r>
                  <a:rPr sz="1800"/>
                  <a:t> </a:t>
                </a:r>
                <a14:m>
                  <m:oMath xmlns:m="http://schemas.openxmlformats.org/officeDocument/2006/math">
                    <m:sSub>
                      <m:sSubPr>
                        <m:ctrlPr>
                          <a:rPr lang="en-US" sz="1800" i="1">
                            <a:latin typeface="Cambria Math"/>
                            <a:ea typeface="Cambria Math"/>
                            <a:cs typeface="Cambria Math"/>
                          </a:rPr>
                        </m:ctrlPr>
                      </m:sSubPr>
                      <m:e>
                        <m:r>
                          <a:rPr lang="en-US" sz="1800" i="1">
                            <a:latin typeface="Cambria Math"/>
                            <a:ea typeface="Cambria Math"/>
                            <a:cs typeface="Cambria Math"/>
                          </a:rPr>
                          <m:t>𝑧</m:t>
                        </m:r>
                      </m:e>
                      <m:sub>
                        <m:r>
                          <a:rPr lang="en-US" sz="1800" i="1">
                            <a:latin typeface="Cambria Math"/>
                            <a:ea typeface="Cambria Math"/>
                            <a:cs typeface="Cambria Math"/>
                          </a:rPr>
                          <m:t>𝑖</m:t>
                        </m:r>
                      </m:sub>
                    </m:sSub>
                    <m:r>
                      <a:rPr lang="en-US" sz="1800" i="0">
                        <a:latin typeface="Cambria Math"/>
                        <a:ea typeface="Cambria Math"/>
                        <a:cs typeface="Cambria Math"/>
                      </a:rPr>
                      <m:t>=</m:t>
                    </m:r>
                    <m:sSub>
                      <m:sSubPr>
                        <m:ctrlPr>
                          <a:rPr lang="en-US" sz="1800" i="1">
                            <a:latin typeface="Cambria Math"/>
                            <a:ea typeface="Cambria Math"/>
                            <a:cs typeface="Cambria Math"/>
                          </a:rPr>
                        </m:ctrlPr>
                      </m:sSubPr>
                      <m:e>
                        <m:r>
                          <a:rPr lang="en-US" sz="1800" i="1">
                            <a:latin typeface="Cambria Math"/>
                            <a:ea typeface="Cambria Math"/>
                            <a:cs typeface="Cambria Math"/>
                          </a:rPr>
                          <m:t>𝑥</m:t>
                        </m:r>
                      </m:e>
                      <m:sub>
                        <m:r>
                          <a:rPr lang="en-US" sz="1800" i="1">
                            <a:latin typeface="Cambria Math"/>
                            <a:ea typeface="Cambria Math"/>
                            <a:cs typeface="Cambria Math"/>
                          </a:rPr>
                          <m:t>𝑖</m:t>
                        </m:r>
                      </m:sub>
                    </m:sSub>
                    <m:r>
                      <a:rPr lang="en-US" sz="1800" i="0">
                        <a:latin typeface="Cambria Math"/>
                        <a:ea typeface="Cambria Math"/>
                        <a:cs typeface="Cambria Math"/>
                      </a:rPr>
                      <m:t>−</m:t>
                    </m:r>
                    <m:acc>
                      <m:accPr>
                        <m:chr m:val="̅"/>
                        <m:ctrlPr>
                          <a:rPr lang="en-US" sz="1800" i="1">
                            <a:latin typeface="Cambria Math"/>
                            <a:ea typeface="Cambria Math"/>
                            <a:cs typeface="Cambria Math"/>
                          </a:rPr>
                        </m:ctrlPr>
                      </m:accPr>
                      <m:e>
                        <m:r>
                          <a:rPr lang="en-US" sz="1800" i="1">
                            <a:latin typeface="Cambria Math"/>
                            <a:ea typeface="Cambria Math"/>
                            <a:cs typeface="Cambria Math"/>
                          </a:rPr>
                          <m:t>𝑥</m:t>
                        </m:r>
                      </m:e>
                    </m:acc>
                    <m:r>
                      <a:rPr lang="en-US" sz="1800" i="0">
                        <a:latin typeface="Cambria Math"/>
                        <a:ea typeface="Cambria Math"/>
                        <a:cs typeface="Cambria Math"/>
                      </a:rPr>
                      <m:t>,  </m:t>
                    </m:r>
                    <m:sSub>
                      <m:sSubPr>
                        <m:ctrlPr>
                          <a:rPr lang="en-US" sz="1800" i="1">
                            <a:latin typeface="Cambria Math"/>
                            <a:ea typeface="Cambria Math"/>
                            <a:cs typeface="Cambria Math"/>
                          </a:rPr>
                        </m:ctrlPr>
                      </m:sSubPr>
                      <m:e>
                        <m:r>
                          <a:rPr lang="en-US" sz="1800" i="1">
                            <a:latin typeface="Cambria Math"/>
                            <a:ea typeface="Cambria Math"/>
                            <a:cs typeface="Cambria Math"/>
                          </a:rPr>
                          <m:t>𝑆</m:t>
                        </m:r>
                      </m:e>
                      <m:sub>
                        <m:r>
                          <a:rPr lang="en-US" sz="1800" i="0">
                            <a:latin typeface="Cambria Math"/>
                            <a:ea typeface="Cambria Math"/>
                            <a:cs typeface="Cambria Math"/>
                          </a:rPr>
                          <m:t>0</m:t>
                        </m:r>
                      </m:sub>
                    </m:sSub>
                    <m:r>
                      <a:rPr lang="en-US" sz="1800" i="0">
                        <a:latin typeface="Cambria Math"/>
                        <a:ea typeface="Cambria Math"/>
                        <a:cs typeface="Cambria Math"/>
                      </a:rPr>
                      <m:t>=</m:t>
                    </m:r>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𝑖</m:t>
                        </m:r>
                        <m:r>
                          <a:rPr lang="en-US" sz="1800" i="0">
                            <a:latin typeface="Cambria Math"/>
                            <a:ea typeface="Cambria Math"/>
                            <a:cs typeface="Cambria Math"/>
                          </a:rPr>
                          <m:t>=1</m:t>
                        </m:r>
                      </m:sub>
                      <m:sup>
                        <m:r>
                          <a:rPr lang="en-US" sz="1800" i="1">
                            <a:latin typeface="Cambria Math"/>
                            <a:ea typeface="Cambria Math"/>
                            <a:cs typeface="Cambria Math"/>
                          </a:rPr>
                          <m:t>𝑁</m:t>
                        </m:r>
                      </m:sup>
                      <m:e>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𝑗</m:t>
                            </m:r>
                            <m:r>
                              <a:rPr lang="en-US" sz="1800" i="0">
                                <a:latin typeface="Cambria Math"/>
                                <a:ea typeface="Cambria Math"/>
                                <a:cs typeface="Cambria Math"/>
                              </a:rPr>
                              <m:t>=1</m:t>
                            </m:r>
                          </m:sub>
                          <m:sup>
                            <m:r>
                              <a:rPr lang="en-US" sz="1800" i="1">
                                <a:latin typeface="Cambria Math"/>
                                <a:ea typeface="Cambria Math"/>
                                <a:cs typeface="Cambria Math"/>
                              </a:rPr>
                              <m:t>𝑁</m:t>
                            </m:r>
                          </m:sup>
                          <m:e>
                            <m:sSub>
                              <m:sSubPr>
                                <m:ctrlPr>
                                  <a:rPr lang="en-US" sz="1800" i="1">
                                    <a:latin typeface="Cambria Math"/>
                                    <a:ea typeface="Cambria Math"/>
                                    <a:cs typeface="Cambria Math"/>
                                  </a:rPr>
                                </m:ctrlPr>
                              </m:sSubPr>
                              <m:e>
                                <m:r>
                                  <a:rPr lang="en-US" sz="1800" i="1">
                                    <a:latin typeface="Cambria Math"/>
                                    <a:ea typeface="Cambria Math"/>
                                    <a:cs typeface="Cambria Math"/>
                                  </a:rPr>
                                  <m:t>𝑤</m:t>
                                </m:r>
                              </m:e>
                              <m:sub>
                                <m:r>
                                  <a:rPr lang="en-US" sz="1800" i="1">
                                    <a:latin typeface="Cambria Math"/>
                                    <a:ea typeface="Cambria Math"/>
                                    <a:cs typeface="Cambria Math"/>
                                  </a:rPr>
                                  <m:t>𝑖𝑗</m:t>
                                </m:r>
                              </m:sub>
                            </m:sSub>
                          </m:e>
                        </m:nary>
                      </m:e>
                    </m:nary>
                  </m:oMath>
                </a14:m>
                <a:endParaRPr sz="1800"/>
              </a:p>
              <a:p>
                <a:pPr lvl="0">
                  <a:buNone/>
                </a:pPr>
                <a:r>
                  <a:rPr sz="1800" b="1"/>
                  <a:t>Moran’s </a:t>
                </a:r>
                <a14:m>
                  <m:oMath xmlns:m="http://schemas.openxmlformats.org/officeDocument/2006/math">
                    <m:r>
                      <a:rPr lang="en-US" sz="1800" b="1" i="1">
                        <a:latin typeface="Cambria Math"/>
                        <a:ea typeface="Cambria Math"/>
                        <a:cs typeface="Cambria Math"/>
                      </a:rPr>
                      <m:t>𝐼</m:t>
                    </m:r>
                    <m:r>
                      <a:rPr lang="en-US" sz="1800" b="1" i="1">
                        <a:latin typeface="Cambria Math"/>
                        <a:ea typeface="Cambria Math"/>
                        <a:cs typeface="Cambria Math"/>
                      </a:rPr>
                      <m:t>:</m:t>
                    </m:r>
                    <m:r>
                      <a:rPr lang="en-US" sz="1800" i="1">
                        <a:latin typeface="Cambria Math"/>
                        <a:ea typeface="Cambria Math"/>
                        <a:cs typeface="Cambria Math"/>
                      </a:rPr>
                      <m:t>𝐼</m:t>
                    </m:r>
                    <m:r>
                      <a:rPr lang="en-US" sz="1800" i="0">
                        <a:latin typeface="Cambria Math"/>
                        <a:ea typeface="Cambria Math"/>
                        <a:cs typeface="Cambria Math"/>
                      </a:rPr>
                      <m:t>=</m:t>
                    </m:r>
                    <m:f>
                      <m:fPr>
                        <m:ctrlPr>
                          <a:rPr lang="en-US" sz="1800" i="1">
                            <a:latin typeface="Cambria Math"/>
                            <a:ea typeface="Cambria Math"/>
                            <a:cs typeface="Cambria Math"/>
                          </a:rPr>
                        </m:ctrlPr>
                      </m:fPr>
                      <m:num>
                        <m:r>
                          <a:rPr lang="en-US" sz="1800" i="1">
                            <a:latin typeface="Cambria Math"/>
                            <a:ea typeface="Cambria Math"/>
                            <a:cs typeface="Cambria Math"/>
                          </a:rPr>
                          <m:t>𝑁</m:t>
                        </m:r>
                      </m:num>
                      <m:den>
                        <m:sSub>
                          <m:sSubPr>
                            <m:ctrlPr>
                              <a:rPr lang="en-US" sz="1800" i="1">
                                <a:latin typeface="Cambria Math"/>
                                <a:ea typeface="Cambria Math"/>
                                <a:cs typeface="Cambria Math"/>
                              </a:rPr>
                            </m:ctrlPr>
                          </m:sSubPr>
                          <m:e>
                            <m:r>
                              <a:rPr lang="en-US" sz="1800" i="1">
                                <a:latin typeface="Cambria Math"/>
                                <a:ea typeface="Cambria Math"/>
                                <a:cs typeface="Cambria Math"/>
                              </a:rPr>
                              <m:t>𝑆</m:t>
                            </m:r>
                          </m:e>
                          <m:sub>
                            <m:r>
                              <a:rPr lang="en-US" sz="1800" i="0">
                                <a:latin typeface="Cambria Math"/>
                                <a:ea typeface="Cambria Math"/>
                                <a:cs typeface="Cambria Math"/>
                              </a:rPr>
                              <m:t>0</m:t>
                            </m:r>
                          </m:sub>
                        </m:sSub>
                      </m:den>
                    </m:f>
                    <m:r>
                      <a:rPr lang="en-US" sz="1800" i="0">
                        <a:latin typeface="Cambria Math"/>
                        <a:ea typeface="Cambria Math"/>
                        <a:cs typeface="Cambria Math"/>
                      </a:rPr>
                      <m:t> </m:t>
                    </m:r>
                    <m:f>
                      <m:fPr>
                        <m:ctrlPr>
                          <a:rPr lang="en-US" sz="1800" i="1">
                            <a:latin typeface="Cambria Math" panose="02040503050406030204" pitchFamily="18" charset="0"/>
                            <a:ea typeface="Cambria Math"/>
                            <a:cs typeface="Cambria Math"/>
                          </a:rPr>
                        </m:ctrlPr>
                      </m:fPr>
                      <m:num>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𝑖</m:t>
                            </m:r>
                            <m:r>
                              <a:rPr lang="en-US" sz="1800" i="0">
                                <a:latin typeface="Cambria Math"/>
                                <a:ea typeface="Cambria Math"/>
                                <a:cs typeface="Cambria Math"/>
                              </a:rPr>
                              <m:t>=1</m:t>
                            </m:r>
                          </m:sub>
                          <m:sup>
                            <m:r>
                              <a:rPr lang="en-US" sz="1800" i="1">
                                <a:latin typeface="Cambria Math"/>
                                <a:ea typeface="Cambria Math"/>
                                <a:cs typeface="Cambria Math"/>
                              </a:rPr>
                              <m:t>𝑁</m:t>
                            </m:r>
                          </m:sup>
                          <m:e>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𝑗</m:t>
                                </m:r>
                                <m:r>
                                  <a:rPr lang="en-US" sz="1800" i="0">
                                    <a:latin typeface="Cambria Math"/>
                                    <a:ea typeface="Cambria Math"/>
                                    <a:cs typeface="Cambria Math"/>
                                  </a:rPr>
                                  <m:t>=1</m:t>
                                </m:r>
                              </m:sub>
                              <m:sup>
                                <m:r>
                                  <a:rPr lang="en-US" sz="1800" i="1">
                                    <a:latin typeface="Cambria Math"/>
                                    <a:ea typeface="Cambria Math"/>
                                    <a:cs typeface="Cambria Math"/>
                                  </a:rPr>
                                  <m:t>𝑁</m:t>
                                </m:r>
                              </m:sup>
                              <m:e>
                                <m:sSub>
                                  <m:sSubPr>
                                    <m:ctrlPr>
                                      <a:rPr lang="en-US" sz="1800" i="1">
                                        <a:latin typeface="Cambria Math"/>
                                        <a:ea typeface="Cambria Math"/>
                                        <a:cs typeface="Cambria Math"/>
                                      </a:rPr>
                                    </m:ctrlPr>
                                  </m:sSubPr>
                                  <m:e>
                                    <m:r>
                                      <a:rPr lang="en-US" sz="1800" i="1">
                                        <a:latin typeface="Cambria Math"/>
                                        <a:ea typeface="Cambria Math"/>
                                        <a:cs typeface="Cambria Math"/>
                                      </a:rPr>
                                      <m:t>𝑤</m:t>
                                    </m:r>
                                  </m:e>
                                  <m:sub>
                                    <m:r>
                                      <a:rPr lang="en-US" sz="1800" i="1">
                                        <a:latin typeface="Cambria Math"/>
                                        <a:ea typeface="Cambria Math"/>
                                        <a:cs typeface="Cambria Math"/>
                                      </a:rPr>
                                      <m:t>𝑖𝑗</m:t>
                                    </m:r>
                                  </m:sub>
                                </m:sSub>
                              </m:e>
                            </m:nary>
                          </m:e>
                        </m:nary>
                        <m:sSub>
                          <m:sSubPr>
                            <m:ctrlPr>
                              <a:rPr lang="en-US" sz="1800" i="1">
                                <a:latin typeface="Cambria Math"/>
                                <a:ea typeface="Cambria Math"/>
                                <a:cs typeface="Cambria Math"/>
                              </a:rPr>
                            </m:ctrlPr>
                          </m:sSubPr>
                          <m:e>
                            <m:r>
                              <a:rPr lang="en-US" sz="1800" i="1">
                                <a:latin typeface="Cambria Math"/>
                                <a:ea typeface="Cambria Math"/>
                                <a:cs typeface="Cambria Math"/>
                              </a:rPr>
                              <m:t>𝑧</m:t>
                            </m:r>
                          </m:e>
                          <m:sub>
                            <m:r>
                              <a:rPr lang="en-US" sz="1800" i="1">
                                <a:latin typeface="Cambria Math"/>
                                <a:ea typeface="Cambria Math"/>
                                <a:cs typeface="Cambria Math"/>
                              </a:rPr>
                              <m:t>𝑖</m:t>
                            </m:r>
                          </m:sub>
                        </m:sSub>
                        <m:sSub>
                          <m:sSubPr>
                            <m:ctrlPr>
                              <a:rPr lang="en-US" sz="1800" i="1">
                                <a:latin typeface="Cambria Math"/>
                                <a:ea typeface="Cambria Math"/>
                                <a:cs typeface="Cambria Math"/>
                              </a:rPr>
                            </m:ctrlPr>
                          </m:sSubPr>
                          <m:e>
                            <m:r>
                              <a:rPr lang="en-US" sz="1800" i="1">
                                <a:latin typeface="Cambria Math"/>
                                <a:ea typeface="Cambria Math"/>
                                <a:cs typeface="Cambria Math"/>
                              </a:rPr>
                              <m:t>𝑧</m:t>
                            </m:r>
                          </m:e>
                          <m:sub>
                            <m:r>
                              <a:rPr lang="en-US" sz="1800" i="1">
                                <a:latin typeface="Cambria Math"/>
                                <a:ea typeface="Cambria Math"/>
                                <a:cs typeface="Cambria Math"/>
                              </a:rPr>
                              <m:t>𝑗</m:t>
                            </m:r>
                          </m:sub>
                        </m:sSub>
                      </m:num>
                      <m:den>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𝑖</m:t>
                            </m:r>
                            <m:r>
                              <a:rPr lang="en-US" sz="1800" i="0">
                                <a:latin typeface="Cambria Math"/>
                                <a:ea typeface="Cambria Math"/>
                                <a:cs typeface="Cambria Math"/>
                              </a:rPr>
                              <m:t>=1</m:t>
                            </m:r>
                          </m:sub>
                          <m:sup>
                            <m:r>
                              <a:rPr lang="en-US" sz="1800" i="1">
                                <a:latin typeface="Cambria Math"/>
                                <a:ea typeface="Cambria Math"/>
                                <a:cs typeface="Cambria Math"/>
                              </a:rPr>
                              <m:t>𝑁</m:t>
                            </m:r>
                          </m:sup>
                          <m:e>
                            <m:sSubSup>
                              <m:sSubSupPr>
                                <m:ctrlPr>
                                  <a:rPr lang="en-US" sz="1800" i="1">
                                    <a:latin typeface="Cambria Math"/>
                                    <a:ea typeface="Cambria Math"/>
                                    <a:cs typeface="Cambria Math"/>
                                  </a:rPr>
                                </m:ctrlPr>
                              </m:sSubSupPr>
                              <m:e>
                                <m:r>
                                  <a:rPr lang="en-US" sz="1800" i="1">
                                    <a:latin typeface="Cambria Math"/>
                                    <a:ea typeface="Cambria Math"/>
                                    <a:cs typeface="Cambria Math"/>
                                  </a:rPr>
                                  <m:t>𝑧</m:t>
                                </m:r>
                              </m:e>
                              <m:sub>
                                <m:r>
                                  <a:rPr lang="en-US" sz="1800" i="1">
                                    <a:latin typeface="Cambria Math"/>
                                    <a:ea typeface="Cambria Math"/>
                                    <a:cs typeface="Cambria Math"/>
                                  </a:rPr>
                                  <m:t>𝑖</m:t>
                                </m:r>
                              </m:sub>
                              <m:sup>
                                <m:r>
                                  <a:rPr lang="en-US" sz="1800" i="0">
                                    <a:latin typeface="Cambria Math"/>
                                    <a:ea typeface="Cambria Math"/>
                                    <a:cs typeface="Cambria Math"/>
                                  </a:rPr>
                                  <m:t>2</m:t>
                                </m:r>
                              </m:sup>
                            </m:sSubSup>
                          </m:e>
                        </m:nary>
                      </m:den>
                    </m:f>
                  </m:oMath>
                </a14:m>
                <a:endParaRPr sz="1800"/>
              </a:p>
              <a:p>
                <a:r>
                  <a:rPr sz="1800" b="1"/>
                  <a:t>Interpretation:</a:t>
                </a:r>
              </a:p>
              <a:p>
                <a:pPr>
                  <a:buNone/>
                </a:pPr>
                <a14:m>
                  <m:oMathPara xmlns:m="http://schemas.openxmlformats.org/officeDocument/2006/math">
                    <m:oMath>
                      <m:r>
                        <a:rPr lang="en-US" sz="1800" i="1">
                          <a:latin typeface="Cambria Math"/>
                          <a:ea typeface="Cambria Math"/>
                          <a:cs typeface="Cambria Math"/>
                        </a:rPr>
                        <m:t>𝐼</m:t>
                      </m:r>
                      <m:r>
                        <a:rPr lang="en-US" sz="1800" i="0">
                          <a:latin typeface="Cambria Math"/>
                          <a:ea typeface="Cambria Math"/>
                          <a:cs typeface="Cambria Math"/>
                        </a:rPr>
                        <m:t>&gt;</m:t>
                      </m:r>
                      <m:r>
                        <a:rPr lang="en-US" sz="1800" i="0">
                          <a:latin typeface="Cambria Math"/>
                          <a:ea typeface="Cambria Math"/>
                          <a:cs typeface="Cambria Math"/>
                        </a:rPr>
                        <m:t>𝔼</m:t>
                      </m:r>
                      <m:d>
                        <m:dPr>
                          <m:begChr m:val="["/>
                          <m:endChr m:val="]"/>
                          <m:ctrlPr>
                            <a:rPr lang="en-US" sz="1800" i="1">
                              <a:latin typeface="Cambria Math"/>
                              <a:ea typeface="Cambria Math"/>
                              <a:cs typeface="Cambria Math"/>
                            </a:rPr>
                          </m:ctrlPr>
                        </m:dPr>
                        <m:e>
                          <m:r>
                            <a:rPr lang="en-US" sz="1800" i="1">
                              <a:latin typeface="Cambria Math"/>
                              <a:ea typeface="Cambria Math"/>
                              <a:cs typeface="Cambria Math"/>
                            </a:rPr>
                            <m:t>𝐼</m:t>
                          </m:r>
                        </m:e>
                      </m:d>
                      <m:r>
                        <a:rPr lang="en-US" sz="1800" i="0">
                          <a:latin typeface="Cambria Math"/>
                          <a:ea typeface="Cambria Math"/>
                          <a:cs typeface="Cambria Math"/>
                        </a:rPr>
                        <m:t> ⟹ </m:t>
                      </m:r>
                      <m:r>
                        <a:rPr lang="en-US" sz="1800" i="0">
                          <a:latin typeface="Cambria Math"/>
                          <a:ea typeface="Cambria Math"/>
                          <a:cs typeface="Cambria Math"/>
                        </a:rPr>
                        <m:t>𝑛𝑒𝑖𝑔ℎ𝑏𝑜𝑟𝑖𝑛𝑔</m:t>
                      </m:r>
                      <m:r>
                        <a:rPr lang="en-US" sz="1800" i="0">
                          <a:latin typeface="Cambria Math"/>
                          <a:ea typeface="Cambria Math"/>
                          <a:cs typeface="Cambria Math"/>
                        </a:rPr>
                        <m:t> </m:t>
                      </m:r>
                      <m:r>
                        <a:rPr lang="en-US" sz="1800" i="0">
                          <a:latin typeface="Cambria Math"/>
                          <a:ea typeface="Cambria Math"/>
                          <a:cs typeface="Cambria Math"/>
                        </a:rPr>
                        <m:t>𝑠𝑝𝑜𝑡𝑠</m:t>
                      </m:r>
                      <m:r>
                        <a:rPr lang="en-US" sz="1800" i="0">
                          <a:latin typeface="Cambria Math"/>
                          <a:ea typeface="Cambria Math"/>
                          <a:cs typeface="Cambria Math"/>
                        </a:rPr>
                        <m:t> </m:t>
                      </m:r>
                      <m:r>
                        <a:rPr lang="en-US" sz="1800" i="0">
                          <a:latin typeface="Cambria Math"/>
                          <a:ea typeface="Cambria Math"/>
                          <a:cs typeface="Cambria Math"/>
                        </a:rPr>
                        <m:t>𝑤𝑖𝑡ℎ</m:t>
                      </m:r>
                      <m:r>
                        <a:rPr lang="en-US" sz="1800" i="0">
                          <a:latin typeface="Cambria Math"/>
                          <a:ea typeface="Cambria Math"/>
                          <a:cs typeface="Cambria Math"/>
                        </a:rPr>
                        <m:t> </m:t>
                      </m:r>
                      <m:r>
                        <a:rPr lang="en-US" sz="1800" i="0">
                          <a:latin typeface="Cambria Math"/>
                          <a:ea typeface="Cambria Math"/>
                          <a:cs typeface="Cambria Math"/>
                        </a:rPr>
                        <m:t>𝑠𝑖𝑚𝑖𝑙𝑎𝑟</m:t>
                      </m:r>
                      <m:r>
                        <a:rPr lang="en-US" sz="1800" i="0">
                          <a:latin typeface="Cambria Math"/>
                          <a:ea typeface="Cambria Math"/>
                          <a:cs typeface="Cambria Math"/>
                        </a:rPr>
                        <m:t> </m:t>
                      </m:r>
                      <m:r>
                        <a:rPr lang="en-US" sz="1800" i="0">
                          <a:latin typeface="Cambria Math"/>
                          <a:ea typeface="Cambria Math"/>
                          <a:cs typeface="Cambria Math"/>
                        </a:rPr>
                        <m:t>𝑣𝑎𝑙𝑢𝑒𝑠</m:t>
                      </m:r>
                      <m:r>
                        <a:rPr lang="en-US" sz="1800" i="0">
                          <a:latin typeface="Cambria Math"/>
                          <a:ea typeface="Cambria Math"/>
                          <a:cs typeface="Cambria Math"/>
                        </a:rPr>
                        <m:t> </m:t>
                      </m:r>
                      <m:r>
                        <a:rPr lang="en-US" sz="1800" i="0">
                          <a:latin typeface="Cambria Math"/>
                          <a:ea typeface="Cambria Math"/>
                          <a:cs typeface="Cambria Math"/>
                        </a:rPr>
                        <m:t>𝑡𝑒𝑛𝑑</m:t>
                      </m:r>
                      <m:r>
                        <a:rPr lang="en-US" sz="1800" i="0">
                          <a:latin typeface="Cambria Math"/>
                          <a:ea typeface="Cambria Math"/>
                          <a:cs typeface="Cambria Math"/>
                        </a:rPr>
                        <m:t> </m:t>
                      </m:r>
                      <m:r>
                        <a:rPr lang="en-US" sz="1800" i="0">
                          <a:latin typeface="Cambria Math"/>
                          <a:ea typeface="Cambria Math"/>
                          <a:cs typeface="Cambria Math"/>
                        </a:rPr>
                        <m:t>𝑡𝑜</m:t>
                      </m:r>
                      <m:r>
                        <a:rPr lang="en-US" sz="1800" i="0">
                          <a:latin typeface="Cambria Math"/>
                          <a:ea typeface="Cambria Math"/>
                          <a:cs typeface="Cambria Math"/>
                        </a:rPr>
                        <m:t> </m:t>
                      </m:r>
                      <m:r>
                        <a:rPr lang="en-US" sz="1800" i="0">
                          <a:latin typeface="Cambria Math"/>
                          <a:ea typeface="Cambria Math"/>
                          <a:cs typeface="Cambria Math"/>
                        </a:rPr>
                        <m:t>𝑐𝑙𝑢𝑠𝑡𝑒𝑟</m:t>
                      </m:r>
                    </m:oMath>
                  </m:oMathPara>
                </a14:m>
                <a:endParaRPr sz="1800" i="0">
                  <a:latin typeface="Cambria Math"/>
                  <a:ea typeface="Cambria Math"/>
                  <a:cs typeface="Cambria Math"/>
                </a:endParaRPr>
              </a:p>
              <a:p>
                <a:pPr>
                  <a:buNone/>
                </a:pPr>
                <a14:m>
                  <m:oMathPara xmlns:m="http://schemas.openxmlformats.org/officeDocument/2006/math">
                    <m:oMath>
                      <m:r>
                        <a:rPr lang="en-US" sz="1800" i="1">
                          <a:latin typeface="Cambria Math"/>
                          <a:ea typeface="Cambria Math"/>
                          <a:cs typeface="Cambria Math"/>
                        </a:rPr>
                        <m:t>𝐼</m:t>
                      </m:r>
                      <m:r>
                        <a:rPr lang="en-US" sz="1800" i="0">
                          <a:latin typeface="Cambria Math"/>
                          <a:ea typeface="Cambria Math"/>
                          <a:cs typeface="Cambria Math"/>
                        </a:rPr>
                        <m:t>&lt;</m:t>
                      </m:r>
                      <m:r>
                        <a:rPr lang="en-US" sz="1800" i="0">
                          <a:latin typeface="Cambria Math"/>
                          <a:ea typeface="Cambria Math"/>
                          <a:cs typeface="Cambria Math"/>
                        </a:rPr>
                        <m:t>𝔼</m:t>
                      </m:r>
                      <m:d>
                        <m:dPr>
                          <m:begChr m:val="["/>
                          <m:endChr m:val="]"/>
                          <m:ctrlPr>
                            <a:rPr lang="en-US" sz="1800" i="1">
                              <a:latin typeface="Cambria Math"/>
                              <a:ea typeface="Cambria Math"/>
                              <a:cs typeface="Cambria Math"/>
                            </a:rPr>
                          </m:ctrlPr>
                        </m:dPr>
                        <m:e>
                          <m:r>
                            <a:rPr lang="en-US" sz="1800" i="1">
                              <a:latin typeface="Cambria Math"/>
                              <a:ea typeface="Cambria Math"/>
                              <a:cs typeface="Cambria Math"/>
                            </a:rPr>
                            <m:t>𝐼</m:t>
                          </m:r>
                        </m:e>
                      </m:d>
                      <m:r>
                        <a:rPr lang="en-US" sz="1800" i="0">
                          <a:latin typeface="Cambria Math"/>
                          <a:ea typeface="Cambria Math"/>
                          <a:cs typeface="Cambria Math"/>
                        </a:rPr>
                        <m:t> ⟹ </m:t>
                      </m:r>
                      <m:r>
                        <a:rPr lang="en-US" sz="1800" i="0">
                          <a:latin typeface="Cambria Math"/>
                          <a:ea typeface="Cambria Math"/>
                          <a:cs typeface="Cambria Math"/>
                        </a:rPr>
                        <m:t>𝑛𝑒𝑖𝑔ℎ𝑏𝑜𝑟𝑖𝑛𝑔</m:t>
                      </m:r>
                      <m:r>
                        <a:rPr lang="en-US" sz="1800" i="0">
                          <a:latin typeface="Cambria Math"/>
                          <a:ea typeface="Cambria Math"/>
                          <a:cs typeface="Cambria Math"/>
                        </a:rPr>
                        <m:t> </m:t>
                      </m:r>
                      <m:r>
                        <a:rPr lang="en-US" sz="1800" i="0">
                          <a:latin typeface="Cambria Math"/>
                          <a:ea typeface="Cambria Math"/>
                          <a:cs typeface="Cambria Math"/>
                        </a:rPr>
                        <m:t>𝑠𝑝𝑜𝑡𝑠</m:t>
                      </m:r>
                      <m:r>
                        <a:rPr lang="en-US" sz="1800" i="0">
                          <a:latin typeface="Cambria Math"/>
                          <a:ea typeface="Cambria Math"/>
                          <a:cs typeface="Cambria Math"/>
                        </a:rPr>
                        <m:t> </m:t>
                      </m:r>
                      <m:r>
                        <a:rPr lang="en-US" sz="1800" i="0">
                          <a:latin typeface="Cambria Math"/>
                          <a:ea typeface="Cambria Math"/>
                          <a:cs typeface="Cambria Math"/>
                        </a:rPr>
                        <m:t>𝑡𝑒𝑛𝑑</m:t>
                      </m:r>
                      <m:r>
                        <a:rPr lang="en-US" sz="1800" i="0">
                          <a:latin typeface="Cambria Math"/>
                          <a:ea typeface="Cambria Math"/>
                          <a:cs typeface="Cambria Math"/>
                        </a:rPr>
                        <m:t> </m:t>
                      </m:r>
                      <m:r>
                        <a:rPr lang="en-US" sz="1800" i="0">
                          <a:latin typeface="Cambria Math"/>
                          <a:ea typeface="Cambria Math"/>
                          <a:cs typeface="Cambria Math"/>
                        </a:rPr>
                        <m:t>𝑡𝑜</m:t>
                      </m:r>
                      <m:r>
                        <a:rPr lang="en-US" sz="1800" i="0">
                          <a:latin typeface="Cambria Math"/>
                          <a:ea typeface="Cambria Math"/>
                          <a:cs typeface="Cambria Math"/>
                        </a:rPr>
                        <m:t> </m:t>
                      </m:r>
                      <m:r>
                        <a:rPr lang="en-US" sz="1800" i="0">
                          <a:latin typeface="Cambria Math"/>
                          <a:ea typeface="Cambria Math"/>
                          <a:cs typeface="Cambria Math"/>
                        </a:rPr>
                        <m:t>ℎ𝑎𝑣𝑒</m:t>
                      </m:r>
                      <m:r>
                        <a:rPr lang="en-US" sz="1800" i="0">
                          <a:latin typeface="Cambria Math"/>
                          <a:ea typeface="Cambria Math"/>
                          <a:cs typeface="Cambria Math"/>
                        </a:rPr>
                        <m:t> </m:t>
                      </m:r>
                      <m:r>
                        <a:rPr lang="en-US" sz="1800" i="0">
                          <a:latin typeface="Cambria Math"/>
                          <a:ea typeface="Cambria Math"/>
                          <a:cs typeface="Cambria Math"/>
                        </a:rPr>
                        <m:t>𝑐𝑜𝑛𝑡𝑟𝑎𝑠𝑡𝑖𝑛𝑔</m:t>
                      </m:r>
                      <m:r>
                        <a:rPr lang="en-US" sz="1800" i="0">
                          <a:latin typeface="Cambria Math"/>
                          <a:ea typeface="Cambria Math"/>
                          <a:cs typeface="Cambria Math"/>
                        </a:rPr>
                        <m:t> </m:t>
                      </m:r>
                      <m:r>
                        <a:rPr lang="en-US" sz="1800" i="0">
                          <a:latin typeface="Cambria Math"/>
                          <a:ea typeface="Cambria Math"/>
                          <a:cs typeface="Cambria Math"/>
                        </a:rPr>
                        <m:t>𝑣𝑎𝑙𝑢𝑒𝑠</m:t>
                      </m:r>
                    </m:oMath>
                  </m:oMathPara>
                </a14:m>
                <a:endParaRPr sz="1800"/>
              </a:p>
              <a:p>
                <a:pPr lvl="0">
                  <a:buNone/>
                </a:pPr>
                <a:r>
                  <a:rPr sz="1800"/>
                  <a:t>Under spatial randomness, the expected value is </a:t>
                </a:r>
                <a14:m>
                  <m:oMath xmlns:m="http://schemas.openxmlformats.org/officeDocument/2006/math">
                    <m:r>
                      <a:rPr lang="en-US" sz="1800">
                        <a:latin typeface="Cambria Math"/>
                        <a:ea typeface="Cambria Math"/>
                        <a:cs typeface="Cambria Math"/>
                      </a:rPr>
                      <m:t>𝔼</m:t>
                    </m:r>
                    <m:d>
                      <m:dPr>
                        <m:begChr m:val="["/>
                        <m:endChr m:val="]"/>
                        <m:ctrlPr>
                          <a:rPr lang="en-US" sz="1800" i="1">
                            <a:latin typeface="Cambria Math"/>
                            <a:ea typeface="Cambria Math"/>
                            <a:cs typeface="Cambria Math"/>
                          </a:rPr>
                        </m:ctrlPr>
                      </m:dPr>
                      <m:e>
                        <m:r>
                          <a:rPr lang="en-US" sz="1800" i="1">
                            <a:latin typeface="Cambria Math"/>
                            <a:ea typeface="Cambria Math"/>
                            <a:cs typeface="Cambria Math"/>
                          </a:rPr>
                          <m:t>𝐼</m:t>
                        </m:r>
                      </m:e>
                    </m:d>
                    <m:r>
                      <a:rPr lang="en-US" sz="1800" i="0">
                        <a:latin typeface="Cambria Math"/>
                        <a:ea typeface="Cambria Math"/>
                        <a:cs typeface="Cambria Math"/>
                      </a:rPr>
                      <m:t>=−</m:t>
                    </m:r>
                    <m:f>
                      <m:fPr>
                        <m:ctrlPr>
                          <a:rPr lang="en-US" sz="1800" i="0">
                            <a:latin typeface="Cambria Math"/>
                            <a:ea typeface="Cambria Math"/>
                            <a:cs typeface="Cambria Math"/>
                          </a:rPr>
                        </m:ctrlPr>
                      </m:fPr>
                      <m:num>
                        <m:r>
                          <a:rPr lang="en-US" sz="1800" i="0">
                            <a:latin typeface="Cambria Math"/>
                            <a:ea typeface="Cambria Math"/>
                            <a:cs typeface="Cambria Math"/>
                          </a:rPr>
                          <m:t>1</m:t>
                        </m:r>
                      </m:num>
                      <m:den>
                        <m:r>
                          <a:rPr lang="en-US" sz="1800" i="1">
                            <a:latin typeface="Cambria Math"/>
                            <a:ea typeface="Cambria Math"/>
                            <a:cs typeface="Cambria Math"/>
                          </a:rPr>
                          <m:t>𝑁</m:t>
                        </m:r>
                        <m:r>
                          <a:rPr lang="en-US" sz="1800" i="0">
                            <a:latin typeface="Cambria Math"/>
                            <a:ea typeface="Cambria Math"/>
                            <a:cs typeface="Cambria Math"/>
                          </a:rPr>
                          <m:t>−1</m:t>
                        </m:r>
                      </m:den>
                    </m:f>
                    <m:r>
                      <a:rPr lang="en-US" sz="1800" i="0">
                        <a:latin typeface="Cambria Math"/>
                        <a:ea typeface="Cambria Math"/>
                        <a:cs typeface="Cambria Math"/>
                      </a:rPr>
                      <m:t>.</m:t>
                    </m:r>
                  </m:oMath>
                </a14:m>
                <a:endParaRPr sz="1800"/>
              </a:p>
              <a:p>
                <a:pPr lvl="0">
                  <a:buNone/>
                </a:pPr>
                <a:r>
                  <a:rPr sz="1800" b="1"/>
                  <a:t>Dependence on the spatial graph:</a:t>
                </a:r>
                <a:r>
                  <a:rPr sz="1800"/>
                  <a:t> Because </a:t>
                </a:r>
                <a14:m>
                  <m:oMath xmlns:m="http://schemas.openxmlformats.org/officeDocument/2006/math">
                    <m:sSub>
                      <m:sSubPr>
                        <m:ctrlPr>
                          <a:rPr lang="en-US" sz="1800" i="1">
                            <a:latin typeface="Cambria Math"/>
                            <a:ea typeface="Cambria Math"/>
                            <a:cs typeface="Cambria Math"/>
                          </a:rPr>
                        </m:ctrlPr>
                      </m:sSubPr>
                      <m:e>
                        <m:r>
                          <a:rPr lang="en-US" sz="1800" i="1">
                            <a:latin typeface="Cambria Math"/>
                            <a:ea typeface="Cambria Math"/>
                            <a:cs typeface="Cambria Math"/>
                          </a:rPr>
                          <m:t>𝑤</m:t>
                        </m:r>
                      </m:e>
                      <m:sub>
                        <m:r>
                          <a:rPr lang="en-US" sz="1800" i="1">
                            <a:latin typeface="Cambria Math"/>
                            <a:ea typeface="Cambria Math"/>
                            <a:cs typeface="Cambria Math"/>
                          </a:rPr>
                          <m:t>𝑖𝑗</m:t>
                        </m:r>
                      </m:sub>
                    </m:sSub>
                  </m:oMath>
                </a14:m>
                <a:r>
                  <a:rPr sz="1800"/>
                  <a:t> defines whether—and how strongly—spots </a:t>
                </a:r>
                <a14:m>
                  <m:oMath xmlns:m="http://schemas.openxmlformats.org/officeDocument/2006/math">
                    <m:r>
                      <a:rPr lang="en-US" sz="1800" i="1">
                        <a:latin typeface="Cambria Math"/>
                        <a:ea typeface="Cambria Math"/>
                        <a:cs typeface="Cambria Math"/>
                      </a:rPr>
                      <m:t>𝑖</m:t>
                    </m:r>
                  </m:oMath>
                </a14:m>
                <a:r>
                  <a:rPr sz="1800"/>
                  <a:t>and </a:t>
                </a:r>
                <a14:m>
                  <m:oMath xmlns:m="http://schemas.openxmlformats.org/officeDocument/2006/math">
                    <m:r>
                      <a:rPr lang="en-US" sz="1800" i="1">
                        <a:latin typeface="Cambria Math"/>
                        <a:ea typeface="Cambria Math"/>
                        <a:cs typeface="Cambria Math"/>
                      </a:rPr>
                      <m:t>𝑗</m:t>
                    </m:r>
                  </m:oMath>
                </a14:m>
                <a:r>
                  <a:rPr sz="1800"/>
                  <a:t>are considered neighbors, changing the spatial graph can change Moran’s </a:t>
                </a:r>
                <a14:m>
                  <m:oMath xmlns:m="http://schemas.openxmlformats.org/officeDocument/2006/math">
                    <m:r>
                      <a:rPr lang="en-US" sz="1800" i="1">
                        <a:latin typeface="Cambria Math"/>
                        <a:ea typeface="Cambria Math"/>
                        <a:cs typeface="Cambria Math"/>
                      </a:rPr>
                      <m:t>𝐼</m:t>
                    </m:r>
                  </m:oMath>
                </a14:m>
                <a:endParaRPr sz="1800" b="1"/>
              </a:p>
              <a:p>
                <a:pPr lvl="0">
                  <a:buNone/>
                </a:pPr>
                <a:r>
                  <a:rPr sz="1800" b="1"/>
                  <a:t>Important:</a:t>
                </a:r>
                <a:r>
                  <a:rPr sz="1800"/>
                  <a:t> A high Moran’s </a:t>
                </a:r>
                <a14:m>
                  <m:oMath xmlns:m="http://schemas.openxmlformats.org/officeDocument/2006/math">
                    <m:r>
                      <a:rPr lang="en-US" sz="1800" i="1">
                        <a:latin typeface="Cambria Math"/>
                        <a:ea typeface="Cambria Math"/>
                        <a:cs typeface="Cambria Math"/>
                      </a:rPr>
                      <m:t>𝐼</m:t>
                    </m:r>
                  </m:oMath>
                </a14:m>
                <a:r>
                  <a:rPr sz="1800"/>
                  <a:t>indicates spatial coherence. It does not by itself demonstrate accurate protein abundance or correct anatomical structure.</a:t>
                </a:r>
              </a:p>
            </p:txBody>
          </p:sp>
        </mc:Choice>
        <mc:Fallback xmlns="">
          <p:sp>
            <p:nvSpPr>
              <p:cNvPr id="4" name="Text Placeholder 3">
                <a:extLst>
                  <a:ext uri="{FF2B5EF4-FFF2-40B4-BE49-F238E27FC236}">
                    <a16:creationId xmlns:a16="http://schemas.microsoft.com/office/drawing/2014/main" id="{78311BF9-7ADE-C059-C0C7-E7BE25630F9B}"/>
                  </a:ext>
                </a:extLst>
              </p:cNvPr>
              <p:cNvSpPr>
                <a:spLocks noGrp="1" noRot="1" noChangeAspect="1" noMove="1" noResize="1" noEditPoints="1" noAdjustHandles="1" noChangeArrowheads="1" noChangeShapeType="1" noTextEdit="1"/>
              </p:cNvSpPr>
              <p:nvPr>
                <p:ph type="body" idx="10"/>
              </p:nvPr>
            </p:nvSpPr>
            <p:spPr>
              <a:xfrm>
                <a:off x="991699" y="1282045"/>
                <a:ext cx="10758375" cy="4883085"/>
              </a:xfrm>
              <a:blipFill>
                <a:blip r:embed="rId3"/>
                <a:stretch>
                  <a:fillRect l="-1415" r="-1061"/>
                </a:stretch>
              </a:blipFill>
            </p:spPr>
            <p:txBody>
              <a:bodyPr/>
              <a:lstStyle/>
              <a:p>
                <a:r>
                  <a:rPr lang="en-US">
                    <a:noFill/>
                  </a:rPr>
                  <a:t> </a:t>
                </a:r>
              </a:p>
            </p:txBody>
          </p:sp>
        </mc:Fallback>
      </mc:AlternateContent>
    </p:spTree>
    <p:extLst>
      <p:ext uri="{BB962C8B-B14F-4D97-AF65-F5344CB8AC3E}">
        <p14:creationId xmlns:p14="http://schemas.microsoft.com/office/powerpoint/2010/main" val="3318548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E9BD3E-B78F-5140-6D6E-3889A950C704}"/>
              </a:ext>
            </a:extLst>
          </p:cNvPr>
          <p:cNvSpPr>
            <a:spLocks noGrp="1"/>
          </p:cNvSpPr>
          <p:nvPr>
            <p:ph type="body" idx="15"/>
          </p:nvPr>
        </p:nvSpPr>
        <p:spPr/>
        <p:txBody>
          <a:bodyPr>
            <a:normAutofit/>
          </a:bodyPr>
          <a:lstStyle/>
          <a:p>
            <a:r>
              <a:rPr sz="2800"/>
              <a:t>Bivariate Moran's I links one feature to its neighbor's feature</a:t>
            </a:r>
          </a:p>
        </p:txBody>
      </p:sp>
      <p:sp>
        <p:nvSpPr>
          <p:cNvPr id="3" name="Text Placeholder 2">
            <a:extLst>
              <a:ext uri="{FF2B5EF4-FFF2-40B4-BE49-F238E27FC236}">
                <a16:creationId xmlns:a16="http://schemas.microsoft.com/office/drawing/2014/main" id="{D5BD75E1-1F49-0968-795E-DA2C2E8CF09F}"/>
              </a:ext>
            </a:extLst>
          </p:cNvPr>
          <p:cNvSpPr>
            <a:spLocks noGrp="1"/>
          </p:cNvSpPr>
          <p:nvPr>
            <p:ph type="body" idx="14"/>
          </p:nvPr>
        </p:nvSpPr>
        <p:spPr/>
        <p:txBody>
          <a:bodyPr/>
          <a:lstStyle/>
          <a:p>
            <a:r>
              <a:rPr dirty="0"/>
              <a:t>Zeyuan Meng, MS — Intelligent Systems Program </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8311BF9-7ADE-C059-C0C7-E7BE25630F9B}"/>
                  </a:ext>
                </a:extLst>
              </p:cNvPr>
              <p:cNvSpPr>
                <a:spLocks noGrp="1"/>
              </p:cNvSpPr>
              <p:nvPr>
                <p:ph type="body" idx="10"/>
              </p:nvPr>
            </p:nvSpPr>
            <p:spPr>
              <a:xfrm>
                <a:off x="991699" y="1655550"/>
                <a:ext cx="10758375" cy="4329614"/>
              </a:xfrm>
            </p:spPr>
            <p:txBody>
              <a:bodyPr anchor="ctr">
                <a:noAutofit/>
              </a:bodyPr>
              <a:lstStyle/>
              <a:p>
                <a:pPr lvl="0">
                  <a:buNone/>
                </a:pPr>
                <a:r>
                  <a:rPr sz="1800" b="1" dirty="0"/>
                  <a:t>Standardized variables and total spatial weight:</a:t>
                </a:r>
                <a:endParaRPr sz="1800" dirty="0"/>
              </a:p>
              <a:p>
                <a:pPr>
                  <a:buNone/>
                </a:pPr>
                <a14:m>
                  <m:oMathPara xmlns:m="http://schemas.openxmlformats.org/officeDocument/2006/math">
                    <m:oMath>
                      <m:sSubSup>
                        <m:sSubSupPr>
                          <m:ctrlPr>
                            <a:rPr lang="en-US" sz="1800" i="1">
                              <a:latin typeface="Cambria Math"/>
                              <a:ea typeface="Cambria Math"/>
                              <a:cs typeface="Cambria Math"/>
                            </a:rPr>
                          </m:ctrlPr>
                        </m:sSubSupPr>
                        <m:e>
                          <m:r>
                            <a:rPr lang="en-US" sz="1800" i="1">
                              <a:latin typeface="Cambria Math"/>
                              <a:ea typeface="Cambria Math"/>
                              <a:cs typeface="Cambria Math"/>
                            </a:rPr>
                            <m:t>𝑧</m:t>
                          </m:r>
                        </m:e>
                        <m:sub>
                          <m:r>
                            <a:rPr lang="en-US" sz="1800" i="1">
                              <a:latin typeface="Cambria Math"/>
                              <a:ea typeface="Cambria Math"/>
                              <a:cs typeface="Cambria Math"/>
                            </a:rPr>
                            <m:t>𝑖</m:t>
                          </m:r>
                        </m:sub>
                        <m:sup>
                          <m:r>
                            <a:rPr lang="en-US" sz="1800" i="1">
                              <a:latin typeface="Cambria Math"/>
                              <a:ea typeface="Cambria Math"/>
                              <a:cs typeface="Cambria Math"/>
                            </a:rPr>
                            <m:t>𝑥</m:t>
                          </m:r>
                        </m:sup>
                      </m:sSubSup>
                      <m:r>
                        <a:rPr lang="en-US" sz="1800" i="0">
                          <a:latin typeface="Cambria Math"/>
                          <a:ea typeface="Cambria Math"/>
                          <a:cs typeface="Cambria Math"/>
                        </a:rPr>
                        <m:t>=</m:t>
                      </m:r>
                      <m:f>
                        <m:fPr>
                          <m:ctrlPr>
                            <a:rPr lang="en-US" sz="1800" i="1">
                              <a:latin typeface="Cambria Math" panose="02040503050406030204" pitchFamily="18" charset="0"/>
                              <a:ea typeface="Cambria Math"/>
                              <a:cs typeface="Cambria Math"/>
                            </a:rPr>
                          </m:ctrlPr>
                        </m:fPr>
                        <m:num>
                          <m:sSub>
                            <m:sSubPr>
                              <m:ctrlPr>
                                <a:rPr lang="en-US" sz="1800" i="1">
                                  <a:latin typeface="Cambria Math"/>
                                  <a:ea typeface="Cambria Math"/>
                                  <a:cs typeface="Cambria Math"/>
                                </a:rPr>
                              </m:ctrlPr>
                            </m:sSubPr>
                            <m:e>
                              <m:r>
                                <a:rPr lang="en-US" sz="1800" i="1">
                                  <a:latin typeface="Cambria Math"/>
                                  <a:ea typeface="Cambria Math"/>
                                  <a:cs typeface="Cambria Math"/>
                                </a:rPr>
                                <m:t>𝑥</m:t>
                              </m:r>
                            </m:e>
                            <m:sub>
                              <m:r>
                                <a:rPr lang="en-US" sz="1800" i="1">
                                  <a:latin typeface="Cambria Math"/>
                                  <a:ea typeface="Cambria Math"/>
                                  <a:cs typeface="Cambria Math"/>
                                </a:rPr>
                                <m:t>𝑖</m:t>
                              </m:r>
                            </m:sub>
                          </m:sSub>
                          <m:r>
                            <a:rPr lang="en-US" sz="1800" i="0">
                              <a:latin typeface="Cambria Math"/>
                              <a:ea typeface="Cambria Math"/>
                              <a:cs typeface="Cambria Math"/>
                            </a:rPr>
                            <m:t>−</m:t>
                          </m:r>
                          <m:acc>
                            <m:accPr>
                              <m:chr m:val="̅"/>
                              <m:ctrlPr>
                                <a:rPr lang="en-US" sz="1800" i="1">
                                  <a:latin typeface="Cambria Math"/>
                                  <a:ea typeface="Cambria Math"/>
                                  <a:cs typeface="Cambria Math"/>
                                </a:rPr>
                              </m:ctrlPr>
                            </m:accPr>
                            <m:e>
                              <m:r>
                                <a:rPr lang="en-US" sz="1800" i="1">
                                  <a:latin typeface="Cambria Math"/>
                                  <a:ea typeface="Cambria Math"/>
                                  <a:cs typeface="Cambria Math"/>
                                </a:rPr>
                                <m:t>𝑥</m:t>
                              </m:r>
                            </m:e>
                          </m:acc>
                        </m:num>
                        <m:den>
                          <m:sSub>
                            <m:sSubPr>
                              <m:ctrlPr>
                                <a:rPr lang="en-US" sz="1800" i="1">
                                  <a:latin typeface="Cambria Math"/>
                                  <a:ea typeface="Cambria Math"/>
                                  <a:cs typeface="Cambria Math"/>
                                </a:rPr>
                              </m:ctrlPr>
                            </m:sSubPr>
                            <m:e>
                              <m:r>
                                <a:rPr lang="en-US" sz="1800" i="1">
                                  <a:latin typeface="Cambria Math"/>
                                  <a:ea typeface="Cambria Math"/>
                                  <a:cs typeface="Cambria Math"/>
                                </a:rPr>
                                <m:t>𝜎</m:t>
                              </m:r>
                            </m:e>
                            <m:sub>
                              <m:r>
                                <a:rPr lang="en-US" sz="1800" i="1">
                                  <a:latin typeface="Cambria Math"/>
                                  <a:ea typeface="Cambria Math"/>
                                  <a:cs typeface="Cambria Math"/>
                                </a:rPr>
                                <m:t>𝑥</m:t>
                              </m:r>
                            </m:sub>
                          </m:sSub>
                        </m:den>
                      </m:f>
                      <m:r>
                        <a:rPr lang="en-US" sz="1800" i="0">
                          <a:latin typeface="Cambria Math"/>
                          <a:ea typeface="Cambria Math"/>
                          <a:cs typeface="Cambria Math"/>
                        </a:rPr>
                        <m:t>,  </m:t>
                      </m:r>
                      <m:sSubSup>
                        <m:sSubSupPr>
                          <m:ctrlPr>
                            <a:rPr lang="en-US" sz="1800" i="1">
                              <a:latin typeface="Cambria Math"/>
                              <a:ea typeface="Cambria Math"/>
                              <a:cs typeface="Cambria Math"/>
                            </a:rPr>
                          </m:ctrlPr>
                        </m:sSubSupPr>
                        <m:e>
                          <m:r>
                            <a:rPr lang="en-US" sz="1800" i="1">
                              <a:latin typeface="Cambria Math"/>
                              <a:ea typeface="Cambria Math"/>
                              <a:cs typeface="Cambria Math"/>
                            </a:rPr>
                            <m:t>𝑧</m:t>
                          </m:r>
                        </m:e>
                        <m:sub>
                          <m:r>
                            <a:rPr lang="en-US" sz="1800" i="1">
                              <a:latin typeface="Cambria Math"/>
                              <a:ea typeface="Cambria Math"/>
                              <a:cs typeface="Cambria Math"/>
                            </a:rPr>
                            <m:t>𝑖</m:t>
                          </m:r>
                        </m:sub>
                        <m:sup>
                          <m:r>
                            <a:rPr lang="en-US" sz="1800" i="1">
                              <a:latin typeface="Cambria Math"/>
                              <a:ea typeface="Cambria Math"/>
                              <a:cs typeface="Cambria Math"/>
                            </a:rPr>
                            <m:t>𝑦</m:t>
                          </m:r>
                        </m:sup>
                      </m:sSubSup>
                      <m:r>
                        <a:rPr lang="en-US" sz="1800" i="0">
                          <a:latin typeface="Cambria Math"/>
                          <a:ea typeface="Cambria Math"/>
                          <a:cs typeface="Cambria Math"/>
                        </a:rPr>
                        <m:t>=</m:t>
                      </m:r>
                      <m:f>
                        <m:fPr>
                          <m:ctrlPr>
                            <a:rPr lang="en-US" sz="1800" i="1">
                              <a:latin typeface="Cambria Math" panose="02040503050406030204" pitchFamily="18" charset="0"/>
                              <a:ea typeface="Cambria Math"/>
                              <a:cs typeface="Cambria Math"/>
                            </a:rPr>
                          </m:ctrlPr>
                        </m:fPr>
                        <m:num>
                          <m:sSub>
                            <m:sSubPr>
                              <m:ctrlPr>
                                <a:rPr lang="en-US" sz="1800" i="1">
                                  <a:latin typeface="Cambria Math"/>
                                  <a:ea typeface="Cambria Math"/>
                                  <a:cs typeface="Cambria Math"/>
                                </a:rPr>
                              </m:ctrlPr>
                            </m:sSubPr>
                            <m:e>
                              <m:r>
                                <a:rPr lang="en-US" sz="1800" i="1">
                                  <a:latin typeface="Cambria Math"/>
                                  <a:ea typeface="Cambria Math"/>
                                  <a:cs typeface="Cambria Math"/>
                                </a:rPr>
                                <m:t>𝑦</m:t>
                              </m:r>
                            </m:e>
                            <m:sub>
                              <m:r>
                                <a:rPr lang="en-US" sz="1800" i="1">
                                  <a:latin typeface="Cambria Math"/>
                                  <a:ea typeface="Cambria Math"/>
                                  <a:cs typeface="Cambria Math"/>
                                </a:rPr>
                                <m:t>𝑖</m:t>
                              </m:r>
                            </m:sub>
                          </m:sSub>
                          <m:r>
                            <a:rPr lang="en-US" sz="1800" i="0">
                              <a:latin typeface="Cambria Math"/>
                              <a:ea typeface="Cambria Math"/>
                              <a:cs typeface="Cambria Math"/>
                            </a:rPr>
                            <m:t>−</m:t>
                          </m:r>
                          <m:acc>
                            <m:accPr>
                              <m:chr m:val="̅"/>
                              <m:ctrlPr>
                                <a:rPr lang="en-US" sz="1800" i="1">
                                  <a:latin typeface="Cambria Math"/>
                                  <a:ea typeface="Cambria Math"/>
                                  <a:cs typeface="Cambria Math"/>
                                </a:rPr>
                              </m:ctrlPr>
                            </m:accPr>
                            <m:e>
                              <m:r>
                                <a:rPr lang="en-US" sz="1800" i="1">
                                  <a:latin typeface="Cambria Math"/>
                                  <a:ea typeface="Cambria Math"/>
                                  <a:cs typeface="Cambria Math"/>
                                </a:rPr>
                                <m:t>𝑦</m:t>
                              </m:r>
                            </m:e>
                          </m:acc>
                        </m:num>
                        <m:den>
                          <m:sSub>
                            <m:sSubPr>
                              <m:ctrlPr>
                                <a:rPr lang="en-US" sz="1800" i="1">
                                  <a:latin typeface="Cambria Math"/>
                                  <a:ea typeface="Cambria Math"/>
                                  <a:cs typeface="Cambria Math"/>
                                </a:rPr>
                              </m:ctrlPr>
                            </m:sSubPr>
                            <m:e>
                              <m:r>
                                <a:rPr lang="en-US" sz="1800" i="1">
                                  <a:latin typeface="Cambria Math"/>
                                  <a:ea typeface="Cambria Math"/>
                                  <a:cs typeface="Cambria Math"/>
                                </a:rPr>
                                <m:t>𝜎</m:t>
                              </m:r>
                            </m:e>
                            <m:sub>
                              <m:r>
                                <a:rPr lang="en-US" sz="1800" i="1">
                                  <a:latin typeface="Cambria Math"/>
                                  <a:ea typeface="Cambria Math"/>
                                  <a:cs typeface="Cambria Math"/>
                                </a:rPr>
                                <m:t>𝑦</m:t>
                              </m:r>
                            </m:sub>
                          </m:sSub>
                        </m:den>
                      </m:f>
                      <m:r>
                        <a:rPr lang="en-US" sz="1800" i="0">
                          <a:latin typeface="Cambria Math"/>
                          <a:ea typeface="Cambria Math"/>
                          <a:cs typeface="Cambria Math"/>
                        </a:rPr>
                        <m:t>,  </m:t>
                      </m:r>
                      <m:sSub>
                        <m:sSubPr>
                          <m:ctrlPr>
                            <a:rPr lang="en-US" sz="1800" i="1">
                              <a:latin typeface="Cambria Math"/>
                              <a:ea typeface="Cambria Math"/>
                              <a:cs typeface="Cambria Math"/>
                            </a:rPr>
                          </m:ctrlPr>
                        </m:sSubPr>
                        <m:e>
                          <m:r>
                            <a:rPr lang="en-US" sz="1800" i="1">
                              <a:latin typeface="Cambria Math"/>
                              <a:ea typeface="Cambria Math"/>
                              <a:cs typeface="Cambria Math"/>
                            </a:rPr>
                            <m:t>𝑆</m:t>
                          </m:r>
                        </m:e>
                        <m:sub>
                          <m:r>
                            <a:rPr lang="en-US" sz="1800" i="0">
                              <a:latin typeface="Cambria Math"/>
                              <a:ea typeface="Cambria Math"/>
                              <a:cs typeface="Cambria Math"/>
                            </a:rPr>
                            <m:t>0</m:t>
                          </m:r>
                        </m:sub>
                      </m:sSub>
                      <m:r>
                        <a:rPr lang="en-US" sz="1800" i="0">
                          <a:latin typeface="Cambria Math"/>
                          <a:ea typeface="Cambria Math"/>
                          <a:cs typeface="Cambria Math"/>
                        </a:rPr>
                        <m:t>=</m:t>
                      </m:r>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𝑖</m:t>
                          </m:r>
                          <m:r>
                            <a:rPr lang="en-US" sz="1800" i="0">
                              <a:latin typeface="Cambria Math"/>
                              <a:ea typeface="Cambria Math"/>
                              <a:cs typeface="Cambria Math"/>
                            </a:rPr>
                            <m:t>=1</m:t>
                          </m:r>
                        </m:sub>
                        <m:sup>
                          <m:r>
                            <a:rPr lang="en-US" sz="1800" i="1">
                              <a:latin typeface="Cambria Math"/>
                              <a:ea typeface="Cambria Math"/>
                              <a:cs typeface="Cambria Math"/>
                            </a:rPr>
                            <m:t>𝑁</m:t>
                          </m:r>
                        </m:sup>
                        <m:e>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𝑗</m:t>
                              </m:r>
                              <m:r>
                                <a:rPr lang="en-US" sz="1800" i="0">
                                  <a:latin typeface="Cambria Math"/>
                                  <a:ea typeface="Cambria Math"/>
                                  <a:cs typeface="Cambria Math"/>
                                </a:rPr>
                                <m:t>=1</m:t>
                              </m:r>
                            </m:sub>
                            <m:sup>
                              <m:r>
                                <a:rPr lang="en-US" sz="1800" i="1">
                                  <a:latin typeface="Cambria Math"/>
                                  <a:ea typeface="Cambria Math"/>
                                  <a:cs typeface="Cambria Math"/>
                                </a:rPr>
                                <m:t>𝑁</m:t>
                              </m:r>
                            </m:sup>
                            <m:e>
                              <m:sSub>
                                <m:sSubPr>
                                  <m:ctrlPr>
                                    <a:rPr lang="en-US" sz="1800" i="1">
                                      <a:latin typeface="Cambria Math"/>
                                      <a:ea typeface="Cambria Math"/>
                                      <a:cs typeface="Cambria Math"/>
                                    </a:rPr>
                                  </m:ctrlPr>
                                </m:sSubPr>
                                <m:e>
                                  <m:r>
                                    <a:rPr lang="en-US" sz="1800" i="1">
                                      <a:latin typeface="Cambria Math"/>
                                      <a:ea typeface="Cambria Math"/>
                                      <a:cs typeface="Cambria Math"/>
                                    </a:rPr>
                                    <m:t>𝑤</m:t>
                                  </m:r>
                                </m:e>
                                <m:sub>
                                  <m:r>
                                    <a:rPr lang="en-US" sz="1800" i="1">
                                      <a:latin typeface="Cambria Math"/>
                                      <a:ea typeface="Cambria Math"/>
                                      <a:cs typeface="Cambria Math"/>
                                    </a:rPr>
                                    <m:t>𝑖𝑗</m:t>
                                  </m:r>
                                </m:sub>
                              </m:sSub>
                            </m:e>
                          </m:nary>
                        </m:e>
                      </m:nary>
                    </m:oMath>
                  </m:oMathPara>
                </a14:m>
                <a:endParaRPr sz="1800" dirty="0"/>
              </a:p>
              <a:p>
                <a:pPr lvl="0">
                  <a:buNone/>
                </a:pPr>
                <a:r>
                  <a:rPr sz="1800" b="1" dirty="0"/>
                  <a:t>Directional bivariate Moran’s \(I\):</a:t>
                </a:r>
                <a:endParaRPr sz="1800" dirty="0"/>
              </a:p>
              <a:p>
                <a:pPr>
                  <a:buNone/>
                </a:pPr>
                <a14:m>
                  <m:oMathPara xmlns:m="http://schemas.openxmlformats.org/officeDocument/2006/math">
                    <m:oMath>
                      <m:sSub>
                        <m:sSubPr>
                          <m:ctrlPr>
                            <a:rPr lang="en-US" sz="1800" i="1">
                              <a:latin typeface="Cambria Math"/>
                              <a:ea typeface="Cambria Math"/>
                              <a:cs typeface="Cambria Math"/>
                            </a:rPr>
                          </m:ctrlPr>
                        </m:sSubPr>
                        <m:e>
                          <m:r>
                            <a:rPr lang="en-US" sz="1800" i="1">
                              <a:latin typeface="Cambria Math"/>
                              <a:ea typeface="Cambria Math"/>
                              <a:cs typeface="Cambria Math"/>
                            </a:rPr>
                            <m:t>𝐼</m:t>
                          </m:r>
                        </m:e>
                        <m:sub>
                          <m:r>
                            <a:rPr lang="en-US" sz="1800" i="1">
                              <a:latin typeface="Cambria Math"/>
                              <a:ea typeface="Cambria Math"/>
                              <a:cs typeface="Cambria Math"/>
                            </a:rPr>
                            <m:t>𝑥</m:t>
                          </m:r>
                          <m:r>
                            <a:rPr lang="en-US" sz="1800" i="0">
                              <a:latin typeface="Cambria Math"/>
                              <a:ea typeface="Cambria Math"/>
                              <a:cs typeface="Cambria Math"/>
                            </a:rPr>
                            <m:t>→</m:t>
                          </m:r>
                          <m:r>
                            <a:rPr lang="en-US" sz="1800" i="1">
                              <a:latin typeface="Cambria Math"/>
                              <a:ea typeface="Cambria Math"/>
                              <a:cs typeface="Cambria Math"/>
                            </a:rPr>
                            <m:t>𝑦</m:t>
                          </m:r>
                        </m:sub>
                      </m:sSub>
                      <m:r>
                        <a:rPr lang="en-US" sz="1800" i="0">
                          <a:latin typeface="Cambria Math"/>
                          <a:ea typeface="Cambria Math"/>
                          <a:cs typeface="Cambria Math"/>
                        </a:rPr>
                        <m:t>=</m:t>
                      </m:r>
                      <m:f>
                        <m:fPr>
                          <m:ctrlPr>
                            <a:rPr lang="en-US" sz="1800" i="0">
                              <a:latin typeface="Cambria Math"/>
                              <a:ea typeface="Cambria Math"/>
                              <a:cs typeface="Cambria Math"/>
                            </a:rPr>
                          </m:ctrlPr>
                        </m:fPr>
                        <m:num>
                          <m:r>
                            <a:rPr lang="en-US" sz="1800" i="0">
                              <a:latin typeface="Cambria Math"/>
                              <a:ea typeface="Cambria Math"/>
                              <a:cs typeface="Cambria Math"/>
                            </a:rPr>
                            <m:t>1</m:t>
                          </m:r>
                        </m:num>
                        <m:den>
                          <m:sSub>
                            <m:sSubPr>
                              <m:ctrlPr>
                                <a:rPr lang="en-US" sz="1800" i="1">
                                  <a:latin typeface="Cambria Math"/>
                                  <a:ea typeface="Cambria Math"/>
                                  <a:cs typeface="Cambria Math"/>
                                </a:rPr>
                              </m:ctrlPr>
                            </m:sSubPr>
                            <m:e>
                              <m:r>
                                <a:rPr lang="en-US" sz="1800" i="1">
                                  <a:latin typeface="Cambria Math"/>
                                  <a:ea typeface="Cambria Math"/>
                                  <a:cs typeface="Cambria Math"/>
                                </a:rPr>
                                <m:t>𝑆</m:t>
                              </m:r>
                            </m:e>
                            <m:sub>
                              <m:r>
                                <a:rPr lang="en-US" sz="1800" i="0">
                                  <a:latin typeface="Cambria Math"/>
                                  <a:ea typeface="Cambria Math"/>
                                  <a:cs typeface="Cambria Math"/>
                                </a:rPr>
                                <m:t>0</m:t>
                              </m:r>
                            </m:sub>
                          </m:sSub>
                        </m:den>
                      </m:f>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𝑖</m:t>
                          </m:r>
                          <m:r>
                            <a:rPr lang="en-US" sz="1800" i="0">
                              <a:latin typeface="Cambria Math"/>
                              <a:ea typeface="Cambria Math"/>
                              <a:cs typeface="Cambria Math"/>
                            </a:rPr>
                            <m:t>=1</m:t>
                          </m:r>
                        </m:sub>
                        <m:sup>
                          <m:r>
                            <a:rPr lang="en-US" sz="1800" i="1">
                              <a:latin typeface="Cambria Math"/>
                              <a:ea typeface="Cambria Math"/>
                              <a:cs typeface="Cambria Math"/>
                            </a:rPr>
                            <m:t>𝑁</m:t>
                          </m:r>
                        </m:sup>
                        <m:e>
                          <m:nary>
                            <m:naryPr>
                              <m:chr m:val="∑"/>
                              <m:limLoc m:val="undOvr"/>
                              <m:ctrlPr>
                                <a:rPr lang="en-US" sz="1800" i="1">
                                  <a:latin typeface="Cambria Math"/>
                                  <a:ea typeface="Cambria Math"/>
                                  <a:cs typeface="Cambria Math"/>
                                </a:rPr>
                              </m:ctrlPr>
                            </m:naryPr>
                            <m:sub>
                              <m:r>
                                <a:rPr lang="en-US" sz="1800" i="1">
                                  <a:latin typeface="Cambria Math"/>
                                  <a:ea typeface="Cambria Math"/>
                                  <a:cs typeface="Cambria Math"/>
                                </a:rPr>
                                <m:t>𝑗</m:t>
                              </m:r>
                              <m:r>
                                <a:rPr lang="en-US" sz="1800" i="0">
                                  <a:latin typeface="Cambria Math"/>
                                  <a:ea typeface="Cambria Math"/>
                                  <a:cs typeface="Cambria Math"/>
                                </a:rPr>
                                <m:t>=1</m:t>
                              </m:r>
                            </m:sub>
                            <m:sup>
                              <m:r>
                                <a:rPr lang="en-US" sz="1800" i="1">
                                  <a:latin typeface="Cambria Math"/>
                                  <a:ea typeface="Cambria Math"/>
                                  <a:cs typeface="Cambria Math"/>
                                </a:rPr>
                                <m:t>𝑁</m:t>
                              </m:r>
                            </m:sup>
                            <m:e>
                              <m:sSub>
                                <m:sSubPr>
                                  <m:ctrlPr>
                                    <a:rPr lang="en-US" sz="1800" i="1">
                                      <a:latin typeface="Cambria Math"/>
                                      <a:ea typeface="Cambria Math"/>
                                      <a:cs typeface="Cambria Math"/>
                                    </a:rPr>
                                  </m:ctrlPr>
                                </m:sSubPr>
                                <m:e>
                                  <m:r>
                                    <a:rPr lang="en-US" sz="1800" i="1">
                                      <a:latin typeface="Cambria Math"/>
                                      <a:ea typeface="Cambria Math"/>
                                      <a:cs typeface="Cambria Math"/>
                                    </a:rPr>
                                    <m:t>𝑤</m:t>
                                  </m:r>
                                </m:e>
                                <m:sub>
                                  <m:r>
                                    <a:rPr lang="en-US" sz="1800" i="1">
                                      <a:latin typeface="Cambria Math"/>
                                      <a:ea typeface="Cambria Math"/>
                                      <a:cs typeface="Cambria Math"/>
                                    </a:rPr>
                                    <m:t>𝑖𝑗</m:t>
                                  </m:r>
                                </m:sub>
                              </m:sSub>
                            </m:e>
                          </m:nary>
                        </m:e>
                      </m:nary>
                      <m:sSubSup>
                        <m:sSubSupPr>
                          <m:ctrlPr>
                            <a:rPr lang="en-US" sz="1800" i="1">
                              <a:latin typeface="Cambria Math"/>
                              <a:ea typeface="Cambria Math"/>
                              <a:cs typeface="Cambria Math"/>
                            </a:rPr>
                          </m:ctrlPr>
                        </m:sSubSupPr>
                        <m:e>
                          <m:r>
                            <a:rPr lang="en-US" sz="1800" i="1">
                              <a:latin typeface="Cambria Math"/>
                              <a:ea typeface="Cambria Math"/>
                              <a:cs typeface="Cambria Math"/>
                            </a:rPr>
                            <m:t>𝑧</m:t>
                          </m:r>
                        </m:e>
                        <m:sub>
                          <m:r>
                            <a:rPr lang="en-US" sz="1800" i="1">
                              <a:latin typeface="Cambria Math"/>
                              <a:ea typeface="Cambria Math"/>
                              <a:cs typeface="Cambria Math"/>
                            </a:rPr>
                            <m:t>𝑖</m:t>
                          </m:r>
                        </m:sub>
                        <m:sup>
                          <m:r>
                            <a:rPr lang="en-US" sz="1800" i="1">
                              <a:latin typeface="Cambria Math"/>
                              <a:ea typeface="Cambria Math"/>
                              <a:cs typeface="Cambria Math"/>
                            </a:rPr>
                            <m:t>𝑥</m:t>
                          </m:r>
                        </m:sup>
                      </m:sSubSup>
                      <m:sSubSup>
                        <m:sSubSupPr>
                          <m:ctrlPr>
                            <a:rPr lang="en-US" sz="1800" i="1">
                              <a:latin typeface="Cambria Math"/>
                              <a:ea typeface="Cambria Math"/>
                              <a:cs typeface="Cambria Math"/>
                            </a:rPr>
                          </m:ctrlPr>
                        </m:sSubSupPr>
                        <m:e>
                          <m:r>
                            <a:rPr lang="en-US" sz="1800" i="1">
                              <a:latin typeface="Cambria Math"/>
                              <a:ea typeface="Cambria Math"/>
                              <a:cs typeface="Cambria Math"/>
                            </a:rPr>
                            <m:t>𝑧</m:t>
                          </m:r>
                        </m:e>
                        <m:sub>
                          <m:r>
                            <a:rPr lang="en-US" sz="1800" i="1">
                              <a:latin typeface="Cambria Math"/>
                              <a:ea typeface="Cambria Math"/>
                              <a:cs typeface="Cambria Math"/>
                            </a:rPr>
                            <m:t>𝑗</m:t>
                          </m:r>
                        </m:sub>
                        <m:sup>
                          <m:r>
                            <a:rPr lang="en-US" sz="1800" i="1">
                              <a:latin typeface="Cambria Math"/>
                              <a:ea typeface="Cambria Math"/>
                              <a:cs typeface="Cambria Math"/>
                            </a:rPr>
                            <m:t>𝑦</m:t>
                          </m:r>
                        </m:sup>
                      </m:sSubSup>
                    </m:oMath>
                  </m:oMathPara>
                </a14:m>
                <a:endParaRPr sz="1800" dirty="0"/>
              </a:p>
              <a:p>
                <a:pPr lvl="0">
                  <a:buNone/>
                </a:pPr>
                <a:r>
                  <a:rPr sz="1800" b="1" dirty="0"/>
                  <a:t>Positive spatial association:</a:t>
                </a:r>
                <a:endParaRPr sz="1800" dirty="0"/>
              </a:p>
              <a:p>
                <a:pPr>
                  <a:buNone/>
                </a:pPr>
                <a14:m>
                  <m:oMathPara xmlns:m="http://schemas.openxmlformats.org/officeDocument/2006/math">
                    <m:oMath>
                      <m:sSub>
                        <m:sSubPr>
                          <m:ctrlPr>
                            <a:rPr lang="en-US" sz="1800" i="1">
                              <a:latin typeface="Cambria Math"/>
                              <a:ea typeface="Cambria Math"/>
                              <a:cs typeface="Cambria Math"/>
                            </a:rPr>
                          </m:ctrlPr>
                        </m:sSubPr>
                        <m:e>
                          <m:r>
                            <a:rPr lang="en-US" sz="1800" i="1">
                              <a:latin typeface="Cambria Math"/>
                              <a:ea typeface="Cambria Math"/>
                              <a:cs typeface="Cambria Math"/>
                            </a:rPr>
                            <m:t>𝐼</m:t>
                          </m:r>
                        </m:e>
                        <m:sub>
                          <m:r>
                            <a:rPr lang="en-US" sz="1800" i="1">
                              <a:latin typeface="Cambria Math"/>
                              <a:ea typeface="Cambria Math"/>
                              <a:cs typeface="Cambria Math"/>
                            </a:rPr>
                            <m:t>𝑥</m:t>
                          </m:r>
                          <m:r>
                            <a:rPr lang="en-US" sz="1800" i="0">
                              <a:latin typeface="Cambria Math"/>
                              <a:ea typeface="Cambria Math"/>
                              <a:cs typeface="Cambria Math"/>
                            </a:rPr>
                            <m:t>→</m:t>
                          </m:r>
                          <m:r>
                            <a:rPr lang="en-US" sz="1800" i="1">
                              <a:latin typeface="Cambria Math"/>
                              <a:ea typeface="Cambria Math"/>
                              <a:cs typeface="Cambria Math"/>
                            </a:rPr>
                            <m:t>𝑦</m:t>
                          </m:r>
                        </m:sub>
                      </m:sSub>
                      <m:r>
                        <a:rPr lang="en-US" sz="1800" i="0">
                          <a:latin typeface="Cambria Math"/>
                          <a:ea typeface="Cambria Math"/>
                          <a:cs typeface="Cambria Math"/>
                        </a:rPr>
                        <m:t>&gt;0</m:t>
                      </m:r>
                    </m:oMath>
                  </m:oMathPara>
                </a14:m>
                <a:endParaRPr sz="1800" dirty="0"/>
              </a:p>
              <a:p>
                <a:pPr lvl="0">
                  <a:buNone/>
                </a:pPr>
                <a:r>
                  <a:rPr sz="1800" dirty="0"/>
                  <a:t>indicates that high values of </a:t>
                </a:r>
                <a14:m>
                  <m:oMath xmlns:m="http://schemas.openxmlformats.org/officeDocument/2006/math">
                    <m:r>
                      <a:rPr lang="en-US" sz="1800" i="1">
                        <a:latin typeface="Cambria Math"/>
                        <a:ea typeface="Cambria Math"/>
                        <a:cs typeface="Cambria Math"/>
                      </a:rPr>
                      <m:t>𝑥</m:t>
                    </m:r>
                    <m:r>
                      <a:rPr lang="en-US" sz="1800" b="0" i="1">
                        <a:latin typeface="Cambria Math"/>
                        <a:ea typeface="Cambria Math"/>
                        <a:cs typeface="Cambria Math"/>
                      </a:rPr>
                      <m:t> </m:t>
                    </m:r>
                  </m:oMath>
                </a14:m>
                <a:r>
                  <a:rPr sz="1800" dirty="0"/>
                  <a:t>tend to neighbor high values of </a:t>
                </a:r>
                <a14:m>
                  <m:oMath xmlns:m="http://schemas.openxmlformats.org/officeDocument/2006/math">
                    <m:r>
                      <a:rPr lang="en-US" sz="1800" i="1">
                        <a:latin typeface="Cambria Math"/>
                        <a:ea typeface="Cambria Math"/>
                        <a:cs typeface="Cambria Math"/>
                      </a:rPr>
                      <m:t>𝑦</m:t>
                    </m:r>
                  </m:oMath>
                </a14:m>
                <a:r>
                  <a:rPr sz="1800" dirty="0"/>
                  <a:t>, while low values of </a:t>
                </a:r>
                <a14:m>
                  <m:oMath xmlns:m="http://schemas.openxmlformats.org/officeDocument/2006/math">
                    <m:r>
                      <a:rPr lang="en-US" sz="1800" i="1">
                        <a:latin typeface="Cambria Math"/>
                        <a:ea typeface="Cambria Math"/>
                        <a:cs typeface="Cambria Math"/>
                      </a:rPr>
                      <m:t>𝑥</m:t>
                    </m:r>
                  </m:oMath>
                </a14:m>
                <a:r>
                  <a:rPr sz="1800" dirty="0"/>
                  <a:t> tend to neighbor low values of </a:t>
                </a:r>
                <a14:m>
                  <m:oMath xmlns:m="http://schemas.openxmlformats.org/officeDocument/2006/math">
                    <m:r>
                      <a:rPr lang="en-US" sz="1800" i="1">
                        <a:latin typeface="Cambria Math"/>
                        <a:ea typeface="Cambria Math"/>
                        <a:cs typeface="Cambria Math"/>
                      </a:rPr>
                      <m:t>𝑦</m:t>
                    </m:r>
                    <m:r>
                      <a:rPr lang="en-US" sz="1800" i="1">
                        <a:latin typeface="Cambria Math"/>
                        <a:ea typeface="Cambria Math"/>
                        <a:cs typeface="Cambria Math"/>
                      </a:rPr>
                      <m:t>.</m:t>
                    </m:r>
                  </m:oMath>
                </a14:m>
                <a:endParaRPr sz="1800" b="0" dirty="0"/>
              </a:p>
            </p:txBody>
          </p:sp>
        </mc:Choice>
        <mc:Fallback xmlns="">
          <p:sp>
            <p:nvSpPr>
              <p:cNvPr id="4" name="Text Placeholder 3">
                <a:extLst>
                  <a:ext uri="{FF2B5EF4-FFF2-40B4-BE49-F238E27FC236}">
                    <a16:creationId xmlns:a16="http://schemas.microsoft.com/office/drawing/2014/main" id="{78311BF9-7ADE-C059-C0C7-E7BE25630F9B}"/>
                  </a:ext>
                </a:extLst>
              </p:cNvPr>
              <p:cNvSpPr>
                <a:spLocks noGrp="1" noRot="1" noChangeAspect="1" noMove="1" noResize="1" noEditPoints="1" noAdjustHandles="1" noChangeArrowheads="1" noChangeShapeType="1" noTextEdit="1"/>
              </p:cNvSpPr>
              <p:nvPr>
                <p:ph type="body" idx="10"/>
              </p:nvPr>
            </p:nvSpPr>
            <p:spPr>
              <a:xfrm>
                <a:off x="991699" y="1655550"/>
                <a:ext cx="10758375" cy="4329614"/>
              </a:xfrm>
              <a:blipFill>
                <a:blip r:embed="rId3"/>
                <a:stretch>
                  <a:fillRect l="-1415" t="-4678" r="-1533"/>
                </a:stretch>
              </a:blipFill>
            </p:spPr>
            <p:txBody>
              <a:bodyPr/>
              <a:lstStyle/>
              <a:p>
                <a:r>
                  <a:rPr lang="en-US">
                    <a:noFill/>
                  </a:rPr>
                  <a:t> </a:t>
                </a:r>
              </a:p>
            </p:txBody>
          </p:sp>
        </mc:Fallback>
      </mc:AlternateContent>
    </p:spTree>
    <p:extLst>
      <p:ext uri="{BB962C8B-B14F-4D97-AF65-F5344CB8AC3E}">
        <p14:creationId xmlns:p14="http://schemas.microsoft.com/office/powerpoint/2010/main" val="3318548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DCC043-EAA3-1C1E-615F-EF4D768D5296}"/>
              </a:ext>
            </a:extLst>
          </p:cNvPr>
          <p:cNvSpPr>
            <a:spLocks noGrp="1"/>
          </p:cNvSpPr>
          <p:nvPr>
            <p:ph type="body" idx="15"/>
          </p:nvPr>
        </p:nvSpPr>
        <p:spPr/>
        <p:txBody>
          <a:bodyPr lIns="0" tIns="45720" rIns="0" bIns="45720">
            <a:normAutofit fontScale="70714" lnSpcReduction="20000"/>
          </a:bodyPr>
          <a:lstStyle/>
          <a:p>
            <a:pPr algn="l">
              <a:buNone/>
              <a:defRPr sz="3735" b="1">
                <a:solidFill>
                  <a:schemeClr val="accent1"/>
                </a:solidFill>
                <a:latin typeface="Arial"/>
                <a:ea typeface="Arial"/>
                <a:cs typeface="Arial"/>
              </a:defRPr>
            </a:pPr>
            <a:r>
              <a:rPr sz="3735" b="1" dirty="0">
                <a:solidFill>
                  <a:schemeClr val="accent1"/>
                </a:solidFill>
                <a:latin typeface="Arial"/>
                <a:ea typeface="Arial"/>
                <a:cs typeface="Arial"/>
              </a:rPr>
              <a:t>Reproducible inference preserves preprocessing and label order</a:t>
            </a:r>
          </a:p>
        </p:txBody>
      </p:sp>
      <p:sp>
        <p:nvSpPr>
          <p:cNvPr id="3" name="Text Placeholder 2">
            <a:extLst>
              <a:ext uri="{FF2B5EF4-FFF2-40B4-BE49-F238E27FC236}">
                <a16:creationId xmlns:a16="http://schemas.microsoft.com/office/drawing/2014/main" id="{DCD607CA-7281-8581-6BD7-4E786461BE6C}"/>
              </a:ext>
            </a:extLst>
          </p:cNvPr>
          <p:cNvSpPr>
            <a:spLocks noGrp="1"/>
          </p:cNvSpPr>
          <p:nvPr>
            <p:ph type="body" idx="14"/>
          </p:nvPr>
        </p:nvSpPr>
        <p:spPr/>
        <p:txBody>
          <a:bodyPr/>
          <a:lstStyle/>
          <a:p>
            <a:r>
              <a:t>Zeyuan Meng, MS — Intelligent Systems Program </a:t>
            </a:r>
          </a:p>
        </p:txBody>
      </p:sp>
      <p:sp>
        <p:nvSpPr>
          <p:cNvPr id="4" name="Text Placeholder 3">
            <a:extLst>
              <a:ext uri="{FF2B5EF4-FFF2-40B4-BE49-F238E27FC236}">
                <a16:creationId xmlns:a16="http://schemas.microsoft.com/office/drawing/2014/main" id="{130C52C7-4F6F-40A5-5DBD-FD4090E2DC58}"/>
              </a:ext>
            </a:extLst>
          </p:cNvPr>
          <p:cNvSpPr>
            <a:spLocks noGrp="1"/>
          </p:cNvSpPr>
          <p:nvPr>
            <p:ph type="body" idx="10"/>
          </p:nvPr>
        </p:nvSpPr>
        <p:spPr>
          <a:xfrm>
            <a:off x="991699" y="1655550"/>
            <a:ext cx="10758375" cy="3807265"/>
          </a:xfrm>
        </p:spPr>
        <p:txBody>
          <a:bodyPr lIns="0" tIns="45720" rIns="0" bIns="45720" anchor="ctr">
            <a:normAutofit/>
          </a:bodyPr>
          <a:lstStyle/>
          <a:p>
            <a:pPr marL="14" indent="0" algn="l">
              <a:spcAft>
                <a:spcPts val="7"/>
              </a:spcAft>
              <a:defRPr sz="2400">
                <a:solidFill>
                  <a:schemeClr val="tx1"/>
                </a:solidFill>
                <a:latin typeface="Arial"/>
                <a:ea typeface="Arial"/>
                <a:cs typeface="Arial"/>
              </a:defRPr>
            </a:pPr>
            <a:r>
              <a:rPr sz="1800" dirty="0">
                <a:solidFill>
                  <a:schemeClr val="tx1"/>
                </a:solidFill>
                <a:latin typeface="Arial"/>
                <a:ea typeface="Arial"/>
                <a:cs typeface="Arial"/>
              </a:rPr>
              <a:t>Construct </a:t>
            </a:r>
            <a:r>
              <a:rPr sz="1800" dirty="0" err="1">
                <a:solidFill>
                  <a:schemeClr val="tx1"/>
                </a:solidFill>
                <a:latin typeface="Arial"/>
                <a:ea typeface="Arial"/>
                <a:cs typeface="Arial"/>
              </a:rPr>
              <a:t>AnnData</a:t>
            </a:r>
            <a:r>
              <a:rPr sz="1800" dirty="0">
                <a:solidFill>
                  <a:schemeClr val="tx1"/>
                </a:solidFill>
                <a:latin typeface="Arial"/>
                <a:ea typeface="Arial"/>
                <a:cs typeface="Arial"/>
              </a:rPr>
              <a:t> with counts, barcode-indexed metadata, and spatial coordinates.</a:t>
            </a:r>
          </a:p>
          <a:p>
            <a:pPr marL="14" indent="0" algn="l">
              <a:spcAft>
                <a:spcPts val="7"/>
              </a:spcAft>
              <a:defRPr sz="2400">
                <a:solidFill>
                  <a:schemeClr val="tx1"/>
                </a:solidFill>
                <a:latin typeface="Arial"/>
                <a:ea typeface="Arial"/>
                <a:cs typeface="Arial"/>
              </a:defRPr>
            </a:pPr>
            <a:r>
              <a:rPr sz="1800" dirty="0">
                <a:solidFill>
                  <a:schemeClr val="tx1"/>
                </a:solidFill>
                <a:latin typeface="Arial"/>
                <a:ea typeface="Arial"/>
                <a:cs typeface="Arial"/>
              </a:rPr>
              <a:t>Apply </a:t>
            </a:r>
            <a:r>
              <a:rPr sz="1800" dirty="0" err="1">
                <a:solidFill>
                  <a:schemeClr val="tx1"/>
                </a:solidFill>
                <a:latin typeface="Arial"/>
                <a:ea typeface="Arial"/>
                <a:cs typeface="Arial"/>
              </a:rPr>
              <a:t>fill_genes</a:t>
            </a:r>
            <a:r>
              <a:rPr sz="1800" dirty="0">
                <a:solidFill>
                  <a:schemeClr val="tx1"/>
                </a:solidFill>
                <a:latin typeface="Arial"/>
                <a:ea typeface="Arial"/>
                <a:cs typeface="Arial"/>
              </a:rPr>
              <a:t> → </a:t>
            </a:r>
            <a:r>
              <a:rPr sz="1800" dirty="0" err="1">
                <a:solidFill>
                  <a:schemeClr val="tx1"/>
                </a:solidFill>
                <a:latin typeface="Arial"/>
                <a:ea typeface="Arial"/>
                <a:cs typeface="Arial"/>
              </a:rPr>
              <a:t>preprocess_ST</a:t>
            </a:r>
            <a:r>
              <a:rPr sz="1800" dirty="0">
                <a:solidFill>
                  <a:schemeClr val="tx1"/>
                </a:solidFill>
                <a:latin typeface="Arial"/>
                <a:ea typeface="Arial"/>
                <a:cs typeface="Arial"/>
              </a:rPr>
              <a:t> → </a:t>
            </a:r>
            <a:r>
              <a:rPr sz="1800" dirty="0" err="1">
                <a:solidFill>
                  <a:schemeClr val="tx1"/>
                </a:solidFill>
                <a:latin typeface="Arial"/>
                <a:ea typeface="Arial"/>
                <a:cs typeface="Arial"/>
              </a:rPr>
              <a:t>protein_predict</a:t>
            </a:r>
            <a:r>
              <a:rPr sz="1800" dirty="0">
                <a:solidFill>
                  <a:schemeClr val="tx1"/>
                </a:solidFill>
                <a:latin typeface="Arial"/>
                <a:ea typeface="Arial"/>
                <a:cs typeface="Arial"/>
              </a:rPr>
              <a:t> in the recorded order.</a:t>
            </a:r>
          </a:p>
          <a:p>
            <a:pPr marL="14" indent="0" algn="l">
              <a:spcAft>
                <a:spcPts val="7"/>
              </a:spcAft>
              <a:defRPr sz="2400">
                <a:solidFill>
                  <a:schemeClr val="tx1"/>
                </a:solidFill>
                <a:latin typeface="Arial"/>
                <a:ea typeface="Arial"/>
                <a:cs typeface="Arial"/>
              </a:defRPr>
            </a:pPr>
            <a:r>
              <a:rPr sz="1800" dirty="0">
                <a:solidFill>
                  <a:schemeClr val="tx1"/>
                </a:solidFill>
                <a:latin typeface="Arial"/>
                <a:ea typeface="Arial"/>
                <a:cs typeface="Arial"/>
              </a:rPr>
              <a:t>Use evaluation mode and no-gradient inference with the matching checkpoint.</a:t>
            </a:r>
          </a:p>
          <a:p>
            <a:pPr marL="34" indent="-20" algn="l">
              <a:spcAft>
                <a:spcPts val="7"/>
              </a:spcAft>
              <a:buChar char="•"/>
              <a:defRPr sz="2400">
                <a:solidFill>
                  <a:schemeClr val="tx1"/>
                </a:solidFill>
                <a:latin typeface="Arial"/>
                <a:ea typeface="Arial"/>
                <a:cs typeface="Arial"/>
              </a:defRPr>
            </a:pPr>
            <a:r>
              <a:rPr sz="1800" dirty="0">
                <a:solidFill>
                  <a:schemeClr val="tx1"/>
                </a:solidFill>
                <a:latin typeface="Arial"/>
                <a:ea typeface="Arial"/>
                <a:cs typeface="Arial"/>
              </a:rPr>
              <a:t>Reindex outputs to the expected spot and 31-protein label order.</a:t>
            </a:r>
          </a:p>
          <a:p>
            <a:pPr marL="34" indent="-20" algn="l">
              <a:spcAft>
                <a:spcPts val="7"/>
              </a:spcAft>
              <a:buChar char="•"/>
              <a:defRPr sz="2400">
                <a:solidFill>
                  <a:schemeClr val="tx1"/>
                </a:solidFill>
                <a:latin typeface="Arial"/>
                <a:ea typeface="Arial"/>
                <a:cs typeface="Arial"/>
              </a:defRPr>
            </a:pPr>
            <a:r>
              <a:rPr sz="1800" dirty="0">
                <a:solidFill>
                  <a:schemeClr val="tx1"/>
                </a:solidFill>
                <a:latin typeface="Arial"/>
                <a:ea typeface="Arial"/>
                <a:cs typeface="Arial"/>
              </a:rPr>
              <a:t>Record software versions, device, checkpoint hash, and preprocessing parameters.</a:t>
            </a:r>
          </a:p>
        </p:txBody>
      </p:sp>
      <p:sp>
        <p:nvSpPr>
          <p:cNvPr id="5" name="Slide Number Placeholder 4">
            <a:extLst>
              <a:ext uri="{FF2B5EF4-FFF2-40B4-BE49-F238E27FC236}">
                <a16:creationId xmlns:a16="http://schemas.microsoft.com/office/drawing/2014/main" id="{B2207588-4090-B0C0-793F-CEDAE9FA1421}"/>
              </a:ext>
            </a:extLst>
          </p:cNvPr>
          <p:cNvSpPr>
            <a:spLocks noGrp="1"/>
          </p:cNvSpPr>
          <p:nvPr>
            <p:ph type="sldNum" idx="4"/>
          </p:nvPr>
        </p:nvSpPr>
        <p:spPr/>
        <p:txBody>
          <a:bodyPr lIns="91440" tIns="45720" rIns="91440" bIns="45720" anchor="ctr"/>
          <a:lstStyle/>
          <a:p>
            <a:pPr algn="r">
              <a:buNone/>
              <a:defRPr sz="1200" b="1">
                <a:solidFill>
                  <a:schemeClr val="accent2"/>
                </a:solidFill>
                <a:latin typeface="Arial"/>
                <a:ea typeface="Arial"/>
                <a:cs typeface="Arial"/>
              </a:defRPr>
            </a:pPr>
            <a:r>
              <a:rPr sz="1200" b="1">
                <a:solidFill>
                  <a:schemeClr val="accent2"/>
                </a:solidFill>
                <a:latin typeface="Arial"/>
                <a:ea typeface="Arial"/>
                <a:cs typeface="Arial"/>
              </a:rPr>
              <a:t>Slide 83</a:t>
            </a:r>
          </a:p>
        </p:txBody>
      </p:sp>
    </p:spTree>
    <p:extLst>
      <p:ext uri="{BB962C8B-B14F-4D97-AF65-F5344CB8AC3E}">
        <p14:creationId xmlns:p14="http://schemas.microsoft.com/office/powerpoint/2010/main" val="3785343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AE55C4-2F73-726B-FA14-48FEC14D0FEB}"/>
              </a:ext>
            </a:extLst>
          </p:cNvPr>
          <p:cNvSpPr>
            <a:spLocks noGrp="1"/>
          </p:cNvSpPr>
          <p:nvPr>
            <p:ph type="body" idx="15"/>
          </p:nvPr>
        </p:nvSpPr>
        <p:spPr/>
        <p:txBody>
          <a:bodyPr/>
          <a:lstStyle/>
          <a:p>
            <a:r>
              <a:rPr lang="en-US" dirty="0"/>
              <a:t>Appendix</a:t>
            </a:r>
          </a:p>
        </p:txBody>
      </p:sp>
      <p:sp>
        <p:nvSpPr>
          <p:cNvPr id="3" name="Text Placeholder 2">
            <a:extLst>
              <a:ext uri="{FF2B5EF4-FFF2-40B4-BE49-F238E27FC236}">
                <a16:creationId xmlns:a16="http://schemas.microsoft.com/office/drawing/2014/main" id="{312B0C28-FFB1-44D1-15DC-21A173147D20}"/>
              </a:ext>
            </a:extLst>
          </p:cNvPr>
          <p:cNvSpPr>
            <a:spLocks noGrp="1"/>
          </p:cNvSpPr>
          <p:nvPr>
            <p:ph type="body" idx="14"/>
          </p:nvPr>
        </p:nvSpPr>
        <p:spPr/>
        <p:txBody>
          <a:bodyPr/>
          <a:lstStyle/>
          <a:p>
            <a:endParaRPr lang="en-US"/>
          </a:p>
        </p:txBody>
      </p:sp>
      <p:sp>
        <p:nvSpPr>
          <p:cNvPr id="4" name="Text Placeholder 3">
            <a:extLst>
              <a:ext uri="{FF2B5EF4-FFF2-40B4-BE49-F238E27FC236}">
                <a16:creationId xmlns:a16="http://schemas.microsoft.com/office/drawing/2014/main" id="{4E61535D-EBC8-9FC5-54EF-6897FFBD87AE}"/>
              </a:ext>
            </a:extLst>
          </p:cNvPr>
          <p:cNvSpPr>
            <a:spLocks noGrp="1"/>
          </p:cNvSpPr>
          <p:nvPr>
            <p:ph type="body" idx="10"/>
          </p:nvPr>
        </p:nvSpPr>
        <p:spPr/>
        <p:txBody>
          <a:bodyPr/>
          <a:lstStyle/>
          <a:p>
            <a:endParaRPr lang="en-US"/>
          </a:p>
        </p:txBody>
      </p:sp>
      <p:sp>
        <p:nvSpPr>
          <p:cNvPr id="5" name="Slide Number Placeholder 4">
            <a:extLst>
              <a:ext uri="{FF2B5EF4-FFF2-40B4-BE49-F238E27FC236}">
                <a16:creationId xmlns:a16="http://schemas.microsoft.com/office/drawing/2014/main" id="{F1D52F44-DD3E-E33F-19E0-0AFEE5637077}"/>
              </a:ext>
            </a:extLst>
          </p:cNvPr>
          <p:cNvSpPr>
            <a:spLocks noGrp="1"/>
          </p:cNvSpPr>
          <p:nvPr>
            <p:ph type="sldNum" idx="4"/>
          </p:nvPr>
        </p:nvSpPr>
        <p:spPr/>
        <p:txBody>
          <a:bodyPr/>
          <a:lstStyle/>
          <a:p>
            <a:r>
              <a:rPr lang="en-US" b="1">
                <a:solidFill>
                  <a:schemeClr val="accent2"/>
                </a:solidFill>
                <a:latin typeface="Arial"/>
                <a:ea typeface="Arial"/>
                <a:cs typeface="Arial"/>
              </a:rPr>
              <a:t>Slide </a:t>
            </a:r>
            <a:fld id="{7CD06EFF-F9A5-9E40-A502-3D98189BE54D}" type="slidenum">
              <a:rPr b="1" smtClean="0">
                <a:solidFill>
                  <a:schemeClr val="accent2"/>
                </a:solidFill>
                <a:latin typeface="Arial"/>
                <a:ea typeface="Arial"/>
                <a:cs typeface="Arial"/>
              </a:rPr>
              <a:t>21</a:t>
            </a:fld>
            <a:endParaRPr b="1">
              <a:solidFill>
                <a:schemeClr val="accent2"/>
              </a:solidFill>
              <a:latin typeface="Arial"/>
              <a:ea typeface="Arial"/>
              <a:cs typeface="Arial"/>
            </a:endParaRPr>
          </a:p>
        </p:txBody>
      </p:sp>
    </p:spTree>
    <p:extLst>
      <p:ext uri="{BB962C8B-B14F-4D97-AF65-F5344CB8AC3E}">
        <p14:creationId xmlns:p14="http://schemas.microsoft.com/office/powerpoint/2010/main" val="4239984595"/>
      </p:ext>
    </p:extLst>
  </p:cSld>
  <p:clrMapOvr>
    <a:masterClrMapping/>
  </p:clrMapOvr>
</p:sld>
</file>

<file path=ppt/theme/theme1.xml><?xml version="1.0" encoding="utf-8"?>
<a:theme xmlns:a="http://schemas.openxmlformats.org/drawingml/2006/main" name="Office Theme">
  <a:themeElements>
    <a:clrScheme name="Custom 3">
      <a:dk1>
        <a:srgbClr val="000000"/>
      </a:dk1>
      <a:lt1>
        <a:srgbClr val="FFFFFF"/>
      </a:lt1>
      <a:dk2>
        <a:srgbClr val="75787B"/>
      </a:dk2>
      <a:lt2>
        <a:srgbClr val="E7E6E6"/>
      </a:lt2>
      <a:accent1>
        <a:srgbClr val="003493"/>
      </a:accent1>
      <a:accent2>
        <a:srgbClr val="FFB81C"/>
      </a:accent2>
      <a:accent3>
        <a:srgbClr val="B87333"/>
      </a:accent3>
      <a:accent4>
        <a:srgbClr val="D6E3E8"/>
      </a:accent4>
      <a:accent5>
        <a:srgbClr val="000000"/>
      </a:accent5>
      <a:accent6>
        <a:srgbClr val="000000"/>
      </a:accent6>
      <a:hlink>
        <a:srgbClr val="000000"/>
      </a:hlink>
      <a:folHlink>
        <a:srgbClr val="00000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3">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Custom 3">
      <a:dk1>
        <a:srgbClr val="000000"/>
      </a:dk1>
      <a:lt1>
        <a:srgbClr val="FFFFFF"/>
      </a:lt1>
      <a:dk2>
        <a:srgbClr val="75787B"/>
      </a:dk2>
      <a:lt2>
        <a:srgbClr val="E7E6E6"/>
      </a:lt2>
      <a:accent1>
        <a:srgbClr val="003493"/>
      </a:accent1>
      <a:accent2>
        <a:srgbClr val="FFB81C"/>
      </a:accent2>
      <a:accent3>
        <a:srgbClr val="B87333"/>
      </a:accent3>
      <a:accent4>
        <a:srgbClr val="D6E3E8"/>
      </a:accent4>
      <a:accent5>
        <a:srgbClr val="000000"/>
      </a:accent5>
      <a:accent6>
        <a:srgbClr val="000000"/>
      </a:accent6>
      <a:hlink>
        <a:srgbClr val="000000"/>
      </a:hlink>
      <a:folHlink>
        <a:srgbClr val="00000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3">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TotalTime>
  <Words>4879</Words>
  <Application>Microsoft Macintosh PowerPoint</Application>
  <DocSecurity>0</DocSecurity>
  <PresentationFormat>Widescreen</PresentationFormat>
  <Paragraphs>314</Paragraphs>
  <Slides>21</Slides>
  <Notes>20</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MENG Zeyuan</cp:lastModifiedBy>
  <cp:revision>17</cp:revision>
  <dcterms:created xsi:type="dcterms:W3CDTF">2026-09-02T14:59:07Z</dcterms:created>
  <dcterms:modified xsi:type="dcterms:W3CDTF">2026-09-02T22:34:09Z</dcterms:modified>
</cp:coreProperties>
</file>