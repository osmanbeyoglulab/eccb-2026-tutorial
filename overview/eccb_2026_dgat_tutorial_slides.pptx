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20b2ff6df74f0a" /><Relationship Type="http://schemas.openxmlformats.org/officeDocument/2006/relationships/extended-properties" Target="/docProps/app.xml" Id="R0aa594e28c024117" /><Relationship Type="http://schemas.openxmlformats.org/officeDocument/2006/relationships/officeDocument" Target="/ppt/presentation.xml" Id="Rc5807fd3e8904e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af2db2d7b041e4"/>
  </p:sldMasterIdLst>
  <p:notesMasterIdLst>
    <p:notesMasterId xmlns:r="http://schemas.openxmlformats.org/officeDocument/2006/relationships" r:id="R5255eaf8bbc54a03"/>
  </p:notesMasterIdLst>
  <p:sldIdLst>
    <p:sldId xmlns:r="http://schemas.openxmlformats.org/officeDocument/2006/relationships" id="256" r:id="R9ac9af1c8a0e4180"/>
    <p:sldId xmlns:r="http://schemas.openxmlformats.org/officeDocument/2006/relationships" id="257" r:id="R1b25516d4e254271"/>
    <p:sldId xmlns:r="http://schemas.openxmlformats.org/officeDocument/2006/relationships" id="258" r:id="Rb52d4ff2ccce47d7"/>
    <p:sldId xmlns:r="http://schemas.openxmlformats.org/officeDocument/2006/relationships" id="259" r:id="Rf6f34d2039f84c5c"/>
    <p:sldId xmlns:r="http://schemas.openxmlformats.org/officeDocument/2006/relationships" id="260" r:id="R8307a792d54a4796"/>
    <p:sldId xmlns:r="http://schemas.openxmlformats.org/officeDocument/2006/relationships" id="261" r:id="Rff9275fa9afb4c35"/>
    <p:sldId xmlns:r="http://schemas.openxmlformats.org/officeDocument/2006/relationships" id="262" r:id="Rd83062414e514b02"/>
    <p:sldId xmlns:r="http://schemas.openxmlformats.org/officeDocument/2006/relationships" id="263" r:id="Rfe866d7efb3d4385"/>
    <p:sldId xmlns:r="http://schemas.openxmlformats.org/officeDocument/2006/relationships" id="264" r:id="R76d152943b1345c1"/>
    <p:sldId xmlns:r="http://schemas.openxmlformats.org/officeDocument/2006/relationships" id="265" r:id="R5756b073445c4acd"/>
    <p:sldId xmlns:r="http://schemas.openxmlformats.org/officeDocument/2006/relationships" id="266" r:id="Rc50a89fc3dd64d7c"/>
    <p:sldId xmlns:r="http://schemas.openxmlformats.org/officeDocument/2006/relationships" id="267" r:id="R6587a601dbfd44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4a5e5a789a43e0" /><Relationship Type="http://schemas.openxmlformats.org/officeDocument/2006/relationships/slideMaster" Target="/ppt/slideMasters/slideMaster1.xml" Id="R26af2db2d7b041e4" /><Relationship Type="http://schemas.openxmlformats.org/officeDocument/2006/relationships/notesMaster" Target="/ppt/notesMasters/notesMaster1.xml" Id="R5255eaf8bbc54a03" /><Relationship Type="http://schemas.openxmlformats.org/officeDocument/2006/relationships/presProps" Target="/ppt/presProps.xml" Id="Re90c431073a34ff8" /><Relationship Type="http://schemas.openxmlformats.org/officeDocument/2006/relationships/tableStyles" Target="/ppt/tableStyles.xml" Id="Rb4934c5ab78d4424" /><Relationship Type="http://schemas.openxmlformats.org/officeDocument/2006/relationships/slide" Target="/ppt/slides/slide1.xml" Id="R9ac9af1c8a0e4180" /><Relationship Type="http://schemas.openxmlformats.org/officeDocument/2006/relationships/slide" Target="/ppt/slides/slide2.xml" Id="R1b25516d4e254271" /><Relationship Type="http://schemas.openxmlformats.org/officeDocument/2006/relationships/slide" Target="/ppt/slides/slide3.xml" Id="Rb52d4ff2ccce47d7" /><Relationship Type="http://schemas.openxmlformats.org/officeDocument/2006/relationships/slide" Target="/ppt/slides/slide4.xml" Id="Rf6f34d2039f84c5c" /><Relationship Type="http://schemas.openxmlformats.org/officeDocument/2006/relationships/slide" Target="/ppt/slides/slide5.xml" Id="R8307a792d54a4796" /><Relationship Type="http://schemas.openxmlformats.org/officeDocument/2006/relationships/slide" Target="/ppt/slides/slide6.xml" Id="Rff9275fa9afb4c35" /><Relationship Type="http://schemas.openxmlformats.org/officeDocument/2006/relationships/slide" Target="/ppt/slides/slide7.xml" Id="Rd83062414e514b02" /><Relationship Type="http://schemas.openxmlformats.org/officeDocument/2006/relationships/slide" Target="/ppt/slides/slide8.xml" Id="Rfe866d7efb3d4385" /><Relationship Type="http://schemas.openxmlformats.org/officeDocument/2006/relationships/slide" Target="/ppt/slides/slide9.xml" Id="R76d152943b1345c1" /><Relationship Type="http://schemas.openxmlformats.org/officeDocument/2006/relationships/slide" Target="/ppt/slides/slide10.xml" Id="R5756b073445c4acd" /><Relationship Type="http://schemas.openxmlformats.org/officeDocument/2006/relationships/slide" Target="/ppt/slides/slide11.xml" Id="Rc50a89fc3dd64d7c" /><Relationship Type="http://schemas.openxmlformats.org/officeDocument/2006/relationships/slide" Target="/ppt/slides/slide12.xml" Id="R6587a601dbfd44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398879aab343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c028220661452a" /><Relationship Type="http://schemas.openxmlformats.org/officeDocument/2006/relationships/notesMaster" Target="/ppt/notesMasters/notesMaster1.xml" Id="R8afb0f7cf18c4c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ef52bada4f406f" /><Relationship Type="http://schemas.openxmlformats.org/officeDocument/2006/relationships/notesMaster" Target="/ppt/notesMasters/notesMaster1.xml" Id="R13b88026e1b94a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7510037a2f418c" /><Relationship Type="http://schemas.openxmlformats.org/officeDocument/2006/relationships/notesMaster" Target="/ppt/notesMasters/notesMaster1.xml" Id="R0eee684f84544a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b40cf7c2c441f4" /><Relationship Type="http://schemas.openxmlformats.org/officeDocument/2006/relationships/notesMaster" Target="/ppt/notesMasters/notesMaster1.xml" Id="Rf04c5c47d5a7468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596dd8af3f4459" /><Relationship Type="http://schemas.openxmlformats.org/officeDocument/2006/relationships/notesMaster" Target="/ppt/notesMasters/notesMaster1.xml" Id="R26b5cf3799874d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4fc8cc28054d95" /><Relationship Type="http://schemas.openxmlformats.org/officeDocument/2006/relationships/notesMaster" Target="/ppt/notesMasters/notesMaster1.xml" Id="R5edab73d02c541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a7363bfe974026" /><Relationship Type="http://schemas.openxmlformats.org/officeDocument/2006/relationships/notesMaster" Target="/ppt/notesMasters/notesMaster1.xml" Id="R368c01bf070349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c843d985454d12" /><Relationship Type="http://schemas.openxmlformats.org/officeDocument/2006/relationships/notesMaster" Target="/ppt/notesMasters/notesMaster1.xml" Id="R1c542c0ad8734c3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30488c43244054" /><Relationship Type="http://schemas.openxmlformats.org/officeDocument/2006/relationships/notesMaster" Target="/ppt/notesMasters/notesMaster1.xml" Id="R4518f5f842724f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6d12327ada42dc" /><Relationship Type="http://schemas.openxmlformats.org/officeDocument/2006/relationships/notesMaster" Target="/ppt/notesMasters/notesMaster1.xml" Id="R0c75b0fe85c440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39f72d166e4e54" /><Relationship Type="http://schemas.openxmlformats.org/officeDocument/2006/relationships/notesMaster" Target="/ppt/notesMasters/notesMaster1.xml" Id="R2a6e28c56a5c43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536d118d814afd" /><Relationship Type="http://schemas.openxmlformats.org/officeDocument/2006/relationships/notesMaster" Target="/ppt/notesMasters/notesMaster1.xml" Id="R160e227fcb4243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12e11ba8e47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92745a0f1c4eb4" /><Relationship Type="http://schemas.openxmlformats.org/officeDocument/2006/relationships/slideLayout" Target="/ppt/slideLayouts/slideLayout1.xml" Id="R3ec0d301126441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c0d301126441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3369d518d54a8a" /><Relationship Type="http://schemas.openxmlformats.org/officeDocument/2006/relationships/notesSlide" Target="/ppt/notesSlides/notesSlide1.xml" Id="R15aa64dc281844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bd499fa254ef8" /><Relationship Type="http://schemas.openxmlformats.org/officeDocument/2006/relationships/notesSlide" Target="/ppt/notesSlides/notesSlide2.xml" Id="R03281354be264e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30529d3034c39" /><Relationship Type="http://schemas.openxmlformats.org/officeDocument/2006/relationships/notesSlide" Target="/ppt/notesSlides/notesSlide3.xml" Id="Rc4634675d69245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cbdc7b0d8423a" /><Relationship Type="http://schemas.openxmlformats.org/officeDocument/2006/relationships/notesSlide" Target="/ppt/notesSlides/notesSlide4.xml" Id="R24f12609370848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33a9a4f394699" /><Relationship Type="http://schemas.openxmlformats.org/officeDocument/2006/relationships/notesSlide" Target="/ppt/notesSlides/notesSlide5.xml" Id="R7bd98889f16844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00386f49141af" /><Relationship Type="http://schemas.openxmlformats.org/officeDocument/2006/relationships/notesSlide" Target="/ppt/notesSlides/notesSlide6.xml" Id="R8c3ca4e2240345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2298b7aaff4247" /><Relationship Type="http://schemas.openxmlformats.org/officeDocument/2006/relationships/notesSlide" Target="/ppt/notesSlides/notesSlide7.xml" Id="Ra0c79e78941241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66f4a94d14d6d" /><Relationship Type="http://schemas.openxmlformats.org/officeDocument/2006/relationships/chart" Target="/ppt/slides/charts/chart1.xml" Id="R36517ebd0e9040a8" /><Relationship Type="http://schemas.openxmlformats.org/officeDocument/2006/relationships/notesSlide" Target="/ppt/notesSlides/notesSlide8.xml" Id="R9e44dc2c2c3b47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c73b98ff248a4" /><Relationship Type="http://schemas.openxmlformats.org/officeDocument/2006/relationships/notesSlide" Target="/ppt/notesSlides/notesSlide9.xml" Id="Ra056aac6200944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7c5b32ea44081" /><Relationship Type="http://schemas.openxmlformats.org/officeDocument/2006/relationships/notesSlide" Target="/ppt/notesSlides/notesSlide10.xml" Id="R4dbf10eede4f4f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9f13c18c6402e" /><Relationship Type="http://schemas.openxmlformats.org/officeDocument/2006/relationships/notesSlide" Target="/ppt/notesSlides/notesSlide11.xml" Id="R4bbf1dce83c54c3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a4a08319640bf" /><Relationship Type="http://schemas.openxmlformats.org/officeDocument/2006/relationships/notesSlide" Target="/ppt/notesSlides/notesSlide12.xml" Id="R1c4dde5141484564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barChart>
        <c:barDir val="col"/>
        <c:varyColors val="0"/>
        <c:ser>
          <c:idx val="0"/>
          <c:order val="0"/>
          <c:tx>
            <c:v>Pearson</c:v>
          </c:tx>
          <c:spPr>
            <a:solidFill xmlns:a="http://schemas.openxmlformats.org/drawingml/2006/main">
              <a:srgbClr val="000000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CD19</c:v>
              </c:pt>
              <c:pt idx="1">
                <c:v>PDL1</c:v>
              </c:pt>
              <c:pt idx="2">
                <c:v>COL1A1</c:v>
              </c:pt>
              <c:pt idx="3">
                <c:v>EPCAM</c:v>
              </c:pt>
              <c:pt idx="4">
                <c:v>KI67</c:v>
              </c:pt>
              <c:pt idx="5">
                <c:v>CD3</c:v>
              </c:pt>
            </c:strLit>
          </c:cat>
          <c:val>
            <c:numLit>
              <c:formatCode>General</c:formatCode>
              <c:ptCount val="6"/>
              <c:pt idx="0">
                <c:v>94</c:v>
              </c:pt>
              <c:pt idx="1">
                <c:v>92</c:v>
              </c:pt>
              <c:pt idx="2">
                <c:v>92</c:v>
              </c:pt>
              <c:pt idx="3">
                <c:v>91</c:v>
              </c:pt>
              <c:pt idx="4">
                <c:v>90</c:v>
              </c:pt>
              <c:pt idx="5">
                <c:v>89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4B42DE0-4730-4848-894F-A2FE28F3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000000"/>
                </a:solidFill>
              </a:defRPr>
            </a:pPr>
            <a:r>
              <a:rPr sz="2400" b="0">
                <a:solidFill>
                  <a:srgbClr val="000000"/>
                </a:solidFill>
              </a:rPr>
              <a:t>ECCB 2026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06AE727-5C1C-40AF-9870-053E21A4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0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555555"/>
                </a:solidFill>
              </a:defRPr>
            </a:pPr>
            <a:r>
              <a:rPr sz="2400" b="0">
                <a:solidFill>
                  <a:srgbClr val="555555"/>
                </a:solidFill>
              </a:rPr>
              <a:t>Tutorial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493B928-E8F6-4096-B1CA-D37325A0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2400" b="0">
                <a:solidFill>
                  <a:srgbClr val="000000"/>
                </a:solidFill>
              </a:defRPr>
            </a:pPr>
            <a:r>
              <a:rPr sz="2400" b="0">
                <a:solidFill>
                  <a:srgbClr val="000000"/>
                </a:solidFill>
              </a:rPr>
              <a:t>Draft materials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450E04D-BE43-4CE3-ADB9-E7FD28F8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43075"/>
            <a:ext cx="8858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400" b="0">
                <a:solidFill>
                  <a:srgbClr val="000000"/>
                </a:solidFill>
              </a:defRPr>
            </a:pPr>
            <a:r>
              <a:rPr sz="5400" b="0">
                <a:solidFill>
                  <a:srgbClr val="000000"/>
                </a:solidFill>
              </a:rPr>
              <a:t>Spatial Protein</a:t>
            </a:r>
          </a:p>
          <a:p xmlns:a="http://schemas.openxmlformats.org/drawingml/2006/main">
            <a:pPr algn="l">
              <a:buNone/>
              <a:defRPr sz="5400" b="0">
                <a:solidFill>
                  <a:srgbClr val="000000"/>
                </a:solidFill>
              </a:defRPr>
            </a:pPr>
            <a:r>
              <a:rPr sz="5400" b="0">
                <a:solidFill>
                  <a:srgbClr val="000000"/>
                </a:solidFill>
              </a:rPr>
              <a:t>Inference with DGAT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8ED5C4-953B-4ADD-8B60-14424BC9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</a:rPr>
              <a:t>Hands-on workflow from spatial omics data to inferred protein landscapes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6781491C-2213-4D76-B547-AA2667CD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95450"/>
            <a:ext cx="2714625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5112386-E78A-4422-B5C7-274D8CC3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52700"/>
            <a:ext cx="2238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DGAT</a:t>
            </a:r>
          </a:p>
        </p:txBody>
      </p:sp>
      <p:cxnSp>
        <p:nvCxnSpPr>
          <p:cNvPr id="49" name="rule"/>
          <p:cNvCxnSpPr/>
          <p:nvPr/>
        </p:nvCxnSpPr>
        <p:spPr>
          <a:xfrm xmlns:a="http://schemas.openxmlformats.org/drawingml/2006/main">
            <a:off x="8810625" y="3371850"/>
            <a:ext cx="2238375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6B35"/>
            </a:solidFill>
            <a:prstDash val="solid"/>
          </a:ln>
        </p:spPr>
      </p:cxn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76421CB-D7D1-4F0F-ABC3-0ED75A5C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Zeyuan</a:t>
            </a:r>
          </a:p>
        </p:txBody>
      </p:sp>
    </p:spTree>
    <p:extLst>
      <p:ext uri="{BB962C8B-B14F-4D97-AF65-F5344CB8AC3E}">
        <p14:creationId xmlns:p14="http://schemas.microsoft.com/office/powerpoint/2010/main" val="19505260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7431DC2-95D4-49E4-ABD2-1CB77AC1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Schedule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946B678-4CB4-4011-9597-51302A26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The 75-minute arc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6D779E0-76DB-456E-BBD3-C58D6930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02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400050" y="1666875"/>
          <a:ext xmlns:a="http://schemas.openxmlformats.org/drawingml/2006/main" cx="113919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4131469"/>
                <a:gridCol w="5784056"/>
              </a:tblGrid>
              <a:tr h="7143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Time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Hands-on session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Participant output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10:45–11:15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Live setup and data processing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Create env, download and verify data, then QC and normalize both modalities.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11:15–11:40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Build, train, and run DGAT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Construct four modules, trace five-loss training, and run verified inference.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11:40–12:00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Evaluation and interpretation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Correlation, Moran's I, residual maps, and inferred-protein structure.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984F2BE-C491-470F-94A0-44E22793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Live path: participants create the environment, download data, and prepare model inputs during class.</a:t>
            </a:r>
          </a:p>
        </p:txBody>
      </p:sp>
      <p:cxnSp>
        <p:nvCxnSpPr>
          <p:cNvPr id="41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8A282C8-78D9-4632-8127-E2E18918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59189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B0DB1FAF-C7C1-422D-B8FC-6EC04991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Learning objectives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55ACCC2-4F59-4EC5-94E8-FF45EC40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What participants should leave able to do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B9AF2AC-31C6-4370-A8A6-860BBCC7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9DF0B4C-F455-4E1E-9E72-96ACCA9F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Load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6C0E8567-1B01-48A6-A096-B84297F2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764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spatial transcriptomics and spatial-CITE-seq style matrices.</a:t>
            </a:r>
          </a:p>
        </p:txBody>
      </p:sp>
      <p:cxnSp>
        <p:nvCxnSpPr>
          <p:cNvPr id="107" name="rule"/>
          <p:cNvCxnSpPr/>
          <p:nvPr/>
        </p:nvCxnSpPr>
        <p:spPr>
          <a:xfrm xmlns:a="http://schemas.openxmlformats.org/drawingml/2006/main">
            <a:off x="400050" y="2209800"/>
            <a:ext cx="9906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97CE273C-6322-4392-84FF-EB3ADCF3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Explore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9DD78D8-79FF-44B5-9911-EDCBDA8E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coordinate structure, local neighborhoods, and feature maps.</a:t>
            </a:r>
          </a:p>
        </p:txBody>
      </p:sp>
      <p:cxnSp>
        <p:nvCxnSpPr>
          <p:cNvPr id="110" name="rule"/>
          <p:cNvCxnSpPr/>
          <p:nvPr/>
        </p:nvCxnSpPr>
        <p:spPr>
          <a:xfrm xmlns:a="http://schemas.openxmlformats.org/drawingml/2006/main">
            <a:off x="400050" y="2990850"/>
            <a:ext cx="9906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38726E6-ACAD-4C71-98BA-65A608A7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Infer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7CE8EED-9385-4F3B-B34D-A48A6EC0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385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protein landscapes with DGAT or a prepared prediction table.</a:t>
            </a:r>
          </a:p>
        </p:txBody>
      </p:sp>
      <p:cxnSp>
        <p:nvCxnSpPr>
          <p:cNvPr id="113" name="rule"/>
          <p:cNvCxnSpPr/>
          <p:nvPr/>
        </p:nvCxnSpPr>
        <p:spPr>
          <a:xfrm xmlns:a="http://schemas.openxmlformats.org/drawingml/2006/main">
            <a:off x="400050" y="3771900"/>
            <a:ext cx="9906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D5FFEF1-82B6-4F2D-AA09-722A0381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Evaluate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20A04ACF-7A9C-4755-836F-A438E60C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1955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predictions with correlation and spatial coherence metrics.</a:t>
            </a:r>
          </a:p>
        </p:txBody>
      </p:sp>
      <p:cxnSp>
        <p:nvCxnSpPr>
          <p:cNvPr id="116" name="rule"/>
          <p:cNvCxnSpPr/>
          <p:nvPr/>
        </p:nvCxnSpPr>
        <p:spPr>
          <a:xfrm xmlns:a="http://schemas.openxmlformats.org/drawingml/2006/main">
            <a:off x="400050" y="4552950"/>
            <a:ext cx="9906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F78D704-D723-43E0-BDFA-F32B516D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Interpret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9BA71D9-4249-456E-A09E-20D9462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006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where biology, technology, and model behavior can diverge.</a:t>
            </a:r>
          </a:p>
        </p:txBody>
      </p:sp>
      <p:cxnSp>
        <p:nvCxnSpPr>
          <p:cNvPr id="119" name="rule"/>
          <p:cNvCxnSpPr/>
          <p:nvPr/>
        </p:nvCxnSpPr>
        <p:spPr>
          <a:xfrm xmlns:a="http://schemas.openxmlformats.org/drawingml/2006/main">
            <a:off x="400050" y="5334000"/>
            <a:ext cx="9906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9" name="panel">
            <a:extLst xmlns:a="http://schemas.openxmlformats.org/drawingml/2006/main">
              <a:ext uri="{FF2B5EF4-FFF2-40B4-BE49-F238E27FC236}">
                <a16:creationId xmlns:a16="http://schemas.microsoft.com/office/drawing/2014/main" id="{FBC6CF10-CA71-4B91-9E26-41908ED2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638300"/>
            <a:ext cx="1143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21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1282591-7157-4360-A16B-23761B8F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1638380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056FF2E2-4210-4B89-A2AF-5D29DF595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Setup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40FB5BC-34B5-4557-9DBF-F28BB3FF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Build the workflow together in class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3986E26-6D6D-44A9-916D-67CA215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3F8D15E2-E20E-4B2B-BBB3-9CA1F1E6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1C8971A-363E-4601-8948-ACF2B22F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4B168041-922B-4258-BAA6-7D1957C3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Clone repository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5C58B59-7BB1-44E4-870C-BD18EC3D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Inspect layout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enter tutorial root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340DEB2E-8DDA-4F5F-96C3-EA708EF1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097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7DE3126-8D80-459A-8641-1497F70A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81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C20B7A6-006B-406D-AFAA-48B637EF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6289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Create environment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275BC6A-351B-40A7-B8F8-04397124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Conda + Python 3.10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select kernel</a:t>
            </a:r>
          </a:p>
        </p:txBody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7119588E-7E09-48F0-9191-0C1A0832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097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0100F56-E194-4858-8E1C-E2C21D4C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81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AF05B48A-B738-44B0-8986-44DB723E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289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Download data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BA1C2212-A291-4229-815D-A8657B3B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Breast RNA + ADT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verify provenance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62A08E22-E3C0-45AA-AFE7-B22587D2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381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2F485D2-8946-4FD1-9F5F-FF3D787D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812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FAC907C-F2B5-4E91-9378-53D2FF94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289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Prepare inputs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842C8EC-A797-4BA4-B31F-43A5FD06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QC + normalize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build spatial graph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DEEFC11-09F8-4B1B-9B68-5FB54D53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895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The instructor pauses at each checkpoint; no environment or dataset preparation is required before class.</a:t>
            </a:r>
          </a:p>
        </p:txBody>
      </p:sp>
      <p:cxnSp>
        <p:nvCxnSpPr>
          <p:cNvPr id="127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0098D53-A22D-4E91-A393-1B6A7654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8862855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6B0DC52A-12FD-44E4-A138-E4006052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Data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58A81ED-497F-4678-B27E-517CA578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The data contract keeps the tutorial predictable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3A4A104-2EE6-4690-A1AA-D7995D9D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9CB6BE-4D38-4773-A1E7-1D68E0DF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Files used by notebooks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DC36B11-FC19-4D00-B5B2-B32CE5B0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</a:t>
            </a:r>
            <a:r>
              <a:rPr sz="1725" b="0">
                <a:solidFill>
                  <a:srgbClr val="000000"/>
                </a:solidFill>
              </a:rPr>
              <a:t>RNA/ADT .h5ad: observed matrices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</a:t>
            </a:r>
            <a:r>
              <a:rPr sz="1725" b="0">
                <a:solidFill>
                  <a:srgbClr val="000000"/>
                </a:solidFill>
              </a:rPr>
              <a:t>dgat_predictions.csv: official DGAT output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</a:t>
            </a:r>
            <a:r>
              <a:rPr sz="1725" b="0">
                <a:solidFill>
                  <a:srgbClr val="000000"/>
                </a:solidFill>
              </a:rPr>
              <a:t>predicted_proteins.metadata.json: provenance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• </a:t>
            </a:r>
            <a:r>
              <a:rPr sz="1725" b="0">
                <a:solidFill>
                  <a:srgbClr val="000000"/>
                </a:solidFill>
              </a:rPr>
              <a:t>Align rows by spot; columns by protein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8CB00667-9A42-4B12-A309-962CE094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24000"/>
            <a:ext cx="5810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392795F-C034-452F-A013-E7876CA1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097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Prediction table</a:t>
            </a:r>
          </a:p>
        </p:txBody>
      </p:sp>
      <p:graphicFrame>
        <p:nvGraphicFramePr>
          <p:cNvPr id="63" name=""/>
          <p:cNvGraphicFramePr/>
          <p:nvPr/>
        </p:nvGraphicFramePr>
        <p:xfrm>
          <a:off xmlns:a="http://schemas.openxmlformats.org/drawingml/2006/main" x="5953125" y="2400300"/>
          <a:ext xmlns:a="http://schemas.openxmlformats.org/drawingml/2006/main" cx="4953000" cy="1524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238250"/>
                <a:gridCol w="1238250"/>
                <a:gridCol w="1238250"/>
                <a:gridCol w="1238250"/>
              </a:tblGrid>
              <a:tr h="381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spot_id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CD3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CD19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EPCAM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spot_000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0.41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1.22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0.08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spot_001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0.39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1.18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0.10</a:t>
                      </a:r>
                    </a:p>
                  </a:txBody>
                  <a:tcPr marL="91440" marR="91440" marT="45720" marB="45720"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spot_002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0.44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1.30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</a:rPr>
                        <a:t>0.09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77BACB9-E878-4584-84D5-426E5C7B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1719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Rows must align across all files.</a:t>
            </a:r>
          </a:p>
        </p:txBody>
      </p:sp>
      <p:cxnSp>
        <p:nvCxnSpPr>
          <p:cNvPr id="65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C230DF1-32D1-4BA8-B44E-F23E0228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0350957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94507F38-24BC-4532-9F75-C575A6CF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Hands-on 1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ED773119-2388-4C9D-8618-D3B43503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Session 1: prepare and explore the data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05AE8E7-F99F-417F-9230-64641165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6A110D25-EF43-46EA-BFCC-4C54AB92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0A86D53-4B3A-48DC-A3AD-6474B163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Spatial map</a:t>
            </a:r>
          </a:p>
        </p:txBody>
      </p:sp>
      <p:sp>
        <p:nvSpPr>
          <p:cNvPr id="6" name="panel">
            <a:extLst xmlns:a="http://schemas.openxmlformats.org/drawingml/2006/main">
              <a:ext uri="{FF2B5EF4-FFF2-40B4-BE49-F238E27FC236}">
                <a16:creationId xmlns:a16="http://schemas.microsoft.com/office/drawing/2014/main" id="{8385F166-1798-44D1-9D26-89EFD02C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AD60954F-B480-4DED-B8D2-D9DF9AFD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714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2A32148A-DEFB-4A90-8D36-1D049413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14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6133EAA-C4A6-46ED-8A76-FAC2599E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05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8C0EFF43-5A9E-4DEF-B146-2D6931CA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05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F2A9865-A642-45A7-8CD7-ABE98CE0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05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D03DB872-1BDB-430C-8B90-1586B256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95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E6A7BFDC-5EA7-4E8E-86D5-F96BE7FC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895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nel">
            <a:extLst xmlns:a="http://schemas.openxmlformats.org/drawingml/2006/main">
              <a:ext uri="{FF2B5EF4-FFF2-40B4-BE49-F238E27FC236}">
                <a16:creationId xmlns:a16="http://schemas.microsoft.com/office/drawing/2014/main" id="{5489D1FA-983F-42FF-9969-6C9CD07A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957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5D2031E-B9A5-4669-9939-327468C4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62125"/>
            <a:ext cx="609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Validate paired RNA, ADT, and coordinates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Plot modality-specific QC distributions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Filter low-quality spots and features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Normalize RNA and protein explicitly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</a:rPr>
              <a:t>• Build and inspect the spatial kNN graph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7CA5A7C3-24E5-432E-A07D-40639B4D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Output: participants can explain every processing decision before model construction.</a:t>
            </a:r>
          </a:p>
        </p:txBody>
      </p:sp>
      <p:cxnSp>
        <p:nvCxnSpPr>
          <p:cNvPr id="103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7F1C2D2-6675-42F4-8ECB-8E80E53C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20616017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9E63A5CF-1F7F-404A-8D62-7969D420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Hands-on 2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870F974-7EE7-4E59-9AEE-DC9C2BCA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Session 2: build and train DGAT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53D7208-CCC3-4460-BAF1-9596E8C1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92D610F0-B961-4D46-8FD7-370FC1CF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BAEEDAB-39FD-4CE0-A6E5-C82FA25E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Graphs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DAF1B4-A33F-49C3-A0F6-3A3F4421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RNA + protein inputs</a:t>
            </a:r>
          </a:p>
        </p:txBody>
      </p:sp>
      <p:cxnSp>
        <p:nvCxnSpPr>
          <p:cNvPr id="113" name="rule"/>
          <p:cNvCxnSpPr/>
          <p:nvPr/>
        </p:nvCxnSpPr>
        <p:spPr>
          <a:xfrm xmlns:a="http://schemas.openxmlformats.org/drawingml/2006/main">
            <a:off x="2743200" y="288607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2E6601D2-8F1E-4CD8-877D-4A442CF8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72E0A91-D811-44EC-A0D6-14C96472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28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Build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8190308-0C7D-416F-9635-7B64E864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908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four model modules</a:t>
            </a:r>
          </a:p>
        </p:txBody>
      </p:sp>
      <p:cxnSp>
        <p:nvCxnSpPr>
          <p:cNvPr id="117" name="rule"/>
          <p:cNvCxnSpPr/>
          <p:nvPr/>
        </p:nvCxnSpPr>
        <p:spPr>
          <a:xfrm xmlns:a="http://schemas.openxmlformats.org/drawingml/2006/main">
            <a:off x="5505450" y="288607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2" name="panel">
            <a:extLst xmlns:a="http://schemas.openxmlformats.org/drawingml/2006/main">
              <a:ext uri="{FF2B5EF4-FFF2-40B4-BE49-F238E27FC236}">
                <a16:creationId xmlns:a16="http://schemas.microsoft.com/office/drawing/2014/main" id="{25C0837E-6B0E-43C7-99CF-F2D5A5C9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6E4548C-617E-458A-B168-ACE826A3C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28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Train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2C3AC2B-EF34-403E-9FF1-BCA25007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five-loss objective</a:t>
            </a:r>
          </a:p>
        </p:txBody>
      </p:sp>
      <p:cxnSp>
        <p:nvCxnSpPr>
          <p:cNvPr id="121" name="rule"/>
          <p:cNvCxnSpPr/>
          <p:nvPr/>
        </p:nvCxnSpPr>
        <p:spPr>
          <a:xfrm xmlns:a="http://schemas.openxmlformats.org/drawingml/2006/main">
            <a:off x="8267700" y="2886075"/>
            <a:ext cx="5524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D3B87F13-4095-4E4D-B559-A1B0E4EB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000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3717AB1-E136-4062-8E83-1384476D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288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Infer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E87CEA71-C2FA-4ECF-A1B2-34B5B167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90850"/>
            <a:ext cx="157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RNA → protein maps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5CCD485-644D-459B-9732-E399DAF7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Learning path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77CD662-A9EC-45F7-A492-E31F5272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29125"/>
            <a:ext cx="752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555555"/>
                </a:solidFill>
              </a:defRPr>
            </a:pPr>
            <a:r>
              <a:rPr sz="1950" b="0">
                <a:solidFill>
                  <a:srgbClr val="555555"/>
                </a:solidFill>
              </a:rPr>
              <a:t>Construct the encoders and decoders, trace one optimization step, then connect saved weights to verified inference.</a:t>
            </a:r>
          </a:p>
        </p:txBody>
      </p:sp>
      <p:cxnSp>
        <p:nvCxnSpPr>
          <p:cNvPr id="127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33D456F-BC93-4E0C-BADA-863E542A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7850409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F9A485A1-EB43-4710-9E9A-74127CD8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Hands-on 3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307BB3F-E2D7-4513-B182-84BFA55F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Session 3: evaluate both values and spatial structure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32DB97C-DF6F-42F5-A0D9-0F6665B2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08</a:t>
            </a:r>
          </a:p>
        </p:txBody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5334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6517ebd0e9040a8"/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B365970-D61D-41A1-9840-54228E49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Correlation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DFE57EC-F8F6-4A47-BE06-778376BF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Pointwise agreement—valid only when evaluation rows were not used to fit their predictions.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DD64DB5-2841-4D91-9095-7D7EB1C2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57375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29BF1EA-E008-4A75-B65B-C664F5B8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907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Moran's I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5D35AEF-4F2A-40E6-AC03-274AF604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146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Does the prediction preserve spatial coherence, not only pointwise values?</a:t>
            </a:r>
          </a:p>
        </p:txBody>
      </p:sp>
      <p:cxnSp>
        <p:nvCxnSpPr>
          <p:cNvPr id="70" name="rule"/>
          <p:cNvCxnSpPr/>
          <p:nvPr/>
        </p:nvCxnSpPr>
        <p:spPr>
          <a:xfrm xmlns:a="http://schemas.openxmlformats.org/drawingml/2006/main">
            <a:off x="7143750" y="4000500"/>
            <a:ext cx="2857500" cy="9525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6B35"/>
            </a:solidFill>
            <a:prstDash val="solid"/>
          </a:ln>
        </p:spPr>
      </p:cxnSp>
      <p:cxnSp>
        <p:nvCxnSpPr>
          <p:cNvPr id="71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8702FAB-77E4-4D2A-BCDF-6C1E49F1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659973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0EA18D50-6C33-486B-BAD4-45EC986D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Discussion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9728501-7E0C-4012-8C3D-C941CEC6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Interpretation: good plots still need biological caution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15E75EF-1188-49F6-B672-BC712735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4" name="panel">
            <a:extLst xmlns:a="http://schemas.openxmlformats.org/drawingml/2006/main">
              <a:ext uri="{FF2B5EF4-FFF2-40B4-BE49-F238E27FC236}">
                <a16:creationId xmlns:a16="http://schemas.microsoft.com/office/drawing/2014/main" id="{2D179492-C7C2-4A28-A0B0-290B50B2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E31EB3A-BBCF-490B-B5FE-18409A37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954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Transcript-protein discordance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3B56C3D-8801-477B-9F38-5916F6C7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 low match can be biology, timing, turnover, or antibody behavior.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27217A4-10BD-4AC2-9EAE-90E87C18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F526A3D-F277-4150-AAFB-5F606E03C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954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Spatial smoothing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10EB0DD-CBF0-41BB-884E-2429CD89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9825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A visually coherent map can hide boundary errors or rare populations.</a:t>
            </a:r>
          </a:p>
        </p:txBody>
      </p:sp>
      <p:sp>
        <p:nvSpPr>
          <p:cNvPr id="10" name="panel">
            <a:extLst xmlns:a="http://schemas.openxmlformats.org/drawingml/2006/main">
              <a:ext uri="{FF2B5EF4-FFF2-40B4-BE49-F238E27FC236}">
                <a16:creationId xmlns:a16="http://schemas.microsoft.com/office/drawing/2014/main" id="{3ADE07F2-42AB-4D0F-ABB3-3CFD642F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026899BC-FCA9-4AF9-AF87-49D9AE58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Cell composition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55A7430-FBAA-4984-BE0E-1CABD3AB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Neighborhood structure may reflect mixtures rather than direct regulation.</a:t>
            </a:r>
          </a:p>
        </p:txBody>
      </p:sp>
      <p:sp>
        <p:nvSpPr>
          <p:cNvPr id="13" name="panel">
            <a:extLst xmlns:a="http://schemas.openxmlformats.org/drawingml/2006/main">
              <a:ext uri="{FF2B5EF4-FFF2-40B4-BE49-F238E27FC236}">
                <a16:creationId xmlns:a16="http://schemas.microsoft.com/office/drawing/2014/main" id="{07B7DA62-ADC9-4FA8-97F6-05081F7D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953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EF6C8F6-ACCB-4319-A014-E224A744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43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</a:defRPr>
            </a:pPr>
            <a:r>
              <a:rPr sz="2025" b="1">
                <a:solidFill>
                  <a:srgbClr val="000000"/>
                </a:solidFill>
              </a:rPr>
              <a:t>Batch and platform effects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9076104-3D17-4A13-870F-19DD9EC4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191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Evaluation can reward technical consistency instead of biological truth.</a:t>
            </a:r>
          </a:p>
        </p:txBody>
      </p:sp>
      <p:cxnSp>
        <p:nvCxnSpPr>
          <p:cNvPr id="97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C58249F-DD3F-4E37-BE60-6FAF5D40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7622433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FC31F9F1-B566-4822-B6AA-AD883BCE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Live contingency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B9FB40C8-E9AE-40EE-A2F6-91E560BB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Keep instructor-led setup resilient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653FBE3-1053-4C45-862A-FBB8B5E2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0015D51-CD22-4894-B5B4-CEEF4843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Participants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440503B-472D-47EB-AC3A-788C145D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Clone repository in class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Create the Python 3.10 environment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Download, verify, and prepare data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77B3A801-4FDC-4385-B035-7112FC89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Organizer backup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76A2F6D3-612A-4FD0-AE02-F2037728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Local repository mirror available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Conda package cache available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• Breast data mirror available</a:t>
            </a:r>
          </a:p>
        </p:txBody>
      </p:sp>
      <p:sp>
        <p:nvSpPr>
          <p:cNvPr id="8" name="panel">
            <a:extLst xmlns:a="http://schemas.openxmlformats.org/drawingml/2006/main">
              <a:ext uri="{FF2B5EF4-FFF2-40B4-BE49-F238E27FC236}">
                <a16:creationId xmlns:a16="http://schemas.microsoft.com/office/drawing/2014/main" id="{5F2069F2-5C28-4EB9-B99A-E4AC5C15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0D227BF-4A3C-4D9C-A931-5F735AE8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863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00000"/>
                </a:solidFill>
              </a:defRPr>
            </a:pPr>
            <a:r>
              <a:rPr sz="1800" b="0">
                <a:solidFill>
                  <a:srgbClr val="000000"/>
                </a:solidFill>
              </a:rPr>
              <a:t>Contingencies protect the live workflow; they do not replace participant setup or data preparation.</a:t>
            </a:r>
          </a:p>
        </p:txBody>
      </p:sp>
      <p:cxnSp>
        <p:nvCxnSpPr>
          <p:cNvPr id="61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826DA8A-A425-43B4-8DFA-EC2CC7866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6171395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6C3CEB9-331C-465C-8ED0-CB327822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Committee review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1D5D770-9CB6-4129-BED6-BD43BC4E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0">
                <a:solidFill>
                  <a:srgbClr val="000000"/>
                </a:solidFill>
              </a:defRPr>
            </a:pPr>
            <a:r>
              <a:rPr sz="3150" b="0">
                <a:solidFill>
                  <a:srgbClr val="000000"/>
                </a:solidFill>
              </a:rPr>
              <a:t>Live-session readiness gates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1ECF9EA9-FC17-4967-BBEE-8B194BF2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11</a:t>
            </a:r>
          </a:p>
        </p:txBody>
      </p:sp>
      <p:graphicFrame>
        <p:nvGraphicFramePr>
          <p:cNvPr id="39" name="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93345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7524750"/>
              </a:tblGrid>
              <a:tr h="523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0000"/>
                          </a:solidFill>
                        </a:rPr>
                        <a:t>Ready condition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Data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Tutorial-network download and checksum timed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Clean Python 3.10 creation tested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Notebooks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Setup → QC → DGAT → evaluation runs clean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Contingency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Local repository, package, and data mirrors ready</a:t>
                      </a:r>
                    </a:p>
                  </a:txBody>
                  <a:tcPr marL="91440" marR="91440" marT="45720" marB="45720"/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Review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000000"/>
                          </a:solidFill>
                        </a:rPr>
                        <a:t>Runtime + peak memory measured and shared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1AF9261-ED82-499A-B939-1C389552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828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</a:defRPr>
            </a:pPr>
            <a:r>
              <a:rPr sz="2100" b="0">
                <a:solidFill>
                  <a:srgbClr val="000000"/>
                </a:solidFill>
              </a:rPr>
              <a:t>Deliverable: participants perform setup, data preparation, DGAT modeling, and evaluation during class.</a:t>
            </a:r>
          </a:p>
        </p:txBody>
      </p:sp>
      <p:cxnSp>
        <p:nvCxnSpPr>
          <p:cNvPr id="41" name="rule"/>
          <p:cNvCxnSpPr/>
          <p:nvPr/>
        </p:nvCxnSpPr>
        <p:spPr>
          <a:xfrm xmlns:a="http://schemas.openxmlformats.org/drawingml/2006/main">
            <a:off x="400050" y="615315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0B59486A-4CFB-4577-A292-C5A4EA7E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ECCB 2026 tutorial | DGAT spatial protein inference</a:t>
            </a:r>
          </a:p>
        </p:txBody>
      </p:sp>
    </p:spTree>
    <p:extLst>
      <p:ext uri="{BB962C8B-B14F-4D97-AF65-F5344CB8AC3E}">
        <p14:creationId xmlns:p14="http://schemas.microsoft.com/office/powerpoint/2010/main" val="1630045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FD9F2BA-C061-4B3B-8675-AE4D38EE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555555"/>
                </a:solidFill>
              </a:defRPr>
            </a:pPr>
            <a:r>
              <a:rPr sz="2400" b="0">
                <a:solidFill>
                  <a:srgbClr val="555555"/>
                </a:solidFill>
              </a:rPr>
              <a:t>Takeaway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40F1DB0-F117-4B40-85A5-7E780D7E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990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000000"/>
                </a:solidFill>
              </a:defRPr>
            </a:pPr>
            <a:r>
              <a:rPr sz="3600" b="0">
                <a:solidFill>
                  <a:srgbClr val="000000"/>
                </a:solidFill>
              </a:rPr>
              <a:t>DGAT turns spatial transcript profiles into protein landscapes; the tutorial teaches how to prepare, run, evaluate, and interpret that workflow.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183F504-3161-48B4-A579-2335EAB0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Repository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3DD5642-581B-43AE-9CDD-9C58D64B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762500"/>
            <a:ext cx="695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github.com/mengzeyuan64/ECCB_2026_tutorial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5B7283-4701-4A2C-8094-5E7BC0BD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Official DGAT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FAE37A5-F290-4651-BD27-3929BD9C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863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github.com/osmanbeyoglulab/DGAT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583405D-1223-4E9B-A595-F2F2E407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762500"/>
            <a:ext cx="71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4955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2026-07-30T15:11:06.9830000Z</dcterms:created>
  <dcterms:modified xsi:type="dcterms:W3CDTF">2026-07-30T15:11:06.9830000Z</dcterms:modified>
</coreProperties>
</file>