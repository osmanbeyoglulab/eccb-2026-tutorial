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8327992c06483a" /><Relationship Type="http://schemas.openxmlformats.org/officeDocument/2006/relationships/extended-properties" Target="/docProps/app.xml" Id="Rf36bc44bf58a4493" /><Relationship Type="http://schemas.openxmlformats.org/officeDocument/2006/relationships/officeDocument" Target="/ppt/presentation.xml" Id="R0e0e29818e1848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0dd199f9024387"/>
  </p:sldMasterIdLst>
  <p:notesMasterIdLst>
    <p:notesMasterId xmlns:r="http://schemas.openxmlformats.org/officeDocument/2006/relationships" r:id="Rd40205875d204d21"/>
  </p:notesMasterIdLst>
  <p:sldIdLst>
    <p:sldId xmlns:r="http://schemas.openxmlformats.org/officeDocument/2006/relationships" id="256" r:id="Rde899261d2fd4e54"/>
    <p:sldId xmlns:r="http://schemas.openxmlformats.org/officeDocument/2006/relationships" id="257" r:id="R3bf0230011dc4794"/>
    <p:sldId xmlns:r="http://schemas.openxmlformats.org/officeDocument/2006/relationships" id="258" r:id="Re0229bfa31ab41b6"/>
    <p:sldId xmlns:r="http://schemas.openxmlformats.org/officeDocument/2006/relationships" id="259" r:id="Ra7d5c31c944b41ec"/>
    <p:sldId xmlns:r="http://schemas.openxmlformats.org/officeDocument/2006/relationships" id="260" r:id="R7b4de4c226364af7"/>
    <p:sldId xmlns:r="http://schemas.openxmlformats.org/officeDocument/2006/relationships" id="261" r:id="R46434d6ee6604d3d"/>
    <p:sldId xmlns:r="http://schemas.openxmlformats.org/officeDocument/2006/relationships" id="262" r:id="R190465e06b38453c"/>
    <p:sldId xmlns:r="http://schemas.openxmlformats.org/officeDocument/2006/relationships" id="263" r:id="R480ccc1d4b0e4b0a"/>
    <p:sldId xmlns:r="http://schemas.openxmlformats.org/officeDocument/2006/relationships" id="264" r:id="R3ff4833dfbf74247"/>
    <p:sldId xmlns:r="http://schemas.openxmlformats.org/officeDocument/2006/relationships" id="265" r:id="Rf3c52425171f42b2"/>
    <p:sldId xmlns:r="http://schemas.openxmlformats.org/officeDocument/2006/relationships" id="266" r:id="Ra62a7a6514364dde"/>
    <p:sldId xmlns:r="http://schemas.openxmlformats.org/officeDocument/2006/relationships" id="267" r:id="R42a6f0b5b3ac444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2170ba84c74789" /><Relationship Type="http://schemas.openxmlformats.org/officeDocument/2006/relationships/slideMaster" Target="/ppt/slideMasters/slideMaster1.xml" Id="R820dd199f9024387" /><Relationship Type="http://schemas.openxmlformats.org/officeDocument/2006/relationships/notesMaster" Target="/ppt/notesMasters/notesMaster1.xml" Id="Rd40205875d204d21" /><Relationship Type="http://schemas.openxmlformats.org/officeDocument/2006/relationships/presProps" Target="/ppt/presProps.xml" Id="R1a1f3c8039714714" /><Relationship Type="http://schemas.openxmlformats.org/officeDocument/2006/relationships/tableStyles" Target="/ppt/tableStyles.xml" Id="R26c20639db7340fc" /><Relationship Type="http://schemas.openxmlformats.org/officeDocument/2006/relationships/slide" Target="/ppt/slides/slide1.xml" Id="Rde899261d2fd4e54" /><Relationship Type="http://schemas.openxmlformats.org/officeDocument/2006/relationships/slide" Target="/ppt/slides/slide2.xml" Id="R3bf0230011dc4794" /><Relationship Type="http://schemas.openxmlformats.org/officeDocument/2006/relationships/slide" Target="/ppt/slides/slide3.xml" Id="Re0229bfa31ab41b6" /><Relationship Type="http://schemas.openxmlformats.org/officeDocument/2006/relationships/slide" Target="/ppt/slides/slide4.xml" Id="Ra7d5c31c944b41ec" /><Relationship Type="http://schemas.openxmlformats.org/officeDocument/2006/relationships/slide" Target="/ppt/slides/slide5.xml" Id="R7b4de4c226364af7" /><Relationship Type="http://schemas.openxmlformats.org/officeDocument/2006/relationships/slide" Target="/ppt/slides/slide6.xml" Id="R46434d6ee6604d3d" /><Relationship Type="http://schemas.openxmlformats.org/officeDocument/2006/relationships/slide" Target="/ppt/slides/slide7.xml" Id="R190465e06b38453c" /><Relationship Type="http://schemas.openxmlformats.org/officeDocument/2006/relationships/slide" Target="/ppt/slides/slide8.xml" Id="R480ccc1d4b0e4b0a" /><Relationship Type="http://schemas.openxmlformats.org/officeDocument/2006/relationships/slide" Target="/ppt/slides/slide9.xml" Id="R3ff4833dfbf74247" /><Relationship Type="http://schemas.openxmlformats.org/officeDocument/2006/relationships/slide" Target="/ppt/slides/slide10.xml" Id="Rf3c52425171f42b2" /><Relationship Type="http://schemas.openxmlformats.org/officeDocument/2006/relationships/slide" Target="/ppt/slides/slide11.xml" Id="Ra62a7a6514364dde" /><Relationship Type="http://schemas.openxmlformats.org/officeDocument/2006/relationships/slide" Target="/ppt/slides/slide12.xml" Id="R42a6f0b5b3ac44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3d9c28155c47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c686d985dc44f0" /><Relationship Type="http://schemas.openxmlformats.org/officeDocument/2006/relationships/notesMaster" Target="/ppt/notesMasters/notesMaster1.xml" Id="Rbde54ca0cbab42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c57ce11fb04cd3" /><Relationship Type="http://schemas.openxmlformats.org/officeDocument/2006/relationships/notesMaster" Target="/ppt/notesMasters/notesMaster1.xml" Id="Rc36f5ba949b048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4b37dcd9564146" /><Relationship Type="http://schemas.openxmlformats.org/officeDocument/2006/relationships/notesMaster" Target="/ppt/notesMasters/notesMaster1.xml" Id="R80e5eef2cee540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339a68140d467e" /><Relationship Type="http://schemas.openxmlformats.org/officeDocument/2006/relationships/notesMaster" Target="/ppt/notesMasters/notesMaster1.xml" Id="R87f9b6834f8440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36d197bd874ca7" /><Relationship Type="http://schemas.openxmlformats.org/officeDocument/2006/relationships/notesMaster" Target="/ppt/notesMasters/notesMaster1.xml" Id="R4b8f1452c4144c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3db8fb90974f02" /><Relationship Type="http://schemas.openxmlformats.org/officeDocument/2006/relationships/notesMaster" Target="/ppt/notesMasters/notesMaster1.xml" Id="R554b258d2be748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f30ab97d5e84553" /><Relationship Type="http://schemas.openxmlformats.org/officeDocument/2006/relationships/notesMaster" Target="/ppt/notesMasters/notesMaster1.xml" Id="Rf0b7ebd2d7d248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68d0127b2e475e" /><Relationship Type="http://schemas.openxmlformats.org/officeDocument/2006/relationships/notesMaster" Target="/ppt/notesMasters/notesMaster1.xml" Id="R8d46f6017ff541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c88ac0e40a48eb" /><Relationship Type="http://schemas.openxmlformats.org/officeDocument/2006/relationships/notesMaster" Target="/ppt/notesMasters/notesMaster1.xml" Id="R74031c1c3cf64a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54c0c91edff476f" /><Relationship Type="http://schemas.openxmlformats.org/officeDocument/2006/relationships/notesMaster" Target="/ppt/notesMasters/notesMaster1.xml" Id="Rcaa3a7287d5545e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d8fd5e669140b5" /><Relationship Type="http://schemas.openxmlformats.org/officeDocument/2006/relationships/notesMaster" Target="/ppt/notesMasters/notesMaster1.xml" Id="R6083b54e285749c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f587109e7a49fe" /><Relationship Type="http://schemas.openxmlformats.org/officeDocument/2006/relationships/notesMaster" Target="/ppt/notesMasters/notesMaster1.xml" Id="R1dc0ca9a66e64a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1ff872b9e341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1d8d7b28fd44c8" /><Relationship Type="http://schemas.openxmlformats.org/officeDocument/2006/relationships/slideLayout" Target="/ppt/slideLayouts/slideLayout1.xml" Id="Re829bc60da9a4f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29bc60da9a4f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3a561c0d74518" /><Relationship Type="http://schemas.openxmlformats.org/officeDocument/2006/relationships/notesSlide" Target="/ppt/notesSlides/notesSlide1.xml" Id="R0ca56f1cd5b344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c10d03e1034ef9" /><Relationship Type="http://schemas.openxmlformats.org/officeDocument/2006/relationships/notesSlide" Target="/ppt/notesSlides/notesSlide2.xml" Id="R5829b2d5491a47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97442ed174748" /><Relationship Type="http://schemas.openxmlformats.org/officeDocument/2006/relationships/notesSlide" Target="/ppt/notesSlides/notesSlide3.xml" Id="R985826901cce4e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22e5a76e74d09" /><Relationship Type="http://schemas.openxmlformats.org/officeDocument/2006/relationships/notesSlide" Target="/ppt/notesSlides/notesSlide4.xml" Id="R03d370fe6daa4c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ba7d7500954354" /><Relationship Type="http://schemas.openxmlformats.org/officeDocument/2006/relationships/notesSlide" Target="/ppt/notesSlides/notesSlide5.xml" Id="R136429255d7b4f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02923a0f346a3" /><Relationship Type="http://schemas.openxmlformats.org/officeDocument/2006/relationships/notesSlide" Target="/ppt/notesSlides/notesSlide6.xml" Id="R2cc268610a3648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95cbf26c9429f" /><Relationship Type="http://schemas.openxmlformats.org/officeDocument/2006/relationships/notesSlide" Target="/ppt/notesSlides/notesSlide7.xml" Id="R1b60d634e6fc45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c3a97d318443f" /><Relationship Type="http://schemas.openxmlformats.org/officeDocument/2006/relationships/chart" Target="/ppt/slides/charts/chart1.xml" Id="Rbb8e0f70fb614150" /><Relationship Type="http://schemas.openxmlformats.org/officeDocument/2006/relationships/notesSlide" Target="/ppt/notesSlides/notesSlide8.xml" Id="R3517207ccb4e40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df9ed2ce04203" /><Relationship Type="http://schemas.openxmlformats.org/officeDocument/2006/relationships/notesSlide" Target="/ppt/notesSlides/notesSlide9.xml" Id="R4010b432478a4f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0d2730e3c4e41" /><Relationship Type="http://schemas.openxmlformats.org/officeDocument/2006/relationships/notesSlide" Target="/ppt/notesSlides/notesSlide10.xml" Id="R86acc237e9c24fb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f17acb3184cdb" /><Relationship Type="http://schemas.openxmlformats.org/officeDocument/2006/relationships/notesSlide" Target="/ppt/notesSlides/notesSlide11.xml" Id="Rb72b0ebd53804f9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bf6cf0eb44b1a" /><Relationship Type="http://schemas.openxmlformats.org/officeDocument/2006/relationships/notesSlide" Target="/ppt/notesSlides/notesSlide12.xml" Id="R2c21dca25f9f46a1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varyColors val="0"/>
        <c:ser>
          <c:idx val="0"/>
          <c:order val="0"/>
          <c:tx>
            <c:v>Pearson</c:v>
          </c:tx>
          <c:spPr>
            <a:solidFill xmlns:a="http://schemas.openxmlformats.org/drawingml/2006/main">
              <a:srgbClr val="000000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6"/>
              <c:pt idx="0">
                <c:v>CD19</c:v>
              </c:pt>
              <c:pt idx="1">
                <c:v>PDL1</c:v>
              </c:pt>
              <c:pt idx="2">
                <c:v>COL1A1</c:v>
              </c:pt>
              <c:pt idx="3">
                <c:v>EPCAM</c:v>
              </c:pt>
              <c:pt idx="4">
                <c:v>KI67</c:v>
              </c:pt>
              <c:pt idx="5">
                <c:v>CD3</c:v>
              </c:pt>
            </c:strLit>
          </c:cat>
          <c:val>
            <c:numLit>
              <c:formatCode>General</c:formatCode>
              <c:ptCount val="6"/>
              <c:pt idx="0">
                <c:v>94</c:v>
              </c:pt>
              <c:pt idx="1">
                <c:v>92</c:v>
              </c:pt>
              <c:pt idx="2">
                <c:v>92</c:v>
              </c:pt>
              <c:pt idx="3">
                <c:v>91</c:v>
              </c:pt>
              <c:pt idx="4">
                <c:v>90</c:v>
              </c:pt>
              <c:pt idx="5">
                <c:v>89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4B42DE0-4730-4848-894F-A2FE28F3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000000"/>
                </a:solidFill>
              </a:defRPr>
            </a:pPr>
            <a:r>
              <a:rPr sz="2400" b="0">
                <a:solidFill>
                  <a:srgbClr val="000000"/>
                </a:solidFill>
              </a:rPr>
              <a:t>ECCB 2026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06AE727-5C1C-40AF-9870-053E21A4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00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555555"/>
                </a:solidFill>
              </a:defRPr>
            </a:pPr>
            <a:r>
              <a:rPr sz="2400" b="0">
                <a:solidFill>
                  <a:srgbClr val="555555"/>
                </a:solidFill>
              </a:rPr>
              <a:t>Tutorial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493B928-E8F6-4096-B1CA-D37325A0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400" b="0">
                <a:solidFill>
                  <a:srgbClr val="000000"/>
                </a:solidFill>
              </a:defRPr>
            </a:pPr>
            <a:r>
              <a:rPr sz="2400" b="0">
                <a:solidFill>
                  <a:srgbClr val="000000"/>
                </a:solidFill>
              </a:rPr>
              <a:t>Draft materials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450E04D-BE43-4CE3-ADB9-E7FD28F8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43075"/>
            <a:ext cx="8858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400" b="0">
                <a:solidFill>
                  <a:srgbClr val="000000"/>
                </a:solidFill>
              </a:defRPr>
            </a:pPr>
            <a:r>
              <a:rPr sz="5400" b="0">
                <a:solidFill>
                  <a:srgbClr val="000000"/>
                </a:solidFill>
              </a:rPr>
              <a:t>Spatial Protein</a:t>
            </a:r>
          </a:p>
          <a:p xmlns:a="http://schemas.openxmlformats.org/drawingml/2006/main">
            <a:pPr algn="l">
              <a:buNone/>
              <a:defRPr sz="5400" b="0">
                <a:solidFill>
                  <a:srgbClr val="000000"/>
                </a:solidFill>
              </a:defRPr>
            </a:pPr>
            <a:r>
              <a:rPr sz="5400" b="0">
                <a:solidFill>
                  <a:srgbClr val="000000"/>
                </a:solidFill>
              </a:rPr>
              <a:t>Inference with DGAT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08ED5C4-953B-4ADD-8B60-14424BC9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542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Hands-on workflow from spatial omics data to inferred protein landscapes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6781491C-2213-4D76-B547-AA2667CD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95450"/>
            <a:ext cx="2714625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5112386-E78A-4422-B5C7-274D8CC3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552700"/>
            <a:ext cx="223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DGAT</a:t>
            </a:r>
          </a:p>
        </p:txBody>
      </p:sp>
      <p:cxnSp>
        <p:nvCxnSpPr>
          <p:cNvPr id="33" name="rule"/>
          <p:cNvCxnSpPr/>
          <p:nvPr/>
        </p:nvCxnSpPr>
        <p:spPr>
          <a:xfrm xmlns:a="http://schemas.openxmlformats.org/drawingml/2006/main">
            <a:off x="8810625" y="3371850"/>
            <a:ext cx="2238375" cy="952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6B35"/>
            </a:solidFill>
            <a:prstDash val="solid"/>
          </a:ln>
        </p:spPr>
      </p:cxn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76421CB-D7D1-4F0F-ABC3-0ED75A5C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Zeyuan</a:t>
            </a:r>
          </a:p>
        </p:txBody>
      </p:sp>
    </p:spTree>
    <p:extLst>
      <p:ext uri="{BB962C8B-B14F-4D97-AF65-F5344CB8AC3E}">
        <p14:creationId xmlns:p14="http://schemas.microsoft.com/office/powerpoint/2010/main" val="1950526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7431DC2-95D4-49E4-ABD2-1CB77AC1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Schedule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946B678-4CB4-4011-9597-51302A26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The 75-minute arc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6D779E0-76DB-456E-BBD3-C58D6930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02</a:t>
            </a:r>
          </a:p>
        </p:txBody>
      </p:sp>
      <p:graphicFrame>
        <p:nvGraphicFramePr>
          <p:cNvPr id="25" name=""/>
          <p:cNvGraphicFramePr/>
          <p:nvPr/>
        </p:nvGraphicFramePr>
        <p:xfrm>
          <a:off xmlns:a="http://schemas.openxmlformats.org/drawingml/2006/main" x="400050" y="1666875"/>
          <a:ext xmlns:a="http://schemas.openxmlformats.org/drawingml/2006/main" cx="11391900" cy="2857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476375"/>
                <a:gridCol w="4131469"/>
                <a:gridCol w="5784056"/>
              </a:tblGrid>
              <a:tr h="7143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Hands-on session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Participant output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10:45–11:05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Environment setup and spatial data exploration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Load DGAT data, inspect coordinates, visualize transcript/protein signals.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11:05–11:35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Using DGAT protein inference outputs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Align inputs, load official DGAT predictions, generate spatial protein maps.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11:35–12:00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Evaluation and interpretation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Correlation metrics, Moran's I, landscape comparison, and pitfalls.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984F2BE-C491-470F-94A0-44E22793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Default live path: load organizer-provided DGAT predictions; run official inference before class.</a:t>
            </a:r>
          </a:p>
        </p:txBody>
      </p:sp>
      <p:cxnSp>
        <p:nvCxnSpPr>
          <p:cNvPr id="27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8A282C8-78D9-4632-8127-E2E18918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1591892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">
            <a:extLst xmlns:a="http://schemas.openxmlformats.org/drawingml/2006/main">
              <a:ext uri="{FF2B5EF4-FFF2-40B4-BE49-F238E27FC236}">
                <a16:creationId xmlns:a16="http://schemas.microsoft.com/office/drawing/2014/main" id="{B0DB1FAF-C7C1-422D-B8FC-6EC04991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Learning objectives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55ACCC2-4F59-4EC5-94E8-FF45EC40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What participants should leave able to do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B9AF2AC-31C6-4370-A8A6-860BBCC7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9DF0B4C-F455-4E1E-9E72-96ACCA9F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383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Load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C0E8567-1B01-48A6-A096-B84297F2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764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spatial transcriptomics and spatial-CITE-seq style matrices.</a:t>
            </a:r>
          </a:p>
        </p:txBody>
      </p:sp>
      <p:cxnSp>
        <p:nvCxnSpPr>
          <p:cNvPr id="67" name="rule"/>
          <p:cNvCxnSpPr/>
          <p:nvPr/>
        </p:nvCxnSpPr>
        <p:spPr>
          <a:xfrm xmlns:a="http://schemas.openxmlformats.org/drawingml/2006/main">
            <a:off x="400050" y="2209800"/>
            <a:ext cx="9906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7CE273C-6322-4392-84FF-EB3ADCF3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Explore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9DD78D8-79FF-44B5-9911-EDCBDA8E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5745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coordinate structure, local neighborhoods, and feature maps.</a:t>
            </a:r>
          </a:p>
        </p:txBody>
      </p:sp>
      <p:cxnSp>
        <p:nvCxnSpPr>
          <p:cNvPr id="70" name="rule"/>
          <p:cNvCxnSpPr/>
          <p:nvPr/>
        </p:nvCxnSpPr>
        <p:spPr>
          <a:xfrm xmlns:a="http://schemas.openxmlformats.org/drawingml/2006/main">
            <a:off x="400050" y="2990850"/>
            <a:ext cx="9906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38726E6-ACAD-4C71-98BA-65A608A7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Infer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7CE8EED-9385-4F3B-B34D-A48A6EC0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385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protein landscapes with DGAT or a prepared prediction table.</a:t>
            </a:r>
          </a:p>
        </p:txBody>
      </p:sp>
      <p:cxnSp>
        <p:nvCxnSpPr>
          <p:cNvPr id="73" name="rule"/>
          <p:cNvCxnSpPr/>
          <p:nvPr/>
        </p:nvCxnSpPr>
        <p:spPr>
          <a:xfrm xmlns:a="http://schemas.openxmlformats.org/drawingml/2006/main">
            <a:off x="400050" y="3771900"/>
            <a:ext cx="9906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D5FFEF1-82B6-4F2D-AA09-722A0381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Evaluate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0A04ACF-7A9C-4755-836F-A438E60C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1955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predictions with correlation and spatial coherence metrics.</a:t>
            </a:r>
          </a:p>
        </p:txBody>
      </p:sp>
      <p:cxnSp>
        <p:nvCxnSpPr>
          <p:cNvPr id="76" name="rule"/>
          <p:cNvCxnSpPr/>
          <p:nvPr/>
        </p:nvCxnSpPr>
        <p:spPr>
          <a:xfrm xmlns:a="http://schemas.openxmlformats.org/drawingml/2006/main">
            <a:off x="400050" y="4552950"/>
            <a:ext cx="9906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CF78D704-D723-43E0-BDFA-F32B516D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Interpret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39BA71D9-4249-456E-A09E-20D9462C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006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where biology, technology, and model behavior can diverge.</a:t>
            </a:r>
          </a:p>
        </p:txBody>
      </p:sp>
      <p:cxnSp>
        <p:nvCxnSpPr>
          <p:cNvPr id="79" name="rule"/>
          <p:cNvCxnSpPr/>
          <p:nvPr/>
        </p:nvCxnSpPr>
        <p:spPr>
          <a:xfrm xmlns:a="http://schemas.openxmlformats.org/drawingml/2006/main">
            <a:off x="400050" y="5334000"/>
            <a:ext cx="9906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panel">
            <a:extLst xmlns:a="http://schemas.openxmlformats.org/drawingml/2006/main">
              <a:ext uri="{FF2B5EF4-FFF2-40B4-BE49-F238E27FC236}">
                <a16:creationId xmlns:a16="http://schemas.microsoft.com/office/drawing/2014/main" id="{FBC6CF10-CA71-4B91-9E26-41908ED2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1638300"/>
            <a:ext cx="1143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81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81282591-7157-4360-A16B-23761B8F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11638380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text">
            <a:extLst xmlns:a="http://schemas.openxmlformats.org/drawingml/2006/main">
              <a:ext uri="{FF2B5EF4-FFF2-40B4-BE49-F238E27FC236}">
                <a16:creationId xmlns:a16="http://schemas.microsoft.com/office/drawing/2014/main" id="{056FF2E2-4210-4B89-A2AF-5D29DF59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Setup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40FB5BC-34B5-4557-9DBF-F28BB3FF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Complete setup before the conference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3986E26-6D6D-44A9-916D-67CA215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3F8D15E2-E20E-4B2B-BBB3-9CA1F1E6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1C8971A-363E-4601-8948-ACF2B22F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81200"/>
            <a:ext cx="57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B168041-922B-4258-BAA6-7D1957C3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289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Create tutorial env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5C58B59-7BB1-44E4-870C-BD18EC3D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7185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Python 3.10
16 GB RAM recommended</a:t>
            </a:r>
          </a:p>
        </p:txBody>
      </p:sp>
      <p:sp>
        <p:nvSpPr>
          <p:cNvPr id="8" name="panel">
            <a:extLst xmlns:a="http://schemas.openxmlformats.org/drawingml/2006/main">
              <a:ext uri="{FF2B5EF4-FFF2-40B4-BE49-F238E27FC236}">
                <a16:creationId xmlns:a16="http://schemas.microsoft.com/office/drawing/2014/main" id="{340DEB2E-8DDA-4F5F-96C3-EA708EF1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097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7DE3126-8D80-459A-8641-1497F70A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81200"/>
            <a:ext cx="57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6B35"/>
                </a:solidFill>
              </a:defRPr>
            </a:pPr>
            <a:r>
              <a:rPr sz="3000" b="1">
                <a:solidFill>
                  <a:srgbClr val="FF6B35"/>
                </a:solidFill>
              </a:rPr>
              <a:t>2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C20B7A6-006B-406D-AFAA-48B637EF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289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Download data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275BC6A-351B-40A7-B8F8-04397124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7185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Run ≥24 h early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~15 min in review</a:t>
            </a:r>
          </a:p>
        </p:txBody>
      </p:sp>
      <p:sp>
        <p:nvSpPr>
          <p:cNvPr id="12" name="panel">
            <a:extLst xmlns:a="http://schemas.openxmlformats.org/drawingml/2006/main">
              <a:ext uri="{FF2B5EF4-FFF2-40B4-BE49-F238E27FC236}">
                <a16:creationId xmlns:a16="http://schemas.microsoft.com/office/drawing/2014/main" id="{7119588E-7E09-48F0-9191-0C1A0832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00100F56-E194-4858-8E1C-E2C21D4C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81200"/>
            <a:ext cx="57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F05B48A-B738-44B0-8986-44DB723E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Add predictions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A1C2212-A291-4229-815D-A8657B3B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7185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data/raw/
dgat_predictions.csv</a:t>
            </a:r>
          </a:p>
        </p:txBody>
      </p:sp>
      <p:sp>
        <p:nvSpPr>
          <p:cNvPr id="16" name="panel">
            <a:extLst xmlns:a="http://schemas.openxmlformats.org/drawingml/2006/main">
              <a:ext uri="{FF2B5EF4-FFF2-40B4-BE49-F238E27FC236}">
                <a16:creationId xmlns:a16="http://schemas.microsoft.com/office/drawing/2014/main" id="{62A08E22-E3C0-45AA-AFE7-B22587D2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2F485D2-8946-4FD1-9F5F-FF3D787D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981200"/>
            <a:ext cx="57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4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8FAC907C-F2B5-4E91-9378-53D2FF94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289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Run notebooks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7842C8EC-A797-4BA4-B31F-43A5FD06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7185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notebooks/01 → 02 → 03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DEEFC11-09F8-4B1B-9B68-5FB54D53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10125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Official inference uses a separate Python 3.11 environment; prepare it before class or on HPC.</a:t>
            </a:r>
          </a:p>
        </p:txBody>
      </p:sp>
      <p:cxnSp>
        <p:nvCxnSpPr>
          <p:cNvPr id="85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0098D53-A22D-4E91-A393-1B6A7654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8862855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6B0DC52A-12FD-44E4-A138-E4006052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Data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58A81ED-497F-4678-B27E-517CA578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The data contract keeps the tutorial predictable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3A4A104-2EE6-4690-A1AA-D7995D9D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05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A9CB6BE-4D38-4773-A1E7-1D68E0DF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Files used by notebooks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DC36B11-FC19-4D00-B5B2-B32CE5B0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4667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• </a:t>
            </a:r>
            <a:r>
              <a:rPr sz="1725" b="0">
                <a:solidFill>
                  <a:srgbClr val="000000"/>
                </a:solidFill>
              </a:rPr>
              <a:t>RNA/ADT .h5ad: observed matrices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• </a:t>
            </a:r>
            <a:r>
              <a:rPr sz="1725" b="0">
                <a:solidFill>
                  <a:srgbClr val="000000"/>
                </a:solidFill>
              </a:rPr>
              <a:t>dgat_predictions.csv: official DGAT output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• </a:t>
            </a:r>
            <a:r>
              <a:rPr sz="1725" b="0">
                <a:solidFill>
                  <a:srgbClr val="000000"/>
                </a:solidFill>
              </a:rPr>
              <a:t>predicted_proteins.metadata.json: provenance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• </a:t>
            </a:r>
            <a:r>
              <a:rPr sz="1725" b="0">
                <a:solidFill>
                  <a:srgbClr val="000000"/>
                </a:solidFill>
              </a:rPr>
              <a:t>Align rows by spot; columns by protein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8CB00667-9A42-4B12-A309-962CE094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24000"/>
            <a:ext cx="5810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392795F-C034-452F-A013-E7876CA1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0975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Prediction table</a:t>
            </a:r>
          </a:p>
        </p:txBody>
      </p:sp>
      <p:graphicFrame>
        <p:nvGraphicFramePr>
          <p:cNvPr id="41" name=""/>
          <p:cNvGraphicFramePr/>
          <p:nvPr/>
        </p:nvGraphicFramePr>
        <p:xfrm>
          <a:off xmlns:a="http://schemas.openxmlformats.org/drawingml/2006/main" x="5953125" y="2400300"/>
          <a:ext xmlns:a="http://schemas.openxmlformats.org/drawingml/2006/main" cx="4953000" cy="1524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238250"/>
                <a:gridCol w="1238250"/>
                <a:gridCol w="1238250"/>
                <a:gridCol w="1238250"/>
              </a:tblGrid>
              <a:tr h="3810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spot_id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CD3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CD19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EPCAM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spot_000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0.41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1.22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0.08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spot_001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0.39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1.18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0.10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spot_002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0.44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1.30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0.09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77BACB9-E878-4584-84D5-426E5C7B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171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Rows must align across all files.</a:t>
            </a:r>
          </a:p>
        </p:txBody>
      </p:sp>
      <p:cxnSp>
        <p:nvCxnSpPr>
          <p:cNvPr id="43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C230DF1-32D1-4BA8-B44E-F23E0228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10350957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94507F38-24BC-4532-9F75-C575A6CF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Hands-on 1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D773119-2388-4C9D-8618-D3B43503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Session 1: make the spatial data tangible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05AE8E7-F99F-417F-9230-64641165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06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6A110D25-EF43-46EA-BFCC-4C54AB92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0A86D53-4B3A-48DC-A3AD-6474B163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Spatial map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8385F166-1798-44D1-9D26-89EFD02C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146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AD60954F-B480-4DED-B8D2-D9DF9AFD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7146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anel">
            <a:extLst xmlns:a="http://schemas.openxmlformats.org/drawingml/2006/main">
              <a:ext uri="{FF2B5EF4-FFF2-40B4-BE49-F238E27FC236}">
                <a16:creationId xmlns:a16="http://schemas.microsoft.com/office/drawing/2014/main" id="{2A32148A-DEFB-4A90-8D36-1D049413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7146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anel">
            <a:extLst xmlns:a="http://schemas.openxmlformats.org/drawingml/2006/main">
              <a:ext uri="{FF2B5EF4-FFF2-40B4-BE49-F238E27FC236}">
                <a16:creationId xmlns:a16="http://schemas.microsoft.com/office/drawing/2014/main" id="{C6133EAA-C4A6-46ED-8A76-FAC2599E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051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anel">
            <a:extLst xmlns:a="http://schemas.openxmlformats.org/drawingml/2006/main">
              <a:ext uri="{FF2B5EF4-FFF2-40B4-BE49-F238E27FC236}">
                <a16:creationId xmlns:a16="http://schemas.microsoft.com/office/drawing/2014/main" id="{8C0EFF43-5A9E-4DEF-B146-2D6931CA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051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8F2A9865-A642-45A7-8CD7-ABE98CE0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3051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nel">
            <a:extLst xmlns:a="http://schemas.openxmlformats.org/drawingml/2006/main">
              <a:ext uri="{FF2B5EF4-FFF2-40B4-BE49-F238E27FC236}">
                <a16:creationId xmlns:a16="http://schemas.microsoft.com/office/drawing/2014/main" id="{D03DB872-1BDB-430C-8B90-1586B256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95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anel">
            <a:extLst xmlns:a="http://schemas.openxmlformats.org/drawingml/2006/main">
              <a:ext uri="{FF2B5EF4-FFF2-40B4-BE49-F238E27FC236}">
                <a16:creationId xmlns:a16="http://schemas.microsoft.com/office/drawing/2014/main" id="{E6A7BFDC-5EA7-4E8E-86D5-F96BE7FC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895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anel">
            <a:extLst xmlns:a="http://schemas.openxmlformats.org/drawingml/2006/main">
              <a:ext uri="{FF2B5EF4-FFF2-40B4-BE49-F238E27FC236}">
                <a16:creationId xmlns:a16="http://schemas.microsoft.com/office/drawing/2014/main" id="{5489D1FA-983F-42FF-9969-6C9CD07A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95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5D2031E-B9A5-4669-9939-327468C4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62125"/>
            <a:ext cx="6096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</a:defRPr>
            </a:pPr>
            <a:r>
              <a:rPr sz="2025" b="0">
                <a:solidFill>
                  <a:srgbClr val="000000"/>
                </a:solidFill>
              </a:rPr>
              <a:t>• Confirm the kernel and paths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</a:defRPr>
            </a:pPr>
            <a:r>
              <a:rPr sz="2025" b="0">
                <a:solidFill>
                  <a:srgbClr val="000000"/>
                </a:solidFill>
              </a:rPr>
              <a:t>• </a:t>
            </a:r>
            <a:r>
              <a:rPr sz="2025" b="0">
                <a:solidFill>
                  <a:srgbClr val="000000"/>
                </a:solidFill>
              </a:rPr>
              <a:t>Load official DGAT .h5ad data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</a:defRPr>
            </a:pPr>
            <a:r>
              <a:rPr sz="2025" b="0">
                <a:solidFill>
                  <a:srgbClr val="000000"/>
                </a:solidFill>
              </a:rPr>
              <a:t>• Plot transcripts and observed proteins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000000"/>
                </a:solidFill>
              </a:defRPr>
            </a:pPr>
            <a:r>
              <a:rPr sz="2025" b="0">
                <a:solidFill>
                  <a:srgbClr val="000000"/>
                </a:solidFill>
              </a:rPr>
              <a:t>• Inspect nearest-neighbor structure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CA5A7C3-24E5-432E-A07D-40639B4D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333875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55555"/>
                </a:solidFill>
              </a:defRPr>
            </a:pPr>
            <a:r>
              <a:rPr sz="2100" b="0">
                <a:solidFill>
                  <a:srgbClr val="555555"/>
                </a:solidFill>
              </a:rPr>
              <a:t>Output: participants understand what each matrix represents before model inference.</a:t>
            </a:r>
          </a:p>
        </p:txBody>
      </p:sp>
      <p:cxnSp>
        <p:nvCxnSpPr>
          <p:cNvPr id="69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7F1C2D2-6675-42F4-8ECB-8E80E53C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20616017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text">
            <a:extLst xmlns:a="http://schemas.openxmlformats.org/drawingml/2006/main">
              <a:ext uri="{FF2B5EF4-FFF2-40B4-BE49-F238E27FC236}">
                <a16:creationId xmlns:a16="http://schemas.microsoft.com/office/drawing/2014/main" id="{9E63A5CF-1F7F-404A-8D62-7969D420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Hands-on 2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870F974-7EE7-4E59-9AEE-DC9C2BCA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Session 2: precomputed DGAT, no leakage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53D7208-CCC3-4460-BAF1-9596E8C1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07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92D610F0-B961-4D46-8FD7-370FC1CF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BAEEDAB-39FD-4CE0-A6E5-C82FA25E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Align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3DAF1B4-A33F-49C3-A0F6-3A3F4421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1571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spots, transcripts, proteins</a:t>
            </a:r>
          </a:p>
        </p:txBody>
      </p:sp>
      <p:cxnSp>
        <p:nvCxnSpPr>
          <p:cNvPr id="71" name="rule"/>
          <p:cNvCxnSpPr/>
          <p:nvPr/>
        </p:nvCxnSpPr>
        <p:spPr>
          <a:xfrm xmlns:a="http://schemas.openxmlformats.org/drawingml/2006/main">
            <a:off x="2743200" y="2886075"/>
            <a:ext cx="55245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8" name="panel">
            <a:extLst xmlns:a="http://schemas.openxmlformats.org/drawingml/2006/main">
              <a:ext uri="{FF2B5EF4-FFF2-40B4-BE49-F238E27FC236}">
                <a16:creationId xmlns:a16="http://schemas.microsoft.com/office/drawing/2014/main" id="{2E6601D2-8F1E-4CD8-877D-4A442CF8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90750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72E0A91-D811-44EC-A0D6-14C96472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288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Prepare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8190308-0C7D-416F-9635-7B64E864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90850"/>
            <a:ext cx="1571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model-ready input</a:t>
            </a:r>
          </a:p>
        </p:txBody>
      </p:sp>
      <p:cxnSp>
        <p:nvCxnSpPr>
          <p:cNvPr id="75" name="rule"/>
          <p:cNvCxnSpPr/>
          <p:nvPr/>
        </p:nvCxnSpPr>
        <p:spPr>
          <a:xfrm xmlns:a="http://schemas.openxmlformats.org/drawingml/2006/main">
            <a:off x="5505450" y="2886075"/>
            <a:ext cx="55245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12" name="panel">
            <a:extLst xmlns:a="http://schemas.openxmlformats.org/drawingml/2006/main">
              <a:ext uri="{FF2B5EF4-FFF2-40B4-BE49-F238E27FC236}">
                <a16:creationId xmlns:a16="http://schemas.microsoft.com/office/drawing/2014/main" id="{25C0837E-6B0E-43C7-99CF-F2D5A5C9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6E4548C-617E-458A-B168-ACE826A3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Infer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2C3AC2B-EF34-403E-9FF1-BCA25007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90850"/>
            <a:ext cx="1571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precomputed DGAT output</a:t>
            </a:r>
          </a:p>
        </p:txBody>
      </p:sp>
      <p:cxnSp>
        <p:nvCxnSpPr>
          <p:cNvPr id="79" name="rule"/>
          <p:cNvCxnSpPr/>
          <p:nvPr/>
        </p:nvCxnSpPr>
        <p:spPr>
          <a:xfrm xmlns:a="http://schemas.openxmlformats.org/drawingml/2006/main">
            <a:off x="8267700" y="2886075"/>
            <a:ext cx="55245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16" name="panel">
            <a:extLst xmlns:a="http://schemas.openxmlformats.org/drawingml/2006/main">
              <a:ext uri="{FF2B5EF4-FFF2-40B4-BE49-F238E27FC236}">
                <a16:creationId xmlns:a16="http://schemas.microsoft.com/office/drawing/2014/main" id="{D3B87F13-4095-4E4D-B559-A1B0E4EB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000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3717AB1-E136-4062-8E83-1384476D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28875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Visualize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E87CEA71-C2FA-4ECF-A1B2-34B5B167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90850"/>
            <a:ext cx="1571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predicted protein maps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45CCD485-644D-459B-9732-E399DAF7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291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Teaching tactic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577CD662-A9EC-45F7-A492-E31F5272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29125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Default: load official DGAT output. The optional ridge baseline is out-of-fold, clearly labeled, and not DGAT.</a:t>
            </a:r>
          </a:p>
        </p:txBody>
      </p:sp>
      <p:cxnSp>
        <p:nvCxnSpPr>
          <p:cNvPr id="85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333D456F-BC93-4E0C-BADA-863E542A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17850409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F9A485A1-EB43-4710-9E9A-74127CD8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Hands-on 3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307BB3F-E2D7-4513-B182-84BFA55F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Session 3: evaluate both values and spatial structure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32DB97C-DF6F-42F5-A0D9-0F6665B2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08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8e0f70fb614150"/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B365970-D61D-41A1-9840-54228E49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Correlation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DFE57EC-F8F6-4A47-BE06-778376BF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Pointwise agreement—valid only when evaluation rows were not used to fit their predictions.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BDD64DB5-2841-4D91-9095-7D7EB1C2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57375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29BF1EA-E008-4A75-B65B-C664F5B8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90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Moran's I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5D35AEF-4F2A-40E6-AC03-274AF604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1465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Does the prediction preserve spatial coherence, not only pointwise values?</a:t>
            </a:r>
          </a:p>
        </p:txBody>
      </p:sp>
      <p:cxnSp>
        <p:nvCxnSpPr>
          <p:cNvPr id="46" name="rule"/>
          <p:cNvCxnSpPr/>
          <p:nvPr/>
        </p:nvCxnSpPr>
        <p:spPr>
          <a:xfrm xmlns:a="http://schemas.openxmlformats.org/drawingml/2006/main">
            <a:off x="7143750" y="4000500"/>
            <a:ext cx="2857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6B35"/>
            </a:solidFill>
            <a:prstDash val="solid"/>
          </a:ln>
        </p:spPr>
      </p:cxnSp>
      <p:cxnSp>
        <p:nvCxnSpPr>
          <p:cNvPr id="47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8702FAB-77E4-4D2A-BCDF-6C1E49F1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1659973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0EA18D50-6C33-486B-BAD4-45EC986D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Discussion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9728501-7E0C-4012-8C3D-C941CEC6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Interpretation: good plots still need biological caution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15E75EF-1188-49F6-B672-BC712735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09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2D179492-C7C2-4A28-A0B0-290B50B2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66875"/>
            <a:ext cx="4953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E31EB3A-BBCF-490B-B5FE-18409A37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954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Transcript-protein discordance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3B56C3D-8801-477B-9F38-5916F6C7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982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A low match can be biology, timing, turnover, or antibody behavior.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927217A4-10BD-4AC2-9EAE-90E87C18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66875"/>
            <a:ext cx="4953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F526A3D-F277-4150-AAFB-5F606E03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954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Spatial smoothing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10EB0DD-CBF0-41BB-884E-2429CD89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0982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A visually coherent map can hide boundary errors or rare populations.</a:t>
            </a:r>
          </a:p>
        </p:txBody>
      </p:sp>
      <p:sp>
        <p:nvSpPr>
          <p:cNvPr id="10" name="panel">
            <a:extLst xmlns:a="http://schemas.openxmlformats.org/drawingml/2006/main">
              <a:ext uri="{FF2B5EF4-FFF2-40B4-BE49-F238E27FC236}">
                <a16:creationId xmlns:a16="http://schemas.microsoft.com/office/drawing/2014/main" id="{3ADE07F2-42AB-4D0F-ABB3-3CFD642F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4953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26899BC-FCA9-4AF9-AF87-49D9AE58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Cell composition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55A7430-FBAA-4984-BE0E-1CABD3AB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Neighborhood structure may reflect mixtures rather than direct regulation.</a:t>
            </a:r>
          </a:p>
        </p:txBody>
      </p:sp>
      <p:sp>
        <p:nvSpPr>
          <p:cNvPr id="13" name="panel">
            <a:extLst xmlns:a="http://schemas.openxmlformats.org/drawingml/2006/main">
              <a:ext uri="{FF2B5EF4-FFF2-40B4-BE49-F238E27FC236}">
                <a16:creationId xmlns:a16="http://schemas.microsoft.com/office/drawing/2014/main" id="{07B7DA62-ADC9-4FA8-97F6-05081F7D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4953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EF6C8F6-ACCB-4319-A014-E224A744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433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Batch and platform effects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9076104-3D17-4A13-870F-19DD9EC4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57700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Evaluation can reward technical consistency instead of biological truth.</a:t>
            </a:r>
          </a:p>
        </p:txBody>
      </p:sp>
      <p:cxnSp>
        <p:nvCxnSpPr>
          <p:cNvPr id="65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C58249F-DD3F-4E37-BE60-6FAF5D40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17622433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C31F9F1-B566-4822-B6AA-AD883BCE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Backup plan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9FB40C8-E9AE-40EE-A2F6-91E560BB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Make the live session independent of Wi-Fi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653FBE3-1053-4C45-862A-FBB8B5E2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0015D51-CD22-4894-B5B4-CEEF484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Participant path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440503B-472D-47EB-AC3A-788C145D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</a:t>
            </a:r>
            <a:r>
              <a:rPr sz="1800" b="0">
                <a:solidFill>
                  <a:srgbClr val="000000"/>
                </a:solidFill>
              </a:rPr>
              <a:t>Data downloaded ≥24 h early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</a:t>
            </a:r>
            <a:r>
              <a:rPr sz="1800" b="0">
                <a:solidFill>
                  <a:srgbClr val="000000"/>
                </a:solidFill>
              </a:rPr>
              <a:t>Precomputed DGAT predictions present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</a:t>
            </a:r>
            <a:r>
              <a:rPr sz="1800" b="0">
                <a:solidFill>
                  <a:srgbClr val="000000"/>
                </a:solidFill>
              </a:rPr>
              <a:t>Python 3.10 notebooks tested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7B3A801-4FDC-4385-B035-7112FC8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95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Organizer path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6A2F6D3-612A-4FD0-AE02-F2037728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38375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</a:t>
            </a:r>
            <a:r>
              <a:rPr sz="1800" b="0">
                <a:solidFill>
                  <a:srgbClr val="000000"/>
                </a:solidFill>
              </a:rPr>
              <a:t>Python 3.11 DGAT environment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</a:t>
            </a:r>
            <a:r>
              <a:rPr sz="1800" b="0">
                <a:solidFill>
                  <a:srgbClr val="000000"/>
                </a:solidFill>
              </a:rPr>
              <a:t>GPU/HPC arranged and preflighted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</a:t>
            </a:r>
            <a:r>
              <a:rPr sz="1800" b="0">
                <a:solidFill>
                  <a:srgbClr val="000000"/>
                </a:solidFill>
              </a:rPr>
              <a:t>Official inference run before class</a:t>
            </a:r>
          </a:p>
        </p:txBody>
      </p:sp>
      <p:sp>
        <p:nvSpPr>
          <p:cNvPr id="8" name="panel">
            <a:extLst xmlns:a="http://schemas.openxmlformats.org/drawingml/2006/main">
              <a:ext uri="{FF2B5EF4-FFF2-40B4-BE49-F238E27FC236}">
                <a16:creationId xmlns:a16="http://schemas.microsoft.com/office/drawing/2014/main" id="{5F2069F2-5C28-4EB9-B99A-E4AC5C15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0D227BF-4A3C-4D9C-A931-5F735AE8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86300"/>
            <a:ext cx="895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A missing prediction table stops clearly—it never triggers a silent fitted baseline.</a:t>
            </a:r>
          </a:p>
        </p:txBody>
      </p:sp>
      <p:cxnSp>
        <p:nvCxnSpPr>
          <p:cNvPr id="41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C826DA8A-A425-43B4-8DFA-EC2CC786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6171395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06C3CEB9-331C-465C-8ED0-CB327822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Committee review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1D5D770-9CB6-4129-BED6-BD43BC4E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6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>
                <a:solidFill>
                  <a:srgbClr val="000000"/>
                </a:solidFill>
              </a:defRPr>
            </a:pPr>
            <a:r>
              <a:rPr sz="3150" b="0">
                <a:solidFill>
                  <a:srgbClr val="000000"/>
                </a:solidFill>
              </a:rPr>
              <a:t>Before release: readiness gates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ECF9EA9-FC17-4967-BBEE-8B194BF2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674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11</a:t>
            </a:r>
          </a:p>
        </p:txBody>
      </p:sp>
      <p:graphicFrame>
        <p:nvGraphicFramePr>
          <p:cNvPr id="25" name="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09750"/>
                <a:gridCol w="7524750"/>
              </a:tblGrid>
              <a:tr h="52387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000000"/>
                          </a:solidFill>
                        </a:rPr>
                        <a:t>Area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000000"/>
                          </a:solidFill>
                        </a:rPr>
                        <a:t>Ready condition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Data + predictions sent ≥1 week early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Model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Python 3.11 DGAT env passes preflight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Notebooks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Python 3.10 path runs clean; default is DGAT output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Backup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Provenance retained; ridge labeled baseline</a:t>
                      </a:r>
                    </a:p>
                  </a:txBody>
                  <a:tcPr marL="91440" marR="91440" marT="45720" marB="45720"/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Review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000000"/>
                          </a:solidFill>
                        </a:rPr>
                        <a:t>Runtime + peak memory measured and shared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1AF9261-ED82-499A-B939-1C389552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Deliverable: setup completed before travel and results participants can interpret honestly.</a:t>
            </a:r>
          </a:p>
        </p:txBody>
      </p:sp>
      <p:cxnSp>
        <p:nvCxnSpPr>
          <p:cNvPr id="27" name="rule"/>
          <p:cNvCxnSpPr/>
          <p:nvPr/>
        </p:nvCxnSpPr>
        <p:spPr>
          <a:xfrm xmlns:a="http://schemas.openxmlformats.org/drawingml/2006/main">
            <a:off x="400050" y="6153150"/>
            <a:ext cx="102870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B59486A-4CFB-4577-A292-C5A4EA7E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ECCB 2026 tutorial | DGAT spatial protein inference</a:t>
            </a:r>
          </a:p>
        </p:txBody>
      </p:sp>
    </p:spTree>
    <p:extLst>
      <p:ext uri="{BB962C8B-B14F-4D97-AF65-F5344CB8AC3E}">
        <p14:creationId xmlns:p14="http://schemas.microsoft.com/office/powerpoint/2010/main" val="1630045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FD9F2BA-C061-4B3B-8675-AE4D38EE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555555"/>
                </a:solidFill>
              </a:defRPr>
            </a:pPr>
            <a:r>
              <a:rPr sz="2400" b="0">
                <a:solidFill>
                  <a:srgbClr val="555555"/>
                </a:solidFill>
              </a:rPr>
              <a:t>Takeaway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40F1DB0-F117-4B40-85A5-7E780D7E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9906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000000"/>
                </a:solidFill>
              </a:defRPr>
            </a:pPr>
            <a:r>
              <a:rPr sz="3600" b="0">
                <a:solidFill>
                  <a:srgbClr val="000000"/>
                </a:solidFill>
              </a:rPr>
              <a:t>DGAT turns spatial transcript profiles into protein landscapes; the tutorial teaches how to prepare, run, evaluate, and interpret that workflow.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183F504-3161-48B4-A579-2335EAB0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Repository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3DD5642-581B-43AE-9CDD-9C58D64B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62500"/>
            <a:ext cx="695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github.com/mengzeyuan64/ECCB_2026_tutorial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65B7283-4701-4A2C-8094-5E7BC0BD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Official DGAT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FAE37A5-F290-4651-BD27-3929BD9C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86375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github.com/osmanbeyoglulab/DGAT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9583405D-1223-4E9B-A595-F2F2E407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762500"/>
            <a:ext cx="7143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449553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2026-07-19T04:32:57.0520000Z</dcterms:created>
  <dcterms:modified xsi:type="dcterms:W3CDTF">2026-07-19T04:32:57.0520000Z</dcterms:modified>
</coreProperties>
</file>