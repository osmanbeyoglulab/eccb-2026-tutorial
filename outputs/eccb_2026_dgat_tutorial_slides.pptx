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9dee4c75284962" /><Relationship Type="http://schemas.openxmlformats.org/officeDocument/2006/relationships/extended-properties" Target="/docProps/app.xml" Id="R4acc6a0b81ba4b36" /><Relationship Type="http://schemas.openxmlformats.org/officeDocument/2006/relationships/officeDocument" Target="/ppt/presentation.xml" Id="Rf35a2d1223664b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a6c3c22aa400c"/>
  </p:sldMasterIdLst>
  <p:notesMasterIdLst>
    <p:notesMasterId xmlns:r="http://schemas.openxmlformats.org/officeDocument/2006/relationships" r:id="Rf1c4a23d9f934f47"/>
  </p:notesMasterIdLst>
  <p:sldIdLst>
    <p:sldId xmlns:r="http://schemas.openxmlformats.org/officeDocument/2006/relationships" id="256" r:id="R52ea283e17d64104"/>
    <p:sldId xmlns:r="http://schemas.openxmlformats.org/officeDocument/2006/relationships" id="257" r:id="R9c5a731752174508"/>
    <p:sldId xmlns:r="http://schemas.openxmlformats.org/officeDocument/2006/relationships" id="258" r:id="R84cb24fb29fa40ad"/>
    <p:sldId xmlns:r="http://schemas.openxmlformats.org/officeDocument/2006/relationships" id="259" r:id="R1d8caa30f8514c69"/>
    <p:sldId xmlns:r="http://schemas.openxmlformats.org/officeDocument/2006/relationships" id="260" r:id="R0f2e1a31d5f84a61"/>
    <p:sldId xmlns:r="http://schemas.openxmlformats.org/officeDocument/2006/relationships" id="261" r:id="R11fae752486740f4"/>
    <p:sldId xmlns:r="http://schemas.openxmlformats.org/officeDocument/2006/relationships" id="262" r:id="R8ed0d447e520437b"/>
    <p:sldId xmlns:r="http://schemas.openxmlformats.org/officeDocument/2006/relationships" id="263" r:id="Rd68581c212e342a2"/>
    <p:sldId xmlns:r="http://schemas.openxmlformats.org/officeDocument/2006/relationships" id="264" r:id="Rb4ed7fcd7e224e67"/>
    <p:sldId xmlns:r="http://schemas.openxmlformats.org/officeDocument/2006/relationships" id="265" r:id="R26cd0508afff4bd1"/>
    <p:sldId xmlns:r="http://schemas.openxmlformats.org/officeDocument/2006/relationships" id="266" r:id="R6632cac35a904d9e"/>
    <p:sldId xmlns:r="http://schemas.openxmlformats.org/officeDocument/2006/relationships" id="267" r:id="Rf5e52e0055264d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734d020fb1439c" /><Relationship Type="http://schemas.openxmlformats.org/officeDocument/2006/relationships/slideMaster" Target="/ppt/slideMasters/slideMaster1.xml" Id="Rf9ea6c3c22aa400c" /><Relationship Type="http://schemas.openxmlformats.org/officeDocument/2006/relationships/notesMaster" Target="/ppt/notesMasters/notesMaster1.xml" Id="Rf1c4a23d9f934f47" /><Relationship Type="http://schemas.openxmlformats.org/officeDocument/2006/relationships/presProps" Target="/ppt/presProps.xml" Id="R36c9727a36f548de" /><Relationship Type="http://schemas.openxmlformats.org/officeDocument/2006/relationships/tableStyles" Target="/ppt/tableStyles.xml" Id="R6a8a29e11778417d" /><Relationship Type="http://schemas.openxmlformats.org/officeDocument/2006/relationships/slide" Target="/ppt/slides/slide1.xml" Id="R52ea283e17d64104" /><Relationship Type="http://schemas.openxmlformats.org/officeDocument/2006/relationships/slide" Target="/ppt/slides/slide2.xml" Id="R9c5a731752174508" /><Relationship Type="http://schemas.openxmlformats.org/officeDocument/2006/relationships/slide" Target="/ppt/slides/slide3.xml" Id="R84cb24fb29fa40ad" /><Relationship Type="http://schemas.openxmlformats.org/officeDocument/2006/relationships/slide" Target="/ppt/slides/slide4.xml" Id="R1d8caa30f8514c69" /><Relationship Type="http://schemas.openxmlformats.org/officeDocument/2006/relationships/slide" Target="/ppt/slides/slide5.xml" Id="R0f2e1a31d5f84a61" /><Relationship Type="http://schemas.openxmlformats.org/officeDocument/2006/relationships/slide" Target="/ppt/slides/slide6.xml" Id="R11fae752486740f4" /><Relationship Type="http://schemas.openxmlformats.org/officeDocument/2006/relationships/slide" Target="/ppt/slides/slide7.xml" Id="R8ed0d447e520437b" /><Relationship Type="http://schemas.openxmlformats.org/officeDocument/2006/relationships/slide" Target="/ppt/slides/slide8.xml" Id="Rd68581c212e342a2" /><Relationship Type="http://schemas.openxmlformats.org/officeDocument/2006/relationships/slide" Target="/ppt/slides/slide9.xml" Id="Rb4ed7fcd7e224e67" /><Relationship Type="http://schemas.openxmlformats.org/officeDocument/2006/relationships/slide" Target="/ppt/slides/slide10.xml" Id="R26cd0508afff4bd1" /><Relationship Type="http://schemas.openxmlformats.org/officeDocument/2006/relationships/slide" Target="/ppt/slides/slide11.xml" Id="R6632cac35a904d9e" /><Relationship Type="http://schemas.openxmlformats.org/officeDocument/2006/relationships/slide" Target="/ppt/slides/slide12.xml" Id="Rf5e52e005526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21a2d62294c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ad73c8dc964a05" /><Relationship Type="http://schemas.openxmlformats.org/officeDocument/2006/relationships/notesMaster" Target="/ppt/notesMasters/notesMaster1.xml" Id="Rc60afe9cfff34c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76d577c754d39" /><Relationship Type="http://schemas.openxmlformats.org/officeDocument/2006/relationships/notesMaster" Target="/ppt/notesMasters/notesMaster1.xml" Id="R93fb57b586a7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39c605f18244d5" /><Relationship Type="http://schemas.openxmlformats.org/officeDocument/2006/relationships/notesMaster" Target="/ppt/notesMasters/notesMaster1.xml" Id="R317e927f093b47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c308da21844d28" /><Relationship Type="http://schemas.openxmlformats.org/officeDocument/2006/relationships/notesMaster" Target="/ppt/notesMasters/notesMaster1.xml" Id="R057911c5b9d84d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68a4c0c30641a4" /><Relationship Type="http://schemas.openxmlformats.org/officeDocument/2006/relationships/notesMaster" Target="/ppt/notesMasters/notesMaster1.xml" Id="Ra94f1bfb077544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52156c44b04915" /><Relationship Type="http://schemas.openxmlformats.org/officeDocument/2006/relationships/notesMaster" Target="/ppt/notesMasters/notesMaster1.xml" Id="Rbd997187f4f74e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0595b8b1c54334" /><Relationship Type="http://schemas.openxmlformats.org/officeDocument/2006/relationships/notesMaster" Target="/ppt/notesMasters/notesMaster1.xml" Id="R5006f2f468cc43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4350d1afc34dda" /><Relationship Type="http://schemas.openxmlformats.org/officeDocument/2006/relationships/notesMaster" Target="/ppt/notesMasters/notesMaster1.xml" Id="Rab495111204c42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de0c3241c54e7f" /><Relationship Type="http://schemas.openxmlformats.org/officeDocument/2006/relationships/notesMaster" Target="/ppt/notesMasters/notesMaster1.xml" Id="Redf024ea2bd745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d2c286f6b740ee" /><Relationship Type="http://schemas.openxmlformats.org/officeDocument/2006/relationships/notesMaster" Target="/ppt/notesMasters/notesMaster1.xml" Id="Rec5ded998dd44a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2567f5edf54485" /><Relationship Type="http://schemas.openxmlformats.org/officeDocument/2006/relationships/notesMaster" Target="/ppt/notesMasters/notesMaster1.xml" Id="R8f62b2b74e8e4f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8435100e744dc4" /><Relationship Type="http://schemas.openxmlformats.org/officeDocument/2006/relationships/notesMaster" Target="/ppt/notesMasters/notesMaster1.xml" Id="R99438d7a37f24f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8323bdf6c46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21948b49a4d7c" /><Relationship Type="http://schemas.openxmlformats.org/officeDocument/2006/relationships/slideLayout" Target="/ppt/slideLayouts/slideLayout1.xml" Id="R99045ef65afb40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45ef65afb40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2304db1554d0f" /><Relationship Type="http://schemas.openxmlformats.org/officeDocument/2006/relationships/notesSlide" Target="/ppt/notesSlides/notesSlide1.xml" Id="Rad7e64dab66643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f5c74d6074f41" /><Relationship Type="http://schemas.openxmlformats.org/officeDocument/2006/relationships/notesSlide" Target="/ppt/notesSlides/notesSlide2.xml" Id="Re2bd73b4b4ef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4113c3d184079" /><Relationship Type="http://schemas.openxmlformats.org/officeDocument/2006/relationships/notesSlide" Target="/ppt/notesSlides/notesSlide3.xml" Id="R043ae1de74c740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0fe5c935e4433" /><Relationship Type="http://schemas.openxmlformats.org/officeDocument/2006/relationships/notesSlide" Target="/ppt/notesSlides/notesSlide4.xml" Id="R82c02565cdbe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e1f8e69254479" /><Relationship Type="http://schemas.openxmlformats.org/officeDocument/2006/relationships/notesSlide" Target="/ppt/notesSlides/notesSlide5.xml" Id="Rb83967e71c8c41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01209a13a49dc" /><Relationship Type="http://schemas.openxmlformats.org/officeDocument/2006/relationships/notesSlide" Target="/ppt/notesSlides/notesSlide6.xml" Id="Rd07cd04b6b7745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3bed3a2584872" /><Relationship Type="http://schemas.openxmlformats.org/officeDocument/2006/relationships/notesSlide" Target="/ppt/notesSlides/notesSlide7.xml" Id="Rdfcdf44c66884e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47878fcbd4bca" /><Relationship Type="http://schemas.openxmlformats.org/officeDocument/2006/relationships/chart" Target="/ppt/slides/charts/chart1.xml" Id="R924277238d564318" /><Relationship Type="http://schemas.openxmlformats.org/officeDocument/2006/relationships/notesSlide" Target="/ppt/notesSlides/notesSlide8.xml" Id="R267bf0055c9a43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f5f74848e485f" /><Relationship Type="http://schemas.openxmlformats.org/officeDocument/2006/relationships/notesSlide" Target="/ppt/notesSlides/notesSlide9.xml" Id="R2d9bef6dc0cd4b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4ebcea08841a3" /><Relationship Type="http://schemas.openxmlformats.org/officeDocument/2006/relationships/notesSlide" Target="/ppt/notesSlides/notesSlide10.xml" Id="R26332c02b10049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e1b5052f24ff0" /><Relationship Type="http://schemas.openxmlformats.org/officeDocument/2006/relationships/notesSlide" Target="/ppt/notesSlides/notesSlide11.xml" Id="R2943e10d856549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579c45ff548cd" /><Relationship Type="http://schemas.openxmlformats.org/officeDocument/2006/relationships/notesSlide" Target="/ppt/notesSlides/notesSlide12.xml" Id="R75fb021d640f4442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Pearson</c:v>
          </c:tx>
          <c:spPr>
            <a:solidFill xmlns:a="http://schemas.openxmlformats.org/drawingml/2006/main">
              <a:srgbClr val="000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CD19</c:v>
              </c:pt>
              <c:pt idx="1">
                <c:v>PDL1</c:v>
              </c:pt>
              <c:pt idx="2">
                <c:v>COL1A1</c:v>
              </c:pt>
              <c:pt idx="3">
                <c:v>EPCAM</c:v>
              </c:pt>
              <c:pt idx="4">
                <c:v>KI67</c:v>
              </c:pt>
              <c:pt idx="5">
                <c:v>CD3</c:v>
              </c:pt>
            </c:strLit>
          </c:cat>
          <c:val>
            <c:numLit>
              <c:formatCode>General</c:formatCode>
              <c:ptCount val="6"/>
              <c:pt idx="0">
                <c:v>94</c:v>
              </c:pt>
              <c:pt idx="1">
                <c:v>92</c:v>
              </c:pt>
              <c:pt idx="2">
                <c:v>92</c:v>
              </c:pt>
              <c:pt idx="3">
                <c:v>91</c:v>
              </c:pt>
              <c:pt idx="4">
                <c:v>90</c:v>
              </c:pt>
              <c:pt idx="5">
                <c:v>89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4B42DE0-4730-4848-894F-A2FE28F3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</a:defRPr>
            </a:pPr>
            <a:r>
              <a:rPr sz="2400" b="0">
                <a:solidFill>
                  <a:srgbClr val="000000"/>
                </a:solidFill>
              </a:rPr>
              <a:t>ECCB 2026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06AE727-5C1C-40AF-9870-053E21A4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55555"/>
                </a:solidFill>
              </a:defRPr>
            </a:pPr>
            <a:r>
              <a:rPr sz="2400" b="0">
                <a:solidFill>
                  <a:srgbClr val="555555"/>
                </a:solidFill>
              </a:rPr>
              <a:t>Tutorial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493B928-E8F6-4096-B1CA-D37325A0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000000"/>
                </a:solidFill>
              </a:defRPr>
            </a:pPr>
            <a:r>
              <a:rPr sz="2400" b="0">
                <a:solidFill>
                  <a:srgbClr val="000000"/>
                </a:solidFill>
              </a:rPr>
              <a:t>Draft materials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50E04D-BE43-4CE3-ADB9-E7FD28F8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000000"/>
                </a:solidFill>
              </a:defRPr>
            </a:pPr>
            <a:r>
              <a:rPr sz="5400" b="0">
                <a:solidFill>
                  <a:srgbClr val="000000"/>
                </a:solidFill>
              </a:rPr>
              <a:t>Spatial Protein</a:t>
            </a:r>
          </a:p>
          <a:p xmlns:a="http://schemas.openxmlformats.org/drawingml/2006/main">
            <a:pPr algn="l">
              <a:defRPr sz="5400" b="0">
                <a:solidFill>
                  <a:srgbClr val="000000"/>
                </a:solidFill>
              </a:defRPr>
            </a:pPr>
            <a:r>
              <a:rPr sz="5400" b="0">
                <a:solidFill>
                  <a:srgbClr val="000000"/>
                </a:solidFill>
              </a:rPr>
              <a:t>Inference with DGAT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8ED5C4-953B-4ADD-8B60-14424BC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Hands-on workflow from spatial omics data to inferred protein landscapes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6781491C-2213-4D76-B547-AA2667CD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714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112386-E78A-4422-B5C7-274D8CC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DGAT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8810625" y="3371850"/>
            <a:ext cx="2238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35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6421CB-D7D1-4F0F-ABC3-0ED75A5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Zeyuan</a:t>
            </a:r>
          </a:p>
        </p:txBody>
      </p:sp>
    </p:spTree>
    <p:extLst>
      <p:ext uri="{BB962C8B-B14F-4D97-AF65-F5344CB8AC3E}">
        <p14:creationId xmlns:p14="http://schemas.microsoft.com/office/powerpoint/2010/main" val="1950526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7431DC2-95D4-49E4-ABD2-1CB77AC1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Schedule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946B678-4CB4-4011-9597-51302A2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The 75-minute arc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6D779E0-76DB-456E-BBD3-C58D693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113919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4131469"/>
                <a:gridCol w="5784056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Hands-on session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Participant output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10:45–11:05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Environment setup and spatial data exploration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Load DGAT data, inspect coordinates, visualize transcript/protein signals.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11:05–11:35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Running DGAT protein inference workflows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Prepare inputs, run or load DGAT predictions, generate spatial protein maps.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11:35–12:00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Evaluation and interpretation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Correlation metrics, Moran's I, landscape comparison, and pitfalls.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84F2BE-C491-470F-94A0-44E22793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Keep the live DGAT run short; use precomputed predictions as the continuity path.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A282C8-78D9-4632-8127-E2E18918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59189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0DB1FAF-C7C1-422D-B8FC-6EC04991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Learning objectives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55ACCC2-4F59-4EC5-94E8-FF45EC4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What participants should leave able to do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B9AF2AC-31C6-4370-A8A6-860BBCC7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9DF0B4C-F455-4E1E-9E72-96ACCA9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Load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0E8567-1B01-48A6-A096-B84297F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spatial transcriptomics and spatial-CITE-seq style matrices.</a:t>
            </a:r>
          </a:p>
        </p:txBody>
      </p:sp>
      <p:cxnSp>
        <p:nvCxnSpPr>
          <p:cNvPr id="27" name="rule"/>
          <p:cNvCxnSpPr/>
          <p:nvPr/>
        </p:nvCxnSpPr>
        <p:spPr>
          <a:xfrm xmlns:a="http://schemas.openxmlformats.org/drawingml/2006/main">
            <a:off x="400050" y="220980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7CE273C-6322-4392-84FF-EB3ADCF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Explore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DD78D8-79FF-44B5-9911-EDCBDA8E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coordinate structure, local neighborhoods, and feature maps.</a:t>
            </a:r>
          </a:p>
        </p:txBody>
      </p:sp>
      <p:cxnSp>
        <p:nvCxnSpPr>
          <p:cNvPr id="30" name="rule"/>
          <p:cNvCxnSpPr/>
          <p:nvPr/>
        </p:nvCxnSpPr>
        <p:spPr>
          <a:xfrm xmlns:a="http://schemas.openxmlformats.org/drawingml/2006/main">
            <a:off x="400050" y="299085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38726E6-ACAD-4C71-98BA-65A608A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Infer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CE8EED-9385-4F3B-B34D-A48A6EC0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protein landscapes with DGAT or a prepared prediction table.</a:t>
            </a:r>
          </a:p>
        </p:txBody>
      </p:sp>
      <p:cxnSp>
        <p:nvCxnSpPr>
          <p:cNvPr id="33" name="rule"/>
          <p:cNvCxnSpPr/>
          <p:nvPr/>
        </p:nvCxnSpPr>
        <p:spPr>
          <a:xfrm xmlns:a="http://schemas.openxmlformats.org/drawingml/2006/main">
            <a:off x="400050" y="377190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D5FFEF1-82B6-4F2D-AA09-722A038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Evaluate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A04ACF-7A9C-4755-836F-A438E60C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19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predictions with correlation and spatial coherence metrics.</a:t>
            </a:r>
          </a:p>
        </p:txBody>
      </p:sp>
      <p:cxnSp>
        <p:nvCxnSpPr>
          <p:cNvPr id="36" name="rule"/>
          <p:cNvCxnSpPr/>
          <p:nvPr/>
        </p:nvCxnSpPr>
        <p:spPr>
          <a:xfrm xmlns:a="http://schemas.openxmlformats.org/drawingml/2006/main">
            <a:off x="400050" y="455295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F78D704-D723-43E0-BDFA-F32B516D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Interpret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BA71D9-4249-456E-A09E-20D9462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006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where biology, technology, and model behavior can diverge.</a:t>
            </a:r>
          </a:p>
        </p:txBody>
      </p:sp>
      <p:cxnSp>
        <p:nvCxnSpPr>
          <p:cNvPr id="39" name="rule"/>
          <p:cNvCxnSpPr/>
          <p:nvPr/>
        </p:nvCxnSpPr>
        <p:spPr>
          <a:xfrm xmlns:a="http://schemas.openxmlformats.org/drawingml/2006/main">
            <a:off x="400050" y="533400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FBC6CF10-CA71-4B91-9E26-41908ED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38300"/>
            <a:ext cx="114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1282591-7157-4360-A16B-23761B8F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163838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56FF2E2-4210-4B89-A2AF-5D29DF59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Setup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0FB5BC-34B5-4557-9DBF-F28BB3FF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Use official DGAT assets as the default data path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3986E26-6D6D-44A9-916D-67CA215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3F8D15E2-E20E-4B2B-BBB3-9CA1F1E6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C8971A-363E-4601-8948-ACF2B22F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168041-922B-4258-BAA6-7D1957C3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Clone DGAT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C58B59-7BB1-44E4-870C-BD18EC3D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external/DGAT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340DEB2E-8DDA-4F5F-96C3-EA708EF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7DE3126-8D80-459A-8641-1497F70A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81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20B7A6-006B-406D-AFAA-48B637EF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Download assets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275BC6A-351B-40A7-B8F8-04397124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DGAT_prediction_ST_data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DGAT_pretrained_models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7119588E-7E09-48F0-9191-0C1A0832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100F56-E194-4858-8E1C-E2C21D4C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05B48A-B738-44B0-8986-44DB723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Prepare tutorial CSVs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1C2212-A291-4229-815D-A8657B3B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scripts/prepare_dgat_data.py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2A08E22-E3C0-45AA-AFE7-B22587D2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2F485D2-8946-4FD1-9F5F-FF3D787D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81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AC907C-F2B5-4E91-9378-53D2FF94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Run notebooks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842C8EC-A797-4BA4-B31F-43A5FD06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notebooks/01 → 02 → 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DEEFC11-09F8-4B1B-9B68-5FB54D53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The synthetic path remains only for environment checks before DGAT data is downloaded.</a:t>
            </a:r>
          </a:p>
        </p:txBody>
      </p:sp>
      <p:cxnSp>
        <p:nvCxnSpPr>
          <p:cNvPr id="43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098D53-A22D-4E91-A393-1B6A765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886285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B0DC52A-12FD-44E4-A138-E4006052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Data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58A81ED-497F-4678-B27E-517CA57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The data contract keeps the tutorial predictable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3A4A104-2EE6-4690-A1AA-D7995D9D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9CB6BE-4D38-4773-A1E7-1D68E0DF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Inputs in data/raw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C36B11-FC19-4D00-B5B2-B32CE5B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spots.csv: spot_id, x, y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transcripts.csv: spots × genes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proteins.csv: observed proteins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dgat_predictions.csv: inferred proteins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8CB00667-9A42-4B12-A309-962CE094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5810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92795F-C034-452F-A013-E7876CA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Prediction table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953125" y="2400300"/>
          <a:ext xmlns:a="http://schemas.openxmlformats.org/drawingml/2006/main" cx="4953000" cy="1524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38250"/>
                <a:gridCol w="1238250"/>
                <a:gridCol w="1238250"/>
                <a:gridCol w="1238250"/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spot_id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CD3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CD19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EPCAM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spot_000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0.08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spot_001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0.10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spot_002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0.09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7BACB9-E878-4584-84D5-426E5C7B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71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Rows must align across all files.</a:t>
            </a:r>
          </a:p>
        </p:txBody>
      </p:sp>
      <p:cxnSp>
        <p:nvCxnSpPr>
          <p:cNvPr id="21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230DF1-32D1-4BA8-B44E-F23E0228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035095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4507F38-24BC-4532-9F75-C575A6CF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Hands-on 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D773119-2388-4C9D-8618-D3B43503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Session 1: make the spatial data tangible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5AE8E7-F99F-417F-9230-64641165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6A110D25-EF43-46EA-BFCC-4C54AB9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A86D53-4B3A-48DC-A3AD-6474B163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Spatial map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8385F166-1798-44D1-9D26-89EFD02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D60954F-B480-4DED-B8D2-D9DF9AFD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A32148A-DEFB-4A90-8D36-1D049413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6133EAA-C4A6-46ED-8A76-FAC2599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05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8C0EFF43-5A9E-4DEF-B146-2D6931C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05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F2A9865-A642-45A7-8CD7-ABE98CE0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05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D03DB872-1BDB-430C-8B90-1586B256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E6A7BFDC-5EA7-4E8E-86D5-F96BE7F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95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5489D1FA-983F-42FF-9969-6C9CD07A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95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D2031E-B9A5-4669-9939-327468C4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609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Confirm the kernel and paths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Load DGAT-derived tables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Plot transcripts and observed proteins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Inspect nearest-neighbor structure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A5A7C3-24E5-432E-A07D-40639B4D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Output: participants understand what each matrix represents before model inference.</a:t>
            </a:r>
          </a:p>
        </p:txBody>
      </p:sp>
      <p:cxnSp>
        <p:nvCxnSpPr>
          <p:cNvPr id="35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7F1C2D2-6675-42F4-8ECB-8E80E53C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2061601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E63A5CF-1F7F-404A-8D62-7969D420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Hands-on 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870F974-7EE7-4E59-9AEE-DC9C2BCA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Session 2: DGAT inference without losing the room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53D7208-CCC3-4460-BAF1-9596E8C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92D610F0-B961-4D46-8FD7-370FC1CF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AEEDAB-39FD-4CE0-A6E5-C82FA25E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Align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DAF1B4-A33F-49C3-A0F6-3A3F4421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spots, transcripts, proteins</a:t>
            </a:r>
          </a:p>
        </p:txBody>
      </p:sp>
      <p:cxnSp>
        <p:nvCxnSpPr>
          <p:cNvPr id="29" name="rule"/>
          <p:cNvCxnSpPr/>
          <p:nvPr/>
        </p:nvCxnSpPr>
        <p:spPr>
          <a:xfrm xmlns:a="http://schemas.openxmlformats.org/drawingml/2006/main">
            <a:off x="2743200" y="288607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E6601D2-8F1E-4CD8-877D-4A442CF8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72E0A91-D811-44EC-A0D6-14C96472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Prepare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190308-0C7D-416F-9635-7B64E864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model-ready input</a:t>
            </a:r>
          </a:p>
        </p:txBody>
      </p:sp>
      <p:cxnSp>
        <p:nvCxnSpPr>
          <p:cNvPr id="33" name="rule"/>
          <p:cNvCxnSpPr/>
          <p:nvPr/>
        </p:nvCxnSpPr>
        <p:spPr>
          <a:xfrm xmlns:a="http://schemas.openxmlformats.org/drawingml/2006/main">
            <a:off x="5505450" y="288607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25C0837E-6B0E-43C7-99CF-F2D5A5C9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E4548C-617E-458A-B168-ACE826A3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Infer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C3AC2B-EF34-403E-9FF1-BCA25007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DGAT or precomputed output</a:t>
            </a:r>
          </a:p>
        </p:txBody>
      </p:sp>
      <p:cxnSp>
        <p:nvCxnSpPr>
          <p:cNvPr id="37" name="rule"/>
          <p:cNvCxnSpPr/>
          <p:nvPr/>
        </p:nvCxnSpPr>
        <p:spPr>
          <a:xfrm xmlns:a="http://schemas.openxmlformats.org/drawingml/2006/main">
            <a:off x="8267700" y="288607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3B87F13-4095-4E4D-B559-A1B0E4E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3717AB1-E136-4062-8E83-1384476D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Visualize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7CEA71-C2FA-4ECF-A1B2-34B5B16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90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predicted protein maps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CCD485-644D-459B-9732-E399DAF7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Teaching tactic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77CD662-A9EC-45F7-A492-E31F5272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Demonstrate one official DGAT prediction run, then continue from data/raw/dgat_predictions.csv for reliability.</a:t>
            </a:r>
          </a:p>
        </p:txBody>
      </p:sp>
      <p:cxnSp>
        <p:nvCxnSpPr>
          <p:cNvPr id="43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33D456F-BC93-4E0C-BADA-863E542A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785040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9A485A1-EB43-4710-9E9A-74127CD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Hands-on 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307BB3F-E2D7-4513-B182-84BFA55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Session 3: evaluate both values and spatial structure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32DB97C-DF6F-42F5-A0D9-0F6665B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4277238d564318"/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365970-D61D-41A1-9840-54228E4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Correlation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FE57EC-F8F6-4A47-BE06-778376BF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Pointwise agreement between observed and inferred proteins.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DD64DB5-2841-4D91-9095-7D7EB1C2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29BF1EA-E008-4A75-B65B-C664F5B8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Moran's 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D35AEF-4F2A-40E6-AC03-274AF60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Does the prediction preserve spatial coherence, not only pointwise values?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7143750" y="4000500"/>
            <a:ext cx="2857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35"/>
            </a:solidFill>
            <a:prstDash val="solid"/>
          </a:ln>
        </p:spPr>
      </p:cxn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702FAB-77E4-4D2A-BCDF-6C1E49F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659973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EA18D50-6C33-486B-BAD4-45EC986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9728501-7E0C-4012-8C3D-C941CEC6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Interpretation: good plots still need biological caution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5E75EF-1188-49F6-B672-BC71273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2D179492-C7C2-4A28-A0B0-290B50B2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31EB3A-BBCF-490B-B5FE-18409A37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Transcript-protein discordance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B56C3D-8801-477B-9F38-5916F6C7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low match can be biology, timing, turnover, or antibody behavior.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27217A4-10BD-4AC2-9EAE-90E87C18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526A3D-F277-4150-AAFB-5F606E03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95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Spatial smoothing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0EB0DD-CBF0-41BB-884E-2429CD89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9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visually coherent map can hide boundary errors or rare populations.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3ADE07F2-42AB-4D0F-ABB3-3CFD642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26899BC-FCA9-4AF9-AF87-49D9AE58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Cell composition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5A7430-FBAA-4984-BE0E-1CABD3AB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Neighborhood structure may reflect mixtures rather than direct regulation.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07B7DA62-ADC9-4FA8-97F6-05081F7D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F6C8F6-ACCB-4319-A014-E224A744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Batch and platform effects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9076104-3D17-4A13-870F-19DD9EC4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Evaluation can reward technical consistency instead of biological truth.</a:t>
            </a:r>
          </a:p>
        </p:txBody>
      </p:sp>
      <p:cxnSp>
        <p:nvCxnSpPr>
          <p:cNvPr id="33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C58249F-DD3F-4E37-BE60-6FAF5D40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762243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C31F9F1-B566-4822-B6AA-AD883BCE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Backup plan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FB40C8-E9AE-40EE-A2F6-91E560B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Make the live session resilient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653FBE3-1053-4C45-862A-FBB8B5E2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015D51-CD22-4894-B5B4-CEEF484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Primary path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40503B-472D-47EB-AC3A-788C145D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DGAT assets already downloaded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CSV data prepared before class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One short live inference demonstration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B3A801-4FDC-4385-B035-7112FC8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Fallback path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A2F6D3-612A-4FD0-AE02-F2037728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Load data/raw/dgat_predictions.csv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Continue visualization and evaluation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Use synthetic data only for environment checks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5F2069F2-5C28-4EB9-B99A-E4AC5C15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D227BF-4A3C-4D9C-A931-5F735AE8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The learning objective is the end-to-end reasoning, not debugging model installation in real time.</a:t>
            </a:r>
          </a:p>
        </p:txBody>
      </p:sp>
      <p:cxnSp>
        <p:nvCxnSpPr>
          <p:cNvPr id="21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826DA8A-A425-43B4-8DFA-EC2CC786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6171395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6C3CEB9-331C-465C-8ED0-CB327822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Committee review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D5D770-9CB6-4129-BED6-BD43BC4E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Before 1 July: materials to lock down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ECF9EA9-FC17-4967-BBEE-8B194BF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93345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7524750"/>
              </a:tblGrid>
              <a:tr h="523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</a:rPr>
                        <a:t>Ready condition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DGAT assets downloaded; tutorial CSVs generated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Checkpoint path and prediction command tested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Notebooks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All three run top-to-bottom from a clean environment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Backup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Precomputed predictions available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Runtime, license, and troubleshooting notes documented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AF9261-ED82-499A-B939-1C389552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Deliverable: a GitHub repo reviewers can run and participants can recover from.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59486A-4CFB-4577-A292-C5A4EA7E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630045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FD9F2BA-C061-4B3B-8675-AE4D38EE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55555"/>
                </a:solidFill>
              </a:defRPr>
            </a:pPr>
            <a:r>
              <a:rPr sz="2400" b="0">
                <a:solidFill>
                  <a:srgbClr val="555555"/>
                </a:solidFill>
              </a:rPr>
              <a:t>Takeaway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40F1DB0-F117-4B40-85A5-7E780D7E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</a:defRPr>
            </a:pPr>
            <a:r>
              <a:rPr sz="3600" b="0">
                <a:solidFill>
                  <a:srgbClr val="000000"/>
                </a:solidFill>
              </a:rPr>
              <a:t>DGAT turns spatial transcript profiles into protein landscapes; the tutorial teaches how to prepare, run, evaluate, and interpret that workflow.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183F504-3161-48B4-A579-2335EAB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Repository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DD5642-581B-43AE-9CDD-9C58D64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github.com/mengzeyuan64/ECCB_2026_tutorial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5B7283-4701-4A2C-8094-5E7BC0BD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Official DGAT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AE37A5-F290-4651-BD27-3929BD9C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github.com/osmanbeyoglulab/DGAT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583405D-1223-4E9B-A595-F2F2E407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4955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2026-06-28T07:12:45.0910000Z</dcterms:created>
  <dcterms:modified xsi:type="dcterms:W3CDTF">2026-06-28T07:12:45.0910000Z</dcterms:modified>
</coreProperties>
</file>